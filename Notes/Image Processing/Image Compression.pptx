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6" r:id="rId2"/>
    <p:sldId id="267" r:id="rId3"/>
    <p:sldId id="268" r:id="rId4"/>
    <p:sldId id="269" r:id="rId5"/>
    <p:sldId id="270" r:id="rId6"/>
    <p:sldId id="271" r:id="rId7"/>
    <p:sldId id="272" r:id="rId8"/>
    <p:sldId id="273" r:id="rId9"/>
    <p:sldId id="274" r:id="rId10"/>
    <p:sldId id="275" r:id="rId11"/>
    <p:sldId id="276" r:id="rId12"/>
    <p:sldId id="256" r:id="rId13"/>
    <p:sldId id="257" r:id="rId14"/>
    <p:sldId id="258" r:id="rId15"/>
    <p:sldId id="259" r:id="rId16"/>
    <p:sldId id="260" r:id="rId17"/>
    <p:sldId id="261" r:id="rId18"/>
    <p:sldId id="262" r:id="rId19"/>
    <p:sldId id="263" r:id="rId20"/>
    <p:sldId id="265"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83" d="100"/>
          <a:sy n="83" d="100"/>
        </p:scale>
        <p:origin x="-658" y="-7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93EA53-210B-4EA5-89D5-F3E53A851F5C}" type="datetimeFigureOut">
              <a:rPr lang="en-US" smtClean="0"/>
              <a:t>1/27/2026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906321-4606-4566-962D-DB31FF987C3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b6bf2b822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b6bf2b822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b6bf2b82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b6bf2b82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9C0603-D47D-E92D-3D6E-5BFA0556A7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2FE8D4AE-5257-7D1A-0DAE-1EA09BBCC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A843B2E-BCA6-FED7-817F-812215B41FAF}"/>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A698B80C-5CC8-B8BC-8B90-A866BBAAAA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C85A686-3C77-DE3C-D71C-170B699A4203}"/>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5828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FE2078-C40D-8FDE-F7E6-35BD014FAE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0AEF13C-3587-A64E-6314-DED6069FDD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7D4D5F0-C66D-74B5-5FA9-D57CDF8B97C4}"/>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09D8878C-5AE1-F1D8-0062-486CEFC4EA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E70B59D-C60E-5F7C-1D81-4EF9E43B37FA}"/>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178896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4DB28F-BA68-6459-D575-AB74D1B5ED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44613C8-CF11-EED0-0BDF-579EF595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23C197F-9BB9-4EC1-9E75-73FD3F04D9AA}"/>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9B8D1270-A932-EF26-006A-BBF351C458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ADE40CC-551E-ED2C-207A-E96C4E5227E1}"/>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3975682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992BAD-5474-E256-8308-B0AEC1FFD1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8A2F7DB-8CFF-05E7-AA0C-A16F7FB04C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E2817162-05DB-ACEB-F54C-DF14013B17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D91B6099-79E5-69C8-6D2D-5F3BCC2CDE92}"/>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6" name="Footer Placeholder 5">
            <a:extLst>
              <a:ext uri="{FF2B5EF4-FFF2-40B4-BE49-F238E27FC236}">
                <a16:creationId xmlns:a16="http://schemas.microsoft.com/office/drawing/2014/main" xmlns="" id="{33CCD2E3-0FAE-CE48-7DCA-8998B2738E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6A7F365-F6D1-540E-AFE2-A583569254BA}"/>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2680708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5320CE-72DF-DD36-4F8E-F6749C7BD4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8CB25CB-90FD-CFF2-3CE8-7BF6A94D89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081673F-570C-1BFC-A59D-418AE180FF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14B2F068-C3B9-1A43-B9B2-CE82FC5F4A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84A280C-EA2B-A0BC-03D8-A0CA88E90A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3A561A5-02B0-92B2-DE4D-818AC0EFDE40}"/>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8" name="Footer Placeholder 7">
            <a:extLst>
              <a:ext uri="{FF2B5EF4-FFF2-40B4-BE49-F238E27FC236}">
                <a16:creationId xmlns:a16="http://schemas.microsoft.com/office/drawing/2014/main" xmlns="" id="{C1023A60-FFE1-72C3-51DF-64AE998D81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BB4130BD-CDE7-31D3-FFFA-CA468FBF28C3}"/>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2477485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861F7D-4E77-8820-1EA7-915DD08CDA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814D5A4-41A0-FAC6-E004-1DBAB2C4FF08}"/>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4" name="Footer Placeholder 3">
            <a:extLst>
              <a:ext uri="{FF2B5EF4-FFF2-40B4-BE49-F238E27FC236}">
                <a16:creationId xmlns:a16="http://schemas.microsoft.com/office/drawing/2014/main" xmlns="" id="{1DB2660D-8FA3-31E4-B5F4-ADD88BBCD5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4BEE863C-3D0A-CD26-60FB-B90F4C917416}"/>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3893021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967B0B3-2FD3-FF66-7766-04F124340FC2}"/>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3" name="Footer Placeholder 2">
            <a:extLst>
              <a:ext uri="{FF2B5EF4-FFF2-40B4-BE49-F238E27FC236}">
                <a16:creationId xmlns:a16="http://schemas.microsoft.com/office/drawing/2014/main" xmlns="" id="{3BCAFBE3-32BE-74FA-FBD6-6BF9521AFF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5566C657-03CF-3ABD-5977-7C386350B05C}"/>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3306713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B4456A-BAD0-5A82-D76E-3BF809B68C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FB1606D-2710-E5E6-1EB4-0E80F0171F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846DD3E-6BCA-DB7A-701F-DE108291E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737E666-033B-5078-9908-665320F6177B}"/>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6" name="Footer Placeholder 5">
            <a:extLst>
              <a:ext uri="{FF2B5EF4-FFF2-40B4-BE49-F238E27FC236}">
                <a16:creationId xmlns:a16="http://schemas.microsoft.com/office/drawing/2014/main" xmlns="" id="{221F739E-D9A5-509A-527D-4A4E87D4B8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BEC852F-05FC-FC1E-7F4C-9C9917E18C43}"/>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291042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9852CE-AAC7-D0C2-0AE8-016EB401BF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E0084C4-7E5D-1F41-21DF-585D0EEC9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8C025BA-8FDB-1758-BE97-0D050EB636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E6B00E-B997-F418-062C-CEA3E1013188}"/>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6" name="Footer Placeholder 5">
            <a:extLst>
              <a:ext uri="{FF2B5EF4-FFF2-40B4-BE49-F238E27FC236}">
                <a16:creationId xmlns:a16="http://schemas.microsoft.com/office/drawing/2014/main" xmlns="" id="{09E337AA-2297-95DC-3338-93F26A273B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9A3B19D-0F6D-3551-8797-6F86A387EDBA}"/>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3835100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44D274-8932-812A-8096-1FD97F219F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8554C72-650A-1BA5-ACAF-B66CFE7CA0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2D26843-F6F9-73F9-5155-DB99AE3A642F}"/>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798E964C-EBAF-CFF8-BA05-7E754E166D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B5F4264-4E76-3C9C-40EB-E8A46C25447A}"/>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645133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AE10A32-CCB1-F64E-1089-7C564D402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03F1B67-B5FD-A2FC-FDE4-9ABF26A8F8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618B53E-B6BC-1FC3-A41D-6D0B98851270}"/>
              </a:ext>
            </a:extLst>
          </p:cNvPr>
          <p:cNvSpPr>
            <a:spLocks noGrp="1"/>
          </p:cNvSpPr>
          <p:nvPr>
            <p:ph type="dt" sz="half" idx="10"/>
          </p:nvPr>
        </p:nvSpPr>
        <p:spPr/>
        <p:txBody>
          <a:body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7405E87E-FD21-52E1-397A-B5B7053036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71147DE-786B-A952-6255-727FC3BA228E}"/>
              </a:ext>
            </a:extLst>
          </p:cNvPr>
          <p:cNvSpPr>
            <a:spLocks noGrp="1"/>
          </p:cNvSpPr>
          <p:nvPr>
            <p:ph type="sldNum" sz="quarter" idx="12"/>
          </p:nvPr>
        </p:nvSpPr>
        <p:spPr/>
        <p:txBody>
          <a:body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1799914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0E0C6DF-E27B-F9B2-16AC-297DAC2CAD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F2BECB5-2A37-406C-8023-895BA089A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EC19FA1-F985-BBE0-D881-838450123D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208CEF-69B1-4815-8F5A-3F1ED2D8916D}" type="datetimeFigureOut">
              <a:rPr lang="en-IN" smtClean="0"/>
              <a:pPr/>
              <a:t>27-01-2026</a:t>
            </a:fld>
            <a:endParaRPr lang="en-IN"/>
          </a:p>
        </p:txBody>
      </p:sp>
      <p:sp>
        <p:nvSpPr>
          <p:cNvPr id="5" name="Footer Placeholder 4">
            <a:extLst>
              <a:ext uri="{FF2B5EF4-FFF2-40B4-BE49-F238E27FC236}">
                <a16:creationId xmlns:a16="http://schemas.microsoft.com/office/drawing/2014/main" xmlns="" id="{776CCDBA-6B36-DD4F-098F-0AD1C54390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BDC2B201-D5F6-D574-A19F-4EEECF8C2D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84AC34-F0AD-4FE2-BFB2-D19EB94623B1}" type="slidenum">
              <a:rPr lang="en-IN" smtClean="0"/>
              <a:pPr/>
              <a:t>‹#›</a:t>
            </a:fld>
            <a:endParaRPr lang="en-IN"/>
          </a:p>
        </p:txBody>
      </p:sp>
    </p:spTree>
    <p:extLst>
      <p:ext uri="{BB962C8B-B14F-4D97-AF65-F5344CB8AC3E}">
        <p14:creationId xmlns:p14="http://schemas.microsoft.com/office/powerpoint/2010/main" xmlns="" val="1980706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133737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Image Compression </a:t>
            </a:r>
            <a:endParaRPr/>
          </a:p>
        </p:txBody>
      </p:sp>
      <p:sp>
        <p:nvSpPr>
          <p:cNvPr id="85" name="Google Shape;85;p1"/>
          <p:cNvSpPr txBox="1">
            <a:spLocks noGrp="1"/>
          </p:cNvSpPr>
          <p:nvPr>
            <p:ph type="subTitle" idx="1"/>
          </p:nvPr>
        </p:nvSpPr>
        <p:spPr>
          <a:xfrm>
            <a:off x="1524000" y="2258568"/>
            <a:ext cx="9144000" cy="299923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IN" sz="3200" dirty="0">
                <a:solidFill>
                  <a:srgbClr val="273239"/>
                </a:solidFill>
                <a:highlight>
                  <a:srgbClr val="FFFFFF"/>
                </a:highlight>
                <a:latin typeface="Nunito"/>
                <a:ea typeface="Nunito"/>
                <a:cs typeface="Nunito"/>
                <a:sym typeface="Nunito"/>
              </a:rPr>
              <a:t>Image compression is used to make image file size smaller so that they take up less space on computer and can be shared faster over the internet. The goal is to reduce the file size without changing how the image looks.</a:t>
            </a:r>
            <a:endParaRPr sz="3200" b="1">
              <a:solidFill>
                <a:schemeClr val="dk1"/>
              </a:solidFill>
            </a:endParaRPr>
          </a:p>
          <a:p>
            <a:pPr marL="0" lvl="0" indent="0" algn="l" rtl="0">
              <a:spcBef>
                <a:spcPts val="640"/>
              </a:spcBef>
              <a:spcAft>
                <a:spcPts val="0"/>
              </a:spcAft>
              <a:buNone/>
            </a:pPr>
            <a:endParaRP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4" name="Rectangle 3"/>
          <p:cNvSpPr/>
          <p:nvPr/>
        </p:nvSpPr>
        <p:spPr>
          <a:xfrm>
            <a:off x="1033272" y="365761"/>
            <a:ext cx="9793224" cy="5509200"/>
          </a:xfrm>
          <a:prstGeom prst="rect">
            <a:avLst/>
          </a:prstGeom>
        </p:spPr>
        <p:txBody>
          <a:bodyPr wrap="square">
            <a:spAutoFit/>
          </a:bodyPr>
          <a:lstStyle/>
          <a:p>
            <a:r>
              <a:rPr lang="en-US" sz="3200" dirty="0" smtClean="0">
                <a:latin typeface="Calibri" pitchFamily="34" charset="0"/>
                <a:cs typeface="Calibri" pitchFamily="34" charset="0"/>
              </a:rPr>
              <a:t>Consider a black and white image that has a resolution of 1000*1000 and each pixel uses 8 bits to represent the intensity. So the total no of bits required = 1000*1000*8 = 80,00,000 bits per image. And consider if it is a video with 30 frames per second of the above-mentioned type images then the total bits for a video of 3 </a:t>
            </a:r>
            <a:r>
              <a:rPr lang="en-US" sz="3200" dirty="0" err="1" smtClean="0">
                <a:latin typeface="Calibri" pitchFamily="34" charset="0"/>
                <a:cs typeface="Calibri" pitchFamily="34" charset="0"/>
              </a:rPr>
              <a:t>secs</a:t>
            </a:r>
            <a:r>
              <a:rPr lang="en-US" sz="3200" dirty="0" smtClean="0">
                <a:latin typeface="Calibri" pitchFamily="34" charset="0"/>
                <a:cs typeface="Calibri" pitchFamily="34" charset="0"/>
              </a:rPr>
              <a:t> is: 3*(30*(8, 000, 000))=720, 000, 000 bits </a:t>
            </a:r>
            <a:br>
              <a:rPr lang="en-US" sz="3200" dirty="0" smtClean="0">
                <a:latin typeface="Calibri" pitchFamily="34" charset="0"/>
                <a:cs typeface="Calibri" pitchFamily="34" charset="0"/>
              </a:rPr>
            </a:br>
            <a:r>
              <a:rPr lang="en-US" sz="3200" dirty="0" smtClean="0">
                <a:latin typeface="Calibri" pitchFamily="34" charset="0"/>
                <a:cs typeface="Calibri" pitchFamily="34" charset="0"/>
              </a:rPr>
              <a:t/>
            </a:r>
            <a:br>
              <a:rPr lang="en-US" sz="3200" dirty="0" smtClean="0">
                <a:latin typeface="Calibri" pitchFamily="34" charset="0"/>
                <a:cs typeface="Calibri" pitchFamily="34" charset="0"/>
              </a:rPr>
            </a:br>
            <a:r>
              <a:rPr lang="en-US" sz="3200" dirty="0" smtClean="0">
                <a:latin typeface="Calibri" pitchFamily="34" charset="0"/>
                <a:cs typeface="Calibri" pitchFamily="34" charset="0"/>
              </a:rPr>
              <a:t>So to store a 3-sec video we need so many bits which can be problematic as it takes up so much storage. Thus image compression plays an important role in this.</a:t>
            </a:r>
            <a:endParaRPr lang="en-US" sz="3200" dirty="0">
              <a:latin typeface="Calibri" pitchFamily="34" charset="0"/>
              <a:cs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0" y="128016"/>
            <a:ext cx="9637776" cy="3539430"/>
          </a:xfrm>
          <a:prstGeom prst="rect">
            <a:avLst/>
          </a:prstGeom>
        </p:spPr>
        <p:txBody>
          <a:bodyPr wrap="square">
            <a:spAutoFit/>
          </a:bodyPr>
          <a:lstStyle/>
          <a:p>
            <a:r>
              <a:rPr lang="en-US" sz="3200" dirty="0" smtClean="0">
                <a:latin typeface="Calibri" pitchFamily="34" charset="0"/>
                <a:cs typeface="Calibri" pitchFamily="34" charset="0"/>
              </a:rPr>
              <a:t>Image compression has two prime categories – </a:t>
            </a:r>
          </a:p>
          <a:p>
            <a:endParaRPr lang="en-US" sz="3200" dirty="0" smtClean="0">
              <a:latin typeface="Calibri" pitchFamily="34" charset="0"/>
              <a:cs typeface="Calibri" pitchFamily="34" charset="0"/>
            </a:endParaRPr>
          </a:p>
          <a:p>
            <a:pPr>
              <a:buFont typeface="Arial" pitchFamily="34" charset="0"/>
              <a:buChar char="•"/>
            </a:pPr>
            <a:r>
              <a:rPr lang="en-US" sz="3200" b="1" dirty="0" smtClean="0">
                <a:latin typeface="Calibri" pitchFamily="34" charset="0"/>
                <a:cs typeface="Calibri" pitchFamily="34" charset="0"/>
              </a:rPr>
              <a:t> Lossless image compression</a:t>
            </a:r>
          </a:p>
          <a:p>
            <a:pPr>
              <a:buFont typeface="Arial" pitchFamily="34" charset="0"/>
              <a:buChar char="•"/>
            </a:pPr>
            <a:r>
              <a:rPr lang="en-US" sz="3200" b="1" dirty="0" smtClean="0">
                <a:latin typeface="Calibri" pitchFamily="34" charset="0"/>
                <a:cs typeface="Calibri" pitchFamily="34" charset="0"/>
              </a:rPr>
              <a:t> </a:t>
            </a:r>
            <a:r>
              <a:rPr lang="en-US" sz="3200" b="1" dirty="0" err="1" smtClean="0">
                <a:latin typeface="Calibri" pitchFamily="34" charset="0"/>
                <a:cs typeface="Calibri" pitchFamily="34" charset="0"/>
              </a:rPr>
              <a:t>Lossy</a:t>
            </a:r>
            <a:r>
              <a:rPr lang="en-US" sz="3200" b="1" dirty="0" smtClean="0">
                <a:latin typeface="Calibri" pitchFamily="34" charset="0"/>
                <a:cs typeface="Calibri" pitchFamily="34" charset="0"/>
              </a:rPr>
              <a:t> image compression</a:t>
            </a:r>
          </a:p>
          <a:p>
            <a:pPr>
              <a:buFont typeface="Arial" pitchFamily="34" charset="0"/>
              <a:buChar char="•"/>
            </a:pPr>
            <a:endParaRPr lang="en-US" sz="3200" dirty="0" smtClean="0">
              <a:latin typeface="Calibri" pitchFamily="34" charset="0"/>
              <a:cs typeface="Calibri" pitchFamily="34" charset="0"/>
            </a:endParaRPr>
          </a:p>
          <a:p>
            <a:r>
              <a:rPr lang="en-US" sz="3200" dirty="0" smtClean="0">
                <a:latin typeface="Calibri" pitchFamily="34" charset="0"/>
                <a:cs typeface="Calibri" pitchFamily="34" charset="0"/>
              </a:rPr>
              <a:t>These vary based on the image file resizing process.</a:t>
            </a:r>
          </a:p>
          <a:p>
            <a:endParaRPr lang="en-US" sz="3200" dirty="0" smtClean="0">
              <a:latin typeface="Calibri" pitchFamily="34" charset="0"/>
              <a:cs typeface="Calibri"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0120" y="283464"/>
            <a:ext cx="10479024" cy="6001643"/>
          </a:xfrm>
          <a:prstGeom prst="rect">
            <a:avLst/>
          </a:prstGeom>
        </p:spPr>
        <p:txBody>
          <a:bodyPr wrap="square">
            <a:spAutoFit/>
          </a:bodyPr>
          <a:lstStyle/>
          <a:p>
            <a:r>
              <a:rPr lang="en-US" sz="3200" b="1" u="sng" dirty="0" smtClean="0">
                <a:latin typeface="Calibri" pitchFamily="34" charset="0"/>
                <a:cs typeface="Calibri" pitchFamily="34" charset="0"/>
              </a:rPr>
              <a:t>Lossless Compression</a:t>
            </a:r>
            <a:endParaRPr lang="en-US" sz="3200" u="sng" dirty="0" smtClean="0">
              <a:latin typeface="Calibri" pitchFamily="34" charset="0"/>
              <a:cs typeface="Calibri" pitchFamily="34" charset="0"/>
            </a:endParaRPr>
          </a:p>
          <a:p>
            <a:r>
              <a:rPr lang="en-US" sz="3200" dirty="0" smtClean="0">
                <a:latin typeface="Calibri" pitchFamily="34" charset="0"/>
                <a:cs typeface="Calibri" pitchFamily="34" charset="0"/>
              </a:rPr>
              <a:t>Lossless compression refers to a process of resizing the images into a smaller version. This technique does not fiddle with the image quality.</a:t>
            </a:r>
          </a:p>
          <a:p>
            <a:r>
              <a:rPr lang="en-US" sz="3200" dirty="0" smtClean="0">
                <a:latin typeface="Calibri" pitchFamily="34" charset="0"/>
                <a:cs typeface="Calibri" pitchFamily="34" charset="0"/>
              </a:rPr>
              <a:t>Though it is an excellent method to resize your image files, the outcome may still not be too small. That is because lossless compression does not eliminate any part of the image.</a:t>
            </a:r>
          </a:p>
          <a:p>
            <a:endParaRPr lang="en-US" sz="3200" dirty="0" smtClean="0">
              <a:latin typeface="Calibri" pitchFamily="34" charset="0"/>
              <a:cs typeface="Calibri" pitchFamily="34" charset="0"/>
            </a:endParaRPr>
          </a:p>
          <a:p>
            <a:r>
              <a:rPr lang="en-US" sz="3200" b="1" dirty="0" smtClean="0"/>
              <a:t>For example</a:t>
            </a:r>
            <a:r>
              <a:rPr lang="en-US" sz="3200" dirty="0" smtClean="0"/>
              <a:t>, it will convert an image of 15 MB to 10 MB. However, it will still be too large to display on a webpage.</a:t>
            </a:r>
          </a:p>
          <a:p>
            <a:endParaRPr lang="en-US" sz="3200" dirty="0">
              <a:latin typeface="Calibri" pitchFamily="34" charset="0"/>
              <a:cs typeface="Calibri"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1"/>
            <a:ext cx="8659368" cy="2554545"/>
          </a:xfrm>
          <a:prstGeom prst="rect">
            <a:avLst/>
          </a:prstGeom>
        </p:spPr>
        <p:txBody>
          <a:bodyPr wrap="square">
            <a:spAutoFit/>
          </a:bodyPr>
          <a:lstStyle/>
          <a:p>
            <a:endParaRPr lang="en-US" sz="3200" dirty="0" smtClean="0">
              <a:latin typeface="Calibri" pitchFamily="34" charset="0"/>
              <a:cs typeface="Calibri" pitchFamily="34" charset="0"/>
            </a:endParaRPr>
          </a:p>
          <a:p>
            <a:r>
              <a:rPr lang="en-US" sz="3200" dirty="0" smtClean="0">
                <a:latin typeface="Calibri" pitchFamily="34" charset="0"/>
                <a:cs typeface="Calibri" pitchFamily="34" charset="0"/>
              </a:rPr>
              <a:t>Lossless image compression is particularly useful when compressing text. That is because a small change in the original version can dramatically change the text or data meaning.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2688" y="283464"/>
            <a:ext cx="10222992" cy="4524315"/>
          </a:xfrm>
          <a:prstGeom prst="rect">
            <a:avLst/>
          </a:prstGeom>
        </p:spPr>
        <p:txBody>
          <a:bodyPr wrap="square">
            <a:spAutoFit/>
          </a:bodyPr>
          <a:lstStyle/>
          <a:p>
            <a:r>
              <a:rPr lang="en-US" sz="3200" b="1" u="sng" dirty="0" err="1" smtClean="0">
                <a:latin typeface="Calibri" pitchFamily="34" charset="0"/>
                <a:cs typeface="Calibri" pitchFamily="34" charset="0"/>
              </a:rPr>
              <a:t>Lossy</a:t>
            </a:r>
            <a:r>
              <a:rPr lang="en-US" sz="3200" b="1" u="sng" dirty="0" smtClean="0">
                <a:latin typeface="Calibri" pitchFamily="34" charset="0"/>
                <a:cs typeface="Calibri" pitchFamily="34" charset="0"/>
              </a:rPr>
              <a:t> Compression</a:t>
            </a:r>
          </a:p>
          <a:p>
            <a:endParaRPr lang="en-US" sz="3200" u="sng" dirty="0" smtClean="0">
              <a:latin typeface="Calibri" pitchFamily="34" charset="0"/>
              <a:cs typeface="Calibri" pitchFamily="34" charset="0"/>
            </a:endParaRPr>
          </a:p>
          <a:p>
            <a:r>
              <a:rPr lang="en-US" sz="3200" dirty="0" err="1" smtClean="0">
                <a:latin typeface="Calibri" pitchFamily="34" charset="0"/>
                <a:cs typeface="Calibri" pitchFamily="34" charset="0"/>
              </a:rPr>
              <a:t>Lossy</a:t>
            </a:r>
            <a:r>
              <a:rPr lang="en-US" sz="3200" dirty="0" smtClean="0">
                <a:latin typeface="Calibri" pitchFamily="34" charset="0"/>
                <a:cs typeface="Calibri" pitchFamily="34" charset="0"/>
              </a:rPr>
              <a:t> compression reduces the image size by removing some of the image parts. It eliminates the tags that are not very essential.</a:t>
            </a:r>
          </a:p>
          <a:p>
            <a:endParaRPr lang="en-US" sz="3200" dirty="0" smtClean="0">
              <a:latin typeface="Calibri" pitchFamily="34" charset="0"/>
              <a:cs typeface="Calibri" pitchFamily="34" charset="0"/>
            </a:endParaRPr>
          </a:p>
          <a:p>
            <a:r>
              <a:rPr lang="en-US" sz="3200" dirty="0" smtClean="0">
                <a:latin typeface="Calibri" pitchFamily="34" charset="0"/>
                <a:cs typeface="Calibri" pitchFamily="34" charset="0"/>
              </a:rPr>
              <a:t>If you opt for this method, you can get a significantly smaller version of an image with a minimal quality difference. Additionally, you can enjoy a faster loading speed.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2752" y="210313"/>
            <a:ext cx="11326368" cy="5509200"/>
          </a:xfrm>
          <a:prstGeom prst="rect">
            <a:avLst/>
          </a:prstGeom>
        </p:spPr>
        <p:txBody>
          <a:bodyPr wrap="square">
            <a:spAutoFit/>
          </a:bodyPr>
          <a:lstStyle/>
          <a:p>
            <a:r>
              <a:rPr lang="en-US" sz="3200" dirty="0" err="1" smtClean="0">
                <a:latin typeface="Calibri" pitchFamily="34" charset="0"/>
                <a:cs typeface="Calibri" pitchFamily="34" charset="0"/>
              </a:rPr>
              <a:t>Lossy</a:t>
            </a:r>
            <a:r>
              <a:rPr lang="en-US" sz="3200" dirty="0" smtClean="0">
                <a:latin typeface="Calibri" pitchFamily="34" charset="0"/>
                <a:cs typeface="Calibri" pitchFamily="34" charset="0"/>
              </a:rPr>
              <a:t> compression works with a quality parameter to measure the change in quality. In most cases, you have to set this parameter. If it is lower than 90, the images may appear low quality to the human eye.</a:t>
            </a:r>
          </a:p>
          <a:p>
            <a:endParaRPr lang="en-US" sz="3200" b="1" dirty="0" smtClean="0">
              <a:latin typeface="Calibri" pitchFamily="34" charset="0"/>
              <a:cs typeface="Calibri" pitchFamily="34" charset="0"/>
            </a:endParaRPr>
          </a:p>
          <a:p>
            <a:r>
              <a:rPr lang="en-US" sz="3200" b="1" dirty="0" smtClean="0">
                <a:latin typeface="Calibri" pitchFamily="34" charset="0"/>
                <a:cs typeface="Calibri" pitchFamily="34" charset="0"/>
              </a:rPr>
              <a:t>For example</a:t>
            </a:r>
            <a:r>
              <a:rPr lang="en-US" sz="3200" dirty="0" smtClean="0">
                <a:latin typeface="Calibri" pitchFamily="34" charset="0"/>
                <a:cs typeface="Calibri" pitchFamily="34" charset="0"/>
              </a:rPr>
              <a:t>, you can convert an image of 15 MB into 2200 Kb as well as 400 Kb.</a:t>
            </a:r>
          </a:p>
          <a:p>
            <a:endParaRPr lang="en-US" sz="3200" dirty="0" smtClean="0">
              <a:latin typeface="Calibri" pitchFamily="34" charset="0"/>
              <a:cs typeface="Calibri" pitchFamily="34" charset="0"/>
            </a:endParaRPr>
          </a:p>
          <a:p>
            <a:r>
              <a:rPr lang="en-US" sz="3200" dirty="0" smtClean="0">
                <a:latin typeface="Calibri" pitchFamily="34" charset="0"/>
                <a:cs typeface="Calibri" pitchFamily="34" charset="0"/>
              </a:rPr>
              <a:t>JPG,MPEG,Mp3 all use </a:t>
            </a:r>
            <a:r>
              <a:rPr lang="en-US" sz="3200" dirty="0" err="1" smtClean="0">
                <a:latin typeface="Calibri" pitchFamily="34" charset="0"/>
                <a:cs typeface="Calibri" pitchFamily="34" charset="0"/>
              </a:rPr>
              <a:t>lossy</a:t>
            </a:r>
            <a:r>
              <a:rPr lang="en-US" sz="3200" dirty="0" smtClean="0">
                <a:latin typeface="Calibri" pitchFamily="34" charset="0"/>
                <a:cs typeface="Calibri" pitchFamily="34" charset="0"/>
              </a:rPr>
              <a:t> compression.</a:t>
            </a:r>
          </a:p>
          <a:p>
            <a:r>
              <a:rPr lang="en-US" sz="3200" dirty="0" smtClean="0">
                <a:latin typeface="Calibri" pitchFamily="34" charset="0"/>
                <a:cs typeface="Calibri" pitchFamily="34" charset="0"/>
              </a:rPr>
              <a:t>Our eyes cannot distinguish subtle changes so </a:t>
            </a:r>
            <a:r>
              <a:rPr lang="en-US" sz="3200" dirty="0" err="1" smtClean="0">
                <a:latin typeface="Calibri" pitchFamily="34" charset="0"/>
                <a:cs typeface="Calibri" pitchFamily="34" charset="0"/>
              </a:rPr>
              <a:t>lossy</a:t>
            </a:r>
            <a:r>
              <a:rPr lang="en-US" sz="3200" dirty="0" smtClean="0">
                <a:latin typeface="Calibri" pitchFamily="34" charset="0"/>
                <a:cs typeface="Calibri" pitchFamily="34" charset="0"/>
              </a:rPr>
              <a:t> data is acceptable.</a:t>
            </a:r>
            <a:endParaRPr lang="en-US" sz="3200" dirty="0">
              <a:latin typeface="Calibri" pitchFamily="34" charset="0"/>
              <a:cs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1288" y="329185"/>
            <a:ext cx="9582912" cy="4524315"/>
          </a:xfrm>
          <a:prstGeom prst="rect">
            <a:avLst/>
          </a:prstGeom>
        </p:spPr>
        <p:txBody>
          <a:bodyPr wrap="square">
            <a:spAutoFit/>
          </a:bodyPr>
          <a:lstStyle/>
          <a:p>
            <a:r>
              <a:rPr lang="en-US" sz="3200" b="1" dirty="0" smtClean="0">
                <a:latin typeface="Calibri" pitchFamily="34" charset="0"/>
                <a:cs typeface="Calibri" pitchFamily="34" charset="0"/>
              </a:rPr>
              <a:t>Which type of image compression is the best for you?</a:t>
            </a:r>
          </a:p>
          <a:p>
            <a:r>
              <a:rPr lang="en-US" sz="3200" dirty="0" smtClean="0">
                <a:latin typeface="Calibri" pitchFamily="34" charset="0"/>
                <a:cs typeface="Calibri" pitchFamily="34" charset="0"/>
              </a:rPr>
              <a:t>Websites like retail, blog, and portfolio have a lot of images. In these cases, </a:t>
            </a:r>
            <a:r>
              <a:rPr lang="en-US" sz="3200" dirty="0" err="1" smtClean="0">
                <a:latin typeface="Calibri" pitchFamily="34" charset="0"/>
                <a:cs typeface="Calibri" pitchFamily="34" charset="0"/>
              </a:rPr>
              <a:t>lossy</a:t>
            </a:r>
            <a:r>
              <a:rPr lang="en-US" sz="3200" dirty="0" smtClean="0">
                <a:latin typeface="Calibri" pitchFamily="34" charset="0"/>
                <a:cs typeface="Calibri" pitchFamily="34" charset="0"/>
              </a:rPr>
              <a:t> compression will prove to be beneficial as it reduces the size and improves the page speed.</a:t>
            </a:r>
          </a:p>
          <a:p>
            <a:endParaRPr lang="en-US" sz="3200" dirty="0" smtClean="0">
              <a:latin typeface="Calibri" pitchFamily="34" charset="0"/>
              <a:cs typeface="Calibri" pitchFamily="34" charset="0"/>
            </a:endParaRPr>
          </a:p>
          <a:p>
            <a:r>
              <a:rPr lang="en-US" sz="3200" dirty="0" smtClean="0">
                <a:latin typeface="Calibri" pitchFamily="34" charset="0"/>
                <a:cs typeface="Calibri" pitchFamily="34" charset="0"/>
              </a:rPr>
              <a:t>On the other hand, a photography business or medical image center must use lossless compression. This method will preserve the image quality.</a:t>
            </a:r>
            <a:endParaRPr lang="en-US" sz="3200" dirty="0">
              <a:latin typeface="Calibri" pitchFamily="34" charset="0"/>
              <a:cs typeface="Calibri"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3624" y="146305"/>
            <a:ext cx="8677656" cy="2062103"/>
          </a:xfrm>
          <a:prstGeom prst="rect">
            <a:avLst/>
          </a:prstGeom>
          <a:noFill/>
        </p:spPr>
        <p:txBody>
          <a:bodyPr wrap="square" rtlCol="0">
            <a:spAutoFit/>
          </a:bodyPr>
          <a:lstStyle/>
          <a:p>
            <a:r>
              <a:rPr lang="en-US" sz="3200" b="1" u="sng" dirty="0" smtClean="0">
                <a:latin typeface="Calibri" pitchFamily="34" charset="0"/>
                <a:cs typeface="Calibri" pitchFamily="34" charset="0"/>
              </a:rPr>
              <a:t>Decompression </a:t>
            </a:r>
          </a:p>
          <a:p>
            <a:r>
              <a:rPr lang="en-US" sz="3200" dirty="0" smtClean="0">
                <a:latin typeface="Calibri" pitchFamily="34" charset="0"/>
                <a:cs typeface="Calibri" pitchFamily="34" charset="0"/>
              </a:rPr>
              <a:t>Reverse operation where the redundant parts are put back into the representation to restore it to it’s initial form.</a:t>
            </a:r>
            <a:endParaRPr lang="en-US" sz="3200" dirty="0">
              <a:latin typeface="Calibri" pitchFamily="34" charset="0"/>
              <a:cs typeface="Calibri"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2248" y="256032"/>
            <a:ext cx="9640824" cy="3539430"/>
          </a:xfrm>
          <a:prstGeom prst="rect">
            <a:avLst/>
          </a:prstGeom>
        </p:spPr>
        <p:txBody>
          <a:bodyPr wrap="square">
            <a:spAutoFit/>
          </a:bodyPr>
          <a:lstStyle/>
          <a:p>
            <a:r>
              <a:rPr lang="en-US" sz="3200" dirty="0" smtClean="0">
                <a:latin typeface="Calibri" pitchFamily="34" charset="0"/>
                <a:cs typeface="Calibri" pitchFamily="34" charset="0"/>
              </a:rPr>
              <a:t>Data contains irrelevant or repeated </a:t>
            </a:r>
            <a:r>
              <a:rPr lang="en-US" sz="3200" dirty="0" err="1" smtClean="0">
                <a:latin typeface="Calibri" pitchFamily="34" charset="0"/>
                <a:cs typeface="Calibri" pitchFamily="34" charset="0"/>
              </a:rPr>
              <a:t>imformation</a:t>
            </a:r>
            <a:r>
              <a:rPr lang="en-US" sz="3200" dirty="0" smtClean="0">
                <a:latin typeface="Calibri" pitchFamily="34" charset="0"/>
                <a:cs typeface="Calibri" pitchFamily="34" charset="0"/>
              </a:rPr>
              <a:t> called </a:t>
            </a:r>
            <a:r>
              <a:rPr lang="en-US" sz="3200" b="1" dirty="0" smtClean="0">
                <a:latin typeface="Calibri" pitchFamily="34" charset="0"/>
                <a:cs typeface="Calibri" pitchFamily="34" charset="0"/>
              </a:rPr>
              <a:t>redundant data</a:t>
            </a:r>
            <a:r>
              <a:rPr lang="en-US" sz="3200" dirty="0" smtClean="0">
                <a:latin typeface="Calibri" pitchFamily="34" charset="0"/>
                <a:cs typeface="Calibri" pitchFamily="34" charset="0"/>
              </a:rPr>
              <a:t>.</a:t>
            </a:r>
          </a:p>
          <a:p>
            <a:endParaRPr lang="en-US" sz="3200" b="1" dirty="0" smtClean="0">
              <a:latin typeface="Calibri" pitchFamily="34" charset="0"/>
              <a:cs typeface="Calibri" pitchFamily="34" charset="0"/>
            </a:endParaRPr>
          </a:p>
          <a:p>
            <a:r>
              <a:rPr lang="en-US" sz="3200" b="1" u="sng" dirty="0" smtClean="0">
                <a:latin typeface="Calibri" pitchFamily="34" charset="0"/>
                <a:cs typeface="Calibri" pitchFamily="34" charset="0"/>
              </a:rPr>
              <a:t>Types of Data Redundancies</a:t>
            </a:r>
          </a:p>
          <a:p>
            <a:pPr>
              <a:buFont typeface="Arial" pitchFamily="34" charset="0"/>
              <a:buChar char="•"/>
            </a:pPr>
            <a:r>
              <a:rPr lang="en-US" sz="3200" dirty="0" smtClean="0">
                <a:latin typeface="Calibri" pitchFamily="34" charset="0"/>
                <a:cs typeface="Calibri" pitchFamily="34" charset="0"/>
              </a:rPr>
              <a:t>Coding redundancy</a:t>
            </a:r>
          </a:p>
          <a:p>
            <a:pPr>
              <a:buFont typeface="Arial" pitchFamily="34" charset="0"/>
              <a:buChar char="•"/>
            </a:pPr>
            <a:r>
              <a:rPr lang="en-US" sz="3200" dirty="0" smtClean="0">
                <a:latin typeface="Calibri" pitchFamily="34" charset="0"/>
                <a:cs typeface="Calibri" pitchFamily="34" charset="0"/>
              </a:rPr>
              <a:t>Spatial and Temporal Redundancy</a:t>
            </a:r>
          </a:p>
          <a:p>
            <a:pPr>
              <a:buFont typeface="Arial" pitchFamily="34" charset="0"/>
              <a:buChar char="•"/>
            </a:pPr>
            <a:r>
              <a:rPr lang="en-US" sz="3200" dirty="0" smtClean="0">
                <a:latin typeface="Calibri" pitchFamily="34" charset="0"/>
                <a:cs typeface="Calibri" pitchFamily="34" charset="0"/>
              </a:rPr>
              <a:t>Irrelevant Information </a:t>
            </a:r>
            <a:endParaRPr lang="en-US" sz="3200" dirty="0">
              <a:latin typeface="Calibri" pitchFamily="34" charset="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g3b6bf2b8223_0_1"/>
          <p:cNvSpPr txBox="1">
            <a:spLocks noGrp="1"/>
          </p:cNvSpPr>
          <p:nvPr>
            <p:ph type="body" idx="4294967295"/>
          </p:nvPr>
        </p:nvSpPr>
        <p:spPr>
          <a:xfrm>
            <a:off x="1152144" y="128016"/>
            <a:ext cx="9043416" cy="5934456"/>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Font typeface="Arial"/>
              <a:buNone/>
            </a:pPr>
            <a:r>
              <a:rPr lang="en-IN" b="1" dirty="0"/>
              <a:t>Image compression targets three main types of redundancy: </a:t>
            </a:r>
            <a:endParaRPr>
              <a:solidFill>
                <a:srgbClr val="888888"/>
              </a:solidFill>
            </a:endParaRPr>
          </a:p>
          <a:p>
            <a:pPr marL="457200" lvl="0" indent="-441960" algn="l" rtl="0">
              <a:spcBef>
                <a:spcPts val="640"/>
              </a:spcBef>
              <a:spcAft>
                <a:spcPts val="0"/>
              </a:spcAft>
              <a:buClr>
                <a:schemeClr val="dk1"/>
              </a:buClr>
              <a:buSzPct val="100000"/>
              <a:buChar char="•"/>
            </a:pPr>
            <a:r>
              <a:rPr lang="en-IN" b="1" dirty="0"/>
              <a:t>Coding Redundancy  - </a:t>
            </a:r>
            <a:r>
              <a:rPr lang="en-IN" dirty="0"/>
              <a:t>inefficient bit usage</a:t>
            </a:r>
            <a:endParaRPr>
              <a:solidFill>
                <a:srgbClr val="888888"/>
              </a:solidFill>
            </a:endParaRPr>
          </a:p>
          <a:p>
            <a:pPr marL="457200" lvl="0" indent="-441960" algn="l" rtl="0">
              <a:spcBef>
                <a:spcPts val="640"/>
              </a:spcBef>
              <a:spcAft>
                <a:spcPts val="0"/>
              </a:spcAft>
              <a:buClr>
                <a:schemeClr val="dk1"/>
              </a:buClr>
              <a:buSzPct val="100000"/>
              <a:buChar char="•"/>
            </a:pPr>
            <a:r>
              <a:rPr lang="en-IN" b="1" dirty="0" err="1"/>
              <a:t>Interpixel</a:t>
            </a:r>
            <a:r>
              <a:rPr lang="en-IN" b="1" dirty="0"/>
              <a:t>(Spatial) - </a:t>
            </a:r>
            <a:r>
              <a:rPr lang="en-IN" dirty="0"/>
              <a:t>correlation between </a:t>
            </a:r>
            <a:r>
              <a:rPr lang="en-IN" dirty="0" err="1"/>
              <a:t>neighboring</a:t>
            </a:r>
            <a:r>
              <a:rPr lang="en-IN" dirty="0"/>
              <a:t> pixels</a:t>
            </a:r>
            <a:endParaRPr>
              <a:solidFill>
                <a:srgbClr val="888888"/>
              </a:solidFill>
            </a:endParaRPr>
          </a:p>
          <a:p>
            <a:pPr marL="457200" lvl="0" indent="-441960" algn="l" rtl="0">
              <a:spcBef>
                <a:spcPts val="640"/>
              </a:spcBef>
              <a:spcAft>
                <a:spcPts val="0"/>
              </a:spcAft>
              <a:buClr>
                <a:schemeClr val="dk1"/>
              </a:buClr>
              <a:buSzPct val="100000"/>
              <a:buChar char="•"/>
            </a:pPr>
            <a:r>
              <a:rPr lang="en-IN" b="1" dirty="0" err="1"/>
              <a:t>Psychovisual</a:t>
            </a:r>
            <a:r>
              <a:rPr lang="en-IN" b="1" dirty="0"/>
              <a:t> Redundancy - </a:t>
            </a:r>
            <a:r>
              <a:rPr lang="en-IN" dirty="0"/>
              <a:t>(information less perceptible to the human eye). By identifying and reducing these overlaps, compression algorithms significantly decrease file sizes for storage and transmission. </a:t>
            </a:r>
            <a:endParaRPr>
              <a:solidFill>
                <a:srgbClr val="888888"/>
              </a:solidFill>
            </a:endParaRPr>
          </a:p>
          <a:p>
            <a:pPr marL="0" lvl="0" indent="0" algn="l" rtl="0">
              <a:spcBef>
                <a:spcPts val="36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B4C63D-FEC1-4BAD-7812-C768A7F45780}"/>
              </a:ext>
            </a:extLst>
          </p:cNvPr>
          <p:cNvSpPr>
            <a:spLocks noGrp="1"/>
          </p:cNvSpPr>
          <p:nvPr>
            <p:ph type="ctrTitle"/>
          </p:nvPr>
        </p:nvSpPr>
        <p:spPr>
          <a:xfrm>
            <a:off x="1524000" y="864705"/>
            <a:ext cx="9144000" cy="874644"/>
          </a:xfrm>
        </p:spPr>
        <p:txBody>
          <a:bodyPr>
            <a:normAutofit fontScale="90000"/>
          </a:bodyPr>
          <a:lstStyle/>
          <a:p>
            <a:r>
              <a:rPr lang="en-IN" dirty="0"/>
              <a:t>Image Compression </a:t>
            </a:r>
          </a:p>
        </p:txBody>
      </p:sp>
      <p:sp>
        <p:nvSpPr>
          <p:cNvPr id="4" name="Subtitle 3">
            <a:extLst>
              <a:ext uri="{FF2B5EF4-FFF2-40B4-BE49-F238E27FC236}">
                <a16:creationId xmlns:a16="http://schemas.microsoft.com/office/drawing/2014/main" xmlns="" id="{9C613039-ABA9-B065-FAB4-6CC48FD72E47}"/>
              </a:ext>
            </a:extLst>
          </p:cNvPr>
          <p:cNvSpPr>
            <a:spLocks noGrp="1"/>
          </p:cNvSpPr>
          <p:nvPr>
            <p:ph type="subTitle" idx="1"/>
          </p:nvPr>
        </p:nvSpPr>
        <p:spPr>
          <a:xfrm>
            <a:off x="1524000" y="1739349"/>
            <a:ext cx="9144000" cy="4432851"/>
          </a:xfrm>
        </p:spPr>
        <p:txBody>
          <a:bodyPr>
            <a:noAutofit/>
          </a:bodyPr>
          <a:lstStyle/>
          <a:p>
            <a:pPr algn="l"/>
            <a:r>
              <a:rPr lang="en-US" sz="2800" dirty="0"/>
              <a:t>Image compression system is composed of two distinct functional components: an encoder and a decoder. </a:t>
            </a:r>
          </a:p>
          <a:p>
            <a:pPr algn="l"/>
            <a:r>
              <a:rPr lang="en-US" sz="2800" dirty="0"/>
              <a:t>The encoder performs compression, and the decoder performs the complementary operation of decompression.</a:t>
            </a:r>
          </a:p>
          <a:p>
            <a:pPr algn="l"/>
            <a:r>
              <a:rPr lang="en-US" sz="2800" dirty="0"/>
              <a:t> Both operations can be performed in software, as is the case in Web browsers and many commercial image-editing applications, or in a combination of hardware and firmware, as in commercial DVD players. </a:t>
            </a:r>
          </a:p>
          <a:p>
            <a:pPr algn="l"/>
            <a:r>
              <a:rPr lang="en-US" sz="2800" dirty="0"/>
              <a:t>A </a:t>
            </a:r>
            <a:r>
              <a:rPr lang="en-US" sz="2800" b="1" dirty="0"/>
              <a:t>codec</a:t>
            </a:r>
            <a:r>
              <a:rPr lang="en-US" sz="2800" dirty="0"/>
              <a:t> is a device or program that is capable of both encoding and decoding.</a:t>
            </a:r>
            <a:endParaRPr lang="en-IN" sz="2800" dirty="0"/>
          </a:p>
        </p:txBody>
      </p:sp>
    </p:spTree>
    <p:extLst>
      <p:ext uri="{BB962C8B-B14F-4D97-AF65-F5344CB8AC3E}">
        <p14:creationId xmlns:p14="http://schemas.microsoft.com/office/powerpoint/2010/main" xmlns="" val="338084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F33C5B-C0FD-39A2-CBBE-1ADF5BBC966D}"/>
              </a:ext>
            </a:extLst>
          </p:cNvPr>
          <p:cNvSpPr>
            <a:spLocks noGrp="1"/>
          </p:cNvSpPr>
          <p:nvPr>
            <p:ph type="title"/>
          </p:nvPr>
        </p:nvSpPr>
        <p:spPr/>
        <p:txBody>
          <a:bodyPr/>
          <a:lstStyle/>
          <a:p>
            <a:r>
              <a:rPr lang="en-IN" dirty="0"/>
              <a:t>Functional block diagram of image compression system</a:t>
            </a:r>
          </a:p>
        </p:txBody>
      </p:sp>
      <p:pic>
        <p:nvPicPr>
          <p:cNvPr id="4" name="Content Placeholder 3">
            <a:extLst>
              <a:ext uri="{FF2B5EF4-FFF2-40B4-BE49-F238E27FC236}">
                <a16:creationId xmlns:a16="http://schemas.microsoft.com/office/drawing/2014/main" xmlns="" id="{75BDFF58-A90C-D56F-2E28-8D0D13D188AD}"/>
              </a:ext>
            </a:extLst>
          </p:cNvPr>
          <p:cNvPicPr>
            <a:picLocks noGrp="1" noChangeAspect="1"/>
          </p:cNvPicPr>
          <p:nvPr>
            <p:ph idx="1"/>
          </p:nvPr>
        </p:nvPicPr>
        <p:blipFill>
          <a:blip r:embed="rId2"/>
          <a:stretch>
            <a:fillRect/>
          </a:stretch>
        </p:blipFill>
        <p:spPr>
          <a:xfrm>
            <a:off x="934278" y="1779104"/>
            <a:ext cx="10419521" cy="4492487"/>
          </a:xfrm>
          <a:prstGeom prst="rect">
            <a:avLst/>
          </a:prstGeom>
        </p:spPr>
      </p:pic>
    </p:spTree>
    <p:extLst>
      <p:ext uri="{BB962C8B-B14F-4D97-AF65-F5344CB8AC3E}">
        <p14:creationId xmlns:p14="http://schemas.microsoft.com/office/powerpoint/2010/main" xmlns="" val="1829000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21F7BF-85BE-6E6A-8AC5-DE77A9950F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EA96048-F6D2-6E5D-A6EC-856DDF35CD5F}"/>
              </a:ext>
            </a:extLst>
          </p:cNvPr>
          <p:cNvSpPr>
            <a:spLocks noGrp="1"/>
          </p:cNvSpPr>
          <p:nvPr>
            <p:ph idx="1"/>
          </p:nvPr>
        </p:nvSpPr>
        <p:spPr/>
        <p:txBody>
          <a:bodyPr>
            <a:normAutofit fontScale="92500" lnSpcReduction="10000"/>
          </a:bodyPr>
          <a:lstStyle/>
          <a:p>
            <a:r>
              <a:rPr lang="en-US" sz="3000" dirty="0"/>
              <a:t>Input image f (x,…) is fed into the encoder, which creates a compressed representation of the input. This representation is stored for later use, or transmitted for storage and use at a remote location.</a:t>
            </a:r>
          </a:p>
          <a:p>
            <a:r>
              <a:rPr lang="en-US" sz="3000" dirty="0"/>
              <a:t> When the compressed representation is presented to its complementary decoder, a reconstructed output image ˆf (x…) is generated. </a:t>
            </a:r>
          </a:p>
          <a:p>
            <a:r>
              <a:rPr lang="en-US" sz="3000" dirty="0"/>
              <a:t>In still-image applications, the encoded input and decoder output are f(</a:t>
            </a:r>
            <a:r>
              <a:rPr lang="en-US" sz="3000" dirty="0" err="1"/>
              <a:t>x,y</a:t>
            </a:r>
            <a:r>
              <a:rPr lang="en-US" sz="3000" dirty="0"/>
              <a:t>) and ˆf(x, y), respectively.</a:t>
            </a:r>
          </a:p>
          <a:p>
            <a:r>
              <a:rPr lang="en-US" sz="3000" dirty="0"/>
              <a:t> In video applications, they are f(</a:t>
            </a:r>
            <a:r>
              <a:rPr lang="en-US" sz="3000" dirty="0" err="1"/>
              <a:t>x,y,t</a:t>
            </a:r>
            <a:r>
              <a:rPr lang="en-US" sz="3000" dirty="0"/>
              <a:t>) and ˆf (</a:t>
            </a:r>
            <a:r>
              <a:rPr lang="en-US" sz="3000" dirty="0" err="1"/>
              <a:t>x,y,t</a:t>
            </a:r>
            <a:r>
              <a:rPr lang="en-US" sz="3000" dirty="0"/>
              <a:t>), where the discrete parameter t specifies time.</a:t>
            </a:r>
          </a:p>
          <a:p>
            <a:pPr marL="0" indent="0">
              <a:buNone/>
            </a:pPr>
            <a:r>
              <a:rPr lang="en-US" dirty="0"/>
              <a:t> </a:t>
            </a:r>
            <a:endParaRPr lang="en-IN" dirty="0"/>
          </a:p>
        </p:txBody>
      </p:sp>
    </p:spTree>
    <p:extLst>
      <p:ext uri="{BB962C8B-B14F-4D97-AF65-F5344CB8AC3E}">
        <p14:creationId xmlns:p14="http://schemas.microsoft.com/office/powerpoint/2010/main" xmlns="" val="4105575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C5A511-D749-DB2C-20A0-919258FD08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452549D-DDF4-D891-8402-76FB2020C953}"/>
              </a:ext>
            </a:extLst>
          </p:cNvPr>
          <p:cNvSpPr>
            <a:spLocks noGrp="1"/>
          </p:cNvSpPr>
          <p:nvPr>
            <p:ph idx="1"/>
          </p:nvPr>
        </p:nvSpPr>
        <p:spPr/>
        <p:txBody>
          <a:bodyPr/>
          <a:lstStyle/>
          <a:p>
            <a:r>
              <a:rPr lang="en-US" dirty="0"/>
              <a:t>In general, ˆf (x,…) may or may not be an exact replica of f (x,…).</a:t>
            </a:r>
          </a:p>
          <a:p>
            <a:r>
              <a:rPr lang="en-US" dirty="0"/>
              <a:t> If it is, the compression system is called </a:t>
            </a:r>
            <a:r>
              <a:rPr lang="en-US" b="1" dirty="0"/>
              <a:t>error free, lossless, or information preserving</a:t>
            </a:r>
            <a:r>
              <a:rPr lang="en-US" dirty="0"/>
              <a:t>. </a:t>
            </a:r>
          </a:p>
          <a:p>
            <a:r>
              <a:rPr lang="en-US" dirty="0"/>
              <a:t>If not, the reconstructed output image is distorted, and the compression system is referred to as </a:t>
            </a:r>
            <a:r>
              <a:rPr lang="en-US" b="1" dirty="0"/>
              <a:t>lossy</a:t>
            </a:r>
            <a:r>
              <a:rPr lang="en-US" dirty="0"/>
              <a:t>.</a:t>
            </a:r>
            <a:endParaRPr lang="en-IN" dirty="0"/>
          </a:p>
        </p:txBody>
      </p:sp>
    </p:spTree>
    <p:extLst>
      <p:ext uri="{BB962C8B-B14F-4D97-AF65-F5344CB8AC3E}">
        <p14:creationId xmlns:p14="http://schemas.microsoft.com/office/powerpoint/2010/main" xmlns="" val="2368913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B27982-6793-0E05-660B-6CC6FF3A0213}"/>
              </a:ext>
            </a:extLst>
          </p:cNvPr>
          <p:cNvSpPr>
            <a:spLocks noGrp="1"/>
          </p:cNvSpPr>
          <p:nvPr>
            <p:ph type="title"/>
          </p:nvPr>
        </p:nvSpPr>
        <p:spPr/>
        <p:txBody>
          <a:bodyPr/>
          <a:lstStyle/>
          <a:p>
            <a:r>
              <a:rPr lang="en-US" dirty="0"/>
              <a:t>The Encoding or Compression Process</a:t>
            </a:r>
            <a:endParaRPr lang="en-IN" dirty="0"/>
          </a:p>
        </p:txBody>
      </p:sp>
      <p:sp>
        <p:nvSpPr>
          <p:cNvPr id="3" name="Content Placeholder 2">
            <a:extLst>
              <a:ext uri="{FF2B5EF4-FFF2-40B4-BE49-F238E27FC236}">
                <a16:creationId xmlns:a16="http://schemas.microsoft.com/office/drawing/2014/main" xmlns="" id="{F58A708A-C0CF-C593-D261-73BFED0B30BE}"/>
              </a:ext>
            </a:extLst>
          </p:cNvPr>
          <p:cNvSpPr>
            <a:spLocks noGrp="1"/>
          </p:cNvSpPr>
          <p:nvPr>
            <p:ph idx="1"/>
          </p:nvPr>
        </p:nvSpPr>
        <p:spPr/>
        <p:txBody>
          <a:bodyPr>
            <a:normAutofit/>
          </a:bodyPr>
          <a:lstStyle/>
          <a:p>
            <a:pPr marL="0" indent="0">
              <a:buNone/>
            </a:pPr>
            <a:r>
              <a:rPr lang="en-US" dirty="0"/>
              <a:t>The </a:t>
            </a:r>
            <a:r>
              <a:rPr lang="en-US" b="1" dirty="0"/>
              <a:t>encoder</a:t>
            </a:r>
            <a:r>
              <a:rPr lang="en-US" dirty="0"/>
              <a:t> is designed to remove the redundancies through a series of three independent operations.</a:t>
            </a:r>
          </a:p>
          <a:p>
            <a:pPr marL="0" indent="0">
              <a:buNone/>
            </a:pPr>
            <a:r>
              <a:rPr lang="en-US" dirty="0"/>
              <a:t> In the first stage of the encoding process, a </a:t>
            </a:r>
            <a:r>
              <a:rPr lang="en-US" b="1" dirty="0"/>
              <a:t>mapper</a:t>
            </a:r>
            <a:r>
              <a:rPr lang="en-US" dirty="0"/>
              <a:t> transforms f(x,…) into a (usually nonvisual) format designed to reduce spatial and temporal redundancy. This operation generally is reversible, and may or may not directly reduce the amount of data required to represent the image. Run-length coding is an example of a mapping that normally yields compression in the first step of the encoding process.</a:t>
            </a:r>
          </a:p>
          <a:p>
            <a:pPr marL="0" indent="0">
              <a:buNone/>
            </a:pPr>
            <a:r>
              <a:rPr lang="en-US" dirty="0"/>
              <a:t> Non-visual is </a:t>
            </a:r>
            <a:r>
              <a:rPr lang="en-US" b="1" dirty="0"/>
              <a:t>not directly perceivable as an image</a:t>
            </a:r>
            <a:r>
              <a:rPr lang="en-US" dirty="0"/>
              <a:t> because it converts spatial pixel intensity data into mathematical frequency coefficients. </a:t>
            </a:r>
            <a:endParaRPr lang="en-IN" dirty="0"/>
          </a:p>
        </p:txBody>
      </p:sp>
    </p:spTree>
    <p:extLst>
      <p:ext uri="{BB962C8B-B14F-4D97-AF65-F5344CB8AC3E}">
        <p14:creationId xmlns:p14="http://schemas.microsoft.com/office/powerpoint/2010/main" xmlns="" val="3057448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3ED218-FF55-B470-7BAE-99BB6CCFA0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217B74A-18E0-2CEB-69CB-1DBE9790B0BA}"/>
              </a:ext>
            </a:extLst>
          </p:cNvPr>
          <p:cNvSpPr>
            <a:spLocks noGrp="1"/>
          </p:cNvSpPr>
          <p:nvPr>
            <p:ph idx="1"/>
          </p:nvPr>
        </p:nvSpPr>
        <p:spPr/>
        <p:txBody>
          <a:bodyPr/>
          <a:lstStyle/>
          <a:p>
            <a:pPr marL="0" indent="0">
              <a:buNone/>
            </a:pPr>
            <a:r>
              <a:rPr lang="en-US" dirty="0"/>
              <a:t>In video applications, the mapper uses previous (and, in some cases, future) video frames to facilitate the removal of temporal redundancy.</a:t>
            </a:r>
            <a:endParaRPr lang="en-IN" dirty="0"/>
          </a:p>
        </p:txBody>
      </p:sp>
    </p:spTree>
    <p:extLst>
      <p:ext uri="{BB962C8B-B14F-4D97-AF65-F5344CB8AC3E}">
        <p14:creationId xmlns:p14="http://schemas.microsoft.com/office/powerpoint/2010/main" xmlns="" val="1794309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512E6C-82B8-2498-4B2C-37540EB164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3526A95-9EF5-28D9-90DF-7849A5B672CE}"/>
              </a:ext>
            </a:extLst>
          </p:cNvPr>
          <p:cNvSpPr>
            <a:spLocks noGrp="1"/>
          </p:cNvSpPr>
          <p:nvPr>
            <p:ph idx="1"/>
          </p:nvPr>
        </p:nvSpPr>
        <p:spPr/>
        <p:txBody>
          <a:bodyPr>
            <a:normAutofit/>
          </a:bodyPr>
          <a:lstStyle/>
          <a:p>
            <a:pPr marL="0" indent="0">
              <a:buNone/>
            </a:pPr>
            <a:r>
              <a:rPr lang="en-US" dirty="0"/>
              <a:t>The </a:t>
            </a:r>
            <a:r>
              <a:rPr lang="en-US" b="1" dirty="0"/>
              <a:t>quantizer</a:t>
            </a:r>
            <a:r>
              <a:rPr lang="en-US" dirty="0"/>
              <a:t> maps a large set of input pixel or transform coefficient values to a smaller, finite set of reconstruction levels to reduce file size. The goal is to keep irrelevant information out of the compressed representation.</a:t>
            </a:r>
          </a:p>
          <a:p>
            <a:pPr marL="0" indent="0">
              <a:buNone/>
            </a:pPr>
            <a:r>
              <a:rPr lang="en-US" dirty="0"/>
              <a:t>This operation is irreversible. It must be omitted when error-free compression is desired.</a:t>
            </a:r>
          </a:p>
        </p:txBody>
      </p:sp>
    </p:spTree>
    <p:extLst>
      <p:ext uri="{BB962C8B-B14F-4D97-AF65-F5344CB8AC3E}">
        <p14:creationId xmlns:p14="http://schemas.microsoft.com/office/powerpoint/2010/main" xmlns="" val="1462942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71940-3600-FE11-6FC3-0D69A89591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2DC0556-8DC7-CA97-086B-05BBE1FC111E}"/>
              </a:ext>
            </a:extLst>
          </p:cNvPr>
          <p:cNvSpPr>
            <a:spLocks noGrp="1"/>
          </p:cNvSpPr>
          <p:nvPr>
            <p:ph idx="1"/>
          </p:nvPr>
        </p:nvSpPr>
        <p:spPr/>
        <p:txBody>
          <a:bodyPr/>
          <a:lstStyle/>
          <a:p>
            <a:pPr marL="0" indent="0">
              <a:buNone/>
            </a:pPr>
            <a:r>
              <a:rPr lang="en-US" dirty="0"/>
              <a:t>In the third and final stage of the encoding process, the </a:t>
            </a:r>
            <a:r>
              <a:rPr lang="en-US" b="1" dirty="0"/>
              <a:t>symbol coder </a:t>
            </a:r>
            <a:r>
              <a:rPr lang="en-US" dirty="0"/>
              <a:t>generates a fixed-length or variable-length code to represent the quantizer output, and maps the output in accordance with the code.</a:t>
            </a:r>
          </a:p>
          <a:p>
            <a:pPr marL="0" indent="0">
              <a:buNone/>
            </a:pPr>
            <a:r>
              <a:rPr lang="en-US" dirty="0"/>
              <a:t> In many cases, a variable-length code is used. The shortest code words are assigned to the most frequently occurring quantizer output values, thus minimizing coding redundancy. </a:t>
            </a:r>
          </a:p>
          <a:p>
            <a:pPr marL="0" indent="0">
              <a:buNone/>
            </a:pPr>
            <a:r>
              <a:rPr lang="en-US" dirty="0"/>
              <a:t>This operation is reversible. </a:t>
            </a:r>
          </a:p>
          <a:p>
            <a:pPr marL="0" indent="0">
              <a:buNone/>
            </a:pPr>
            <a:r>
              <a:rPr lang="en-US" dirty="0"/>
              <a:t>Upon its completion, the input image has been processed for the removal of each of the three redundancies</a:t>
            </a:r>
            <a:endParaRPr lang="en-IN" dirty="0"/>
          </a:p>
        </p:txBody>
      </p:sp>
    </p:spTree>
    <p:extLst>
      <p:ext uri="{BB962C8B-B14F-4D97-AF65-F5344CB8AC3E}">
        <p14:creationId xmlns:p14="http://schemas.microsoft.com/office/powerpoint/2010/main" xmlns="" val="1679698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4C7ADC-40D9-27EC-89F3-1C31939544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B644E901-2200-E1EC-1961-60F1D3809A42}"/>
              </a:ext>
            </a:extLst>
          </p:cNvPr>
          <p:cNvSpPr>
            <a:spLocks noGrp="1"/>
          </p:cNvSpPr>
          <p:nvPr>
            <p:ph idx="1"/>
          </p:nvPr>
        </p:nvSpPr>
        <p:spPr/>
        <p:txBody>
          <a:bodyPr/>
          <a:lstStyle/>
          <a:p>
            <a:pPr marL="0" indent="0">
              <a:buNone/>
            </a:pPr>
            <a:r>
              <a:rPr lang="en-US" dirty="0"/>
              <a:t>An </a:t>
            </a:r>
            <a:r>
              <a:rPr lang="en-US" b="1" dirty="0"/>
              <a:t>image decoder </a:t>
            </a:r>
            <a:r>
              <a:rPr lang="en-US" dirty="0"/>
              <a:t>is essential in image compression to reverse the encoding process, transforming compact, encoded data back into a viewable, high-quality image format.</a:t>
            </a:r>
          </a:p>
          <a:p>
            <a:pPr marL="0" indent="0">
              <a:buNone/>
            </a:pPr>
            <a:r>
              <a:rPr lang="en-US" dirty="0"/>
              <a:t> It reconstructs visual information from compressed files, essential for storage and transmission, especially in lossy compression where it restores data while minimizing distortion. </a:t>
            </a:r>
            <a:endParaRPr lang="en-IN" dirty="0"/>
          </a:p>
        </p:txBody>
      </p:sp>
    </p:spTree>
    <p:extLst>
      <p:ext uri="{BB962C8B-B14F-4D97-AF65-F5344CB8AC3E}">
        <p14:creationId xmlns:p14="http://schemas.microsoft.com/office/powerpoint/2010/main" xmlns="" val="2624179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D51698-9966-A0C8-10EC-A74959840AEE}"/>
              </a:ext>
            </a:extLst>
          </p:cNvPr>
          <p:cNvSpPr>
            <a:spLocks noGrp="1"/>
          </p:cNvSpPr>
          <p:nvPr>
            <p:ph type="title"/>
          </p:nvPr>
        </p:nvSpPr>
        <p:spPr/>
        <p:txBody>
          <a:bodyPr/>
          <a:lstStyle/>
          <a:p>
            <a:r>
              <a:rPr lang="en-US" dirty="0"/>
              <a:t>The Decoding or Decompression Process</a:t>
            </a:r>
            <a:endParaRPr lang="en-IN" dirty="0"/>
          </a:p>
        </p:txBody>
      </p:sp>
      <p:sp>
        <p:nvSpPr>
          <p:cNvPr id="3" name="Content Placeholder 2">
            <a:extLst>
              <a:ext uri="{FF2B5EF4-FFF2-40B4-BE49-F238E27FC236}">
                <a16:creationId xmlns:a16="http://schemas.microsoft.com/office/drawing/2014/main" xmlns="" id="{AA9F5C9B-9B57-C386-4790-1B7E169317EE}"/>
              </a:ext>
            </a:extLst>
          </p:cNvPr>
          <p:cNvSpPr>
            <a:spLocks noGrp="1"/>
          </p:cNvSpPr>
          <p:nvPr>
            <p:ph idx="1"/>
          </p:nvPr>
        </p:nvSpPr>
        <p:spPr/>
        <p:txBody>
          <a:bodyPr/>
          <a:lstStyle/>
          <a:p>
            <a:pPr marL="0" indent="0">
              <a:buNone/>
            </a:pPr>
            <a:r>
              <a:rPr lang="en-US" dirty="0"/>
              <a:t>The decoder contains only two components: </a:t>
            </a:r>
          </a:p>
          <a:p>
            <a:pPr marL="0" indent="0">
              <a:buNone/>
            </a:pPr>
            <a:r>
              <a:rPr lang="en-US" b="1" dirty="0"/>
              <a:t>symbol decoder </a:t>
            </a:r>
            <a:r>
              <a:rPr lang="en-US" dirty="0"/>
              <a:t>and an </a:t>
            </a:r>
            <a:r>
              <a:rPr lang="en-US" b="1" dirty="0"/>
              <a:t>inverse mapper</a:t>
            </a:r>
            <a:r>
              <a:rPr lang="en-US" dirty="0"/>
              <a:t>.</a:t>
            </a:r>
          </a:p>
          <a:p>
            <a:pPr marL="0" indent="0">
              <a:buNone/>
            </a:pPr>
            <a:r>
              <a:rPr lang="en-US" dirty="0"/>
              <a:t>They perform, in reverse order, the inverse operations of the encoder’s symbol encoder and mapper. </a:t>
            </a:r>
          </a:p>
          <a:p>
            <a:pPr marL="0" indent="0">
              <a:buNone/>
            </a:pPr>
            <a:r>
              <a:rPr lang="en-US" dirty="0"/>
              <a:t>Because quantization results in irreversible information loss, an inverse quantizer block is not included in the general decoder model.</a:t>
            </a:r>
          </a:p>
        </p:txBody>
      </p:sp>
    </p:spTree>
    <p:extLst>
      <p:ext uri="{BB962C8B-B14F-4D97-AF65-F5344CB8AC3E}">
        <p14:creationId xmlns:p14="http://schemas.microsoft.com/office/powerpoint/2010/main" xmlns="" val="3734607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1090</Words>
  <Application>Microsoft Office PowerPoint</Application>
  <PresentationFormat>Custom</PresentationFormat>
  <Paragraphs>75</Paragraphs>
  <Slides>21</Slides>
  <Notes>3</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Image Compression </vt:lpstr>
      <vt:lpstr>Slide 2</vt:lpstr>
      <vt:lpstr>Slide 3</vt:lpstr>
      <vt:lpstr>Slide 4</vt:lpstr>
      <vt:lpstr>Slide 5</vt:lpstr>
      <vt:lpstr>Slide 6</vt:lpstr>
      <vt:lpstr>Slide 7</vt:lpstr>
      <vt:lpstr>Slide 8</vt:lpstr>
      <vt:lpstr>Slide 9</vt:lpstr>
      <vt:lpstr>Slide 10</vt:lpstr>
      <vt:lpstr>Slide 11</vt:lpstr>
      <vt:lpstr>Image Compression </vt:lpstr>
      <vt:lpstr>Functional block diagram of image compression system</vt:lpstr>
      <vt:lpstr>Slide 14</vt:lpstr>
      <vt:lpstr>Slide 15</vt:lpstr>
      <vt:lpstr>The Encoding or Compression Process</vt:lpstr>
      <vt:lpstr>Slide 17</vt:lpstr>
      <vt:lpstr>Slide 18</vt:lpstr>
      <vt:lpstr>Slide 19</vt:lpstr>
      <vt:lpstr>Slide 20</vt:lpstr>
      <vt:lpstr>The Decoding or Decompression Process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Compression </dc:title>
  <dc:creator>manjiri shirsat</dc:creator>
  <cp:lastModifiedBy>Admin</cp:lastModifiedBy>
  <cp:revision>26</cp:revision>
  <dcterms:created xsi:type="dcterms:W3CDTF">2026-01-24T11:28:26Z</dcterms:created>
  <dcterms:modified xsi:type="dcterms:W3CDTF">2026-01-27T07:38:33Z</dcterms:modified>
</cp:coreProperties>
</file>