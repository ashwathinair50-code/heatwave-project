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3" r:id="rId8"/>
    <p:sldId id="262" r:id="rId9"/>
    <p:sldId id="264" r:id="rId10"/>
    <p:sldId id="267" r:id="rId11"/>
    <p:sldId id="269" r:id="rId12"/>
    <p:sldId id="270" r:id="rId13"/>
    <p:sldId id="271" r:id="rId14"/>
    <p:sldId id="272" r:id="rId15"/>
    <p:sldId id="273" r:id="rId16"/>
    <p:sldId id="277" r:id="rId17"/>
    <p:sldId id="278" r:id="rId18"/>
    <p:sldId id="275" r:id="rId19"/>
    <p:sldId id="2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94660"/>
  </p:normalViewPr>
  <p:slideViewPr>
    <p:cSldViewPr snapToGrid="0">
      <p:cViewPr>
        <p:scale>
          <a:sx n="117" d="100"/>
          <a:sy n="117" d="100"/>
        </p:scale>
        <p:origin x="-360" y="19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A6C66E6-4AB4-69E5-69E3-118740D400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AB63FF0E-B17D-9AAE-E209-A968F9BAC7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36284692-D8B9-E95F-C5F2-F86D4F30FB56}"/>
              </a:ext>
            </a:extLst>
          </p:cNvPr>
          <p:cNvSpPr>
            <a:spLocks noGrp="1"/>
          </p:cNvSpPr>
          <p:nvPr>
            <p:ph type="dt" sz="half" idx="10"/>
          </p:nvPr>
        </p:nvSpPr>
        <p:spPr/>
        <p:txBody>
          <a:bodyPr/>
          <a:lstStyle/>
          <a:p>
            <a:fld id="{36E1B7E0-36C9-4D24-A17C-FF21E4AF7D9F}" type="datetimeFigureOut">
              <a:rPr lang="en-IN" smtClean="0"/>
              <a:t>03-01-2026</a:t>
            </a:fld>
            <a:endParaRPr lang="en-IN"/>
          </a:p>
        </p:txBody>
      </p:sp>
      <p:sp>
        <p:nvSpPr>
          <p:cNvPr id="5" name="Footer Placeholder 4">
            <a:extLst>
              <a:ext uri="{FF2B5EF4-FFF2-40B4-BE49-F238E27FC236}">
                <a16:creationId xmlns="" xmlns:a16="http://schemas.microsoft.com/office/drawing/2014/main" id="{DD3554AF-B613-B492-7BD4-BEC3FFC3E9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03F465D9-B1CF-FACC-BB90-A00542147BAD}"/>
              </a:ext>
            </a:extLst>
          </p:cNvPr>
          <p:cNvSpPr>
            <a:spLocks noGrp="1"/>
          </p:cNvSpPr>
          <p:nvPr>
            <p:ph type="sldNum" sz="quarter" idx="12"/>
          </p:nvPr>
        </p:nvSpPr>
        <p:spPr/>
        <p:txBody>
          <a:bodyPr/>
          <a:lstStyle/>
          <a:p>
            <a:fld id="{D4825885-EDD2-4F33-B35C-723B60815E56}" type="slidenum">
              <a:rPr lang="en-IN" smtClean="0"/>
              <a:t>‹#›</a:t>
            </a:fld>
            <a:endParaRPr lang="en-IN"/>
          </a:p>
        </p:txBody>
      </p:sp>
    </p:spTree>
    <p:extLst>
      <p:ext uri="{BB962C8B-B14F-4D97-AF65-F5344CB8AC3E}">
        <p14:creationId xmlns:p14="http://schemas.microsoft.com/office/powerpoint/2010/main" val="1823025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289A042-9816-E2AC-3647-1423B152A3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DAE2155F-A9E7-F0AD-AF04-CAB6E40CFE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BF678ECE-2CF7-ED9B-5C80-B4C3591D1F32}"/>
              </a:ext>
            </a:extLst>
          </p:cNvPr>
          <p:cNvSpPr>
            <a:spLocks noGrp="1"/>
          </p:cNvSpPr>
          <p:nvPr>
            <p:ph type="dt" sz="half" idx="10"/>
          </p:nvPr>
        </p:nvSpPr>
        <p:spPr/>
        <p:txBody>
          <a:bodyPr/>
          <a:lstStyle/>
          <a:p>
            <a:fld id="{36E1B7E0-36C9-4D24-A17C-FF21E4AF7D9F}" type="datetimeFigureOut">
              <a:rPr lang="en-IN" smtClean="0"/>
              <a:t>03-01-2026</a:t>
            </a:fld>
            <a:endParaRPr lang="en-IN"/>
          </a:p>
        </p:txBody>
      </p:sp>
      <p:sp>
        <p:nvSpPr>
          <p:cNvPr id="5" name="Footer Placeholder 4">
            <a:extLst>
              <a:ext uri="{FF2B5EF4-FFF2-40B4-BE49-F238E27FC236}">
                <a16:creationId xmlns="" xmlns:a16="http://schemas.microsoft.com/office/drawing/2014/main" id="{17889E18-531C-4AF0-64DF-9E6ACABF72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243B5515-5BB1-5095-B3A9-9110BC0361C1}"/>
              </a:ext>
            </a:extLst>
          </p:cNvPr>
          <p:cNvSpPr>
            <a:spLocks noGrp="1"/>
          </p:cNvSpPr>
          <p:nvPr>
            <p:ph type="sldNum" sz="quarter" idx="12"/>
          </p:nvPr>
        </p:nvSpPr>
        <p:spPr/>
        <p:txBody>
          <a:bodyPr/>
          <a:lstStyle/>
          <a:p>
            <a:fld id="{D4825885-EDD2-4F33-B35C-723B60815E56}" type="slidenum">
              <a:rPr lang="en-IN" smtClean="0"/>
              <a:t>‹#›</a:t>
            </a:fld>
            <a:endParaRPr lang="en-IN"/>
          </a:p>
        </p:txBody>
      </p:sp>
    </p:spTree>
    <p:extLst>
      <p:ext uri="{BB962C8B-B14F-4D97-AF65-F5344CB8AC3E}">
        <p14:creationId xmlns:p14="http://schemas.microsoft.com/office/powerpoint/2010/main" val="17575249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B068028-DF33-B276-AEDD-C9700F0D71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411DF62B-2B35-C5C4-94EF-517028B8FA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874EC923-07CE-050D-0D54-2979554D861A}"/>
              </a:ext>
            </a:extLst>
          </p:cNvPr>
          <p:cNvSpPr>
            <a:spLocks noGrp="1"/>
          </p:cNvSpPr>
          <p:nvPr>
            <p:ph type="dt" sz="half" idx="10"/>
          </p:nvPr>
        </p:nvSpPr>
        <p:spPr/>
        <p:txBody>
          <a:bodyPr/>
          <a:lstStyle/>
          <a:p>
            <a:fld id="{36E1B7E0-36C9-4D24-A17C-FF21E4AF7D9F}" type="datetimeFigureOut">
              <a:rPr lang="en-IN" smtClean="0"/>
              <a:t>03-01-2026</a:t>
            </a:fld>
            <a:endParaRPr lang="en-IN"/>
          </a:p>
        </p:txBody>
      </p:sp>
      <p:sp>
        <p:nvSpPr>
          <p:cNvPr id="5" name="Footer Placeholder 4">
            <a:extLst>
              <a:ext uri="{FF2B5EF4-FFF2-40B4-BE49-F238E27FC236}">
                <a16:creationId xmlns="" xmlns:a16="http://schemas.microsoft.com/office/drawing/2014/main" id="{246263F5-9B7A-45C1-95A4-C1894879C5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F59440D0-32F9-3501-4B79-39737E41FF14}"/>
              </a:ext>
            </a:extLst>
          </p:cNvPr>
          <p:cNvSpPr>
            <a:spLocks noGrp="1"/>
          </p:cNvSpPr>
          <p:nvPr>
            <p:ph type="sldNum" sz="quarter" idx="12"/>
          </p:nvPr>
        </p:nvSpPr>
        <p:spPr/>
        <p:txBody>
          <a:bodyPr/>
          <a:lstStyle/>
          <a:p>
            <a:fld id="{D4825885-EDD2-4F33-B35C-723B60815E56}" type="slidenum">
              <a:rPr lang="en-IN" smtClean="0"/>
              <a:t>‹#›</a:t>
            </a:fld>
            <a:endParaRPr lang="en-IN"/>
          </a:p>
        </p:txBody>
      </p:sp>
    </p:spTree>
    <p:extLst>
      <p:ext uri="{BB962C8B-B14F-4D97-AF65-F5344CB8AC3E}">
        <p14:creationId xmlns:p14="http://schemas.microsoft.com/office/powerpoint/2010/main" val="2532689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6B09E0-0BD7-A2A0-36E1-02766DAFDC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154F9451-7546-10FD-E574-1A029861B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73900279-1F26-5406-C1A0-B4AF24D3D5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D75D8259-8FBE-5064-4077-5B448A47B0B8}"/>
              </a:ext>
            </a:extLst>
          </p:cNvPr>
          <p:cNvSpPr>
            <a:spLocks noGrp="1"/>
          </p:cNvSpPr>
          <p:nvPr>
            <p:ph type="dt" sz="half" idx="10"/>
          </p:nvPr>
        </p:nvSpPr>
        <p:spPr/>
        <p:txBody>
          <a:bodyPr/>
          <a:lstStyle/>
          <a:p>
            <a:fld id="{36E1B7E0-36C9-4D24-A17C-FF21E4AF7D9F}" type="datetimeFigureOut">
              <a:rPr lang="en-IN" smtClean="0"/>
              <a:t>03-01-2026</a:t>
            </a:fld>
            <a:endParaRPr lang="en-IN"/>
          </a:p>
        </p:txBody>
      </p:sp>
      <p:sp>
        <p:nvSpPr>
          <p:cNvPr id="6" name="Footer Placeholder 5">
            <a:extLst>
              <a:ext uri="{FF2B5EF4-FFF2-40B4-BE49-F238E27FC236}">
                <a16:creationId xmlns="" xmlns:a16="http://schemas.microsoft.com/office/drawing/2014/main" id="{90BCD6EB-8754-6052-6063-459A25055C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C4F3774E-BD01-0A38-FA17-4D28C2C77E09}"/>
              </a:ext>
            </a:extLst>
          </p:cNvPr>
          <p:cNvSpPr>
            <a:spLocks noGrp="1"/>
          </p:cNvSpPr>
          <p:nvPr>
            <p:ph type="sldNum" sz="quarter" idx="12"/>
          </p:nvPr>
        </p:nvSpPr>
        <p:spPr/>
        <p:txBody>
          <a:bodyPr/>
          <a:lstStyle/>
          <a:p>
            <a:fld id="{D4825885-EDD2-4F33-B35C-723B60815E56}" type="slidenum">
              <a:rPr lang="en-IN" smtClean="0"/>
              <a:t>‹#›</a:t>
            </a:fld>
            <a:endParaRPr lang="en-IN"/>
          </a:p>
        </p:txBody>
      </p:sp>
    </p:spTree>
    <p:extLst>
      <p:ext uri="{BB962C8B-B14F-4D97-AF65-F5344CB8AC3E}">
        <p14:creationId xmlns:p14="http://schemas.microsoft.com/office/powerpoint/2010/main" val="364406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EA64951-7482-F7E6-6E2B-2F1CA8CF67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EBA4CEA0-7718-303D-8BC7-D1BB4A01EE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E4035824-0632-4D7A-265B-33B4DFE245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4909E46C-2129-420A-DD5C-B552F07663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D98D2F29-F092-7ECC-0EAE-E40A935F51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D9584996-C465-6634-36B7-E9CA665C309E}"/>
              </a:ext>
            </a:extLst>
          </p:cNvPr>
          <p:cNvSpPr>
            <a:spLocks noGrp="1"/>
          </p:cNvSpPr>
          <p:nvPr>
            <p:ph type="dt" sz="half" idx="10"/>
          </p:nvPr>
        </p:nvSpPr>
        <p:spPr/>
        <p:txBody>
          <a:bodyPr/>
          <a:lstStyle/>
          <a:p>
            <a:fld id="{36E1B7E0-36C9-4D24-A17C-FF21E4AF7D9F}" type="datetimeFigureOut">
              <a:rPr lang="en-IN" smtClean="0"/>
              <a:t>03-01-2026</a:t>
            </a:fld>
            <a:endParaRPr lang="en-IN"/>
          </a:p>
        </p:txBody>
      </p:sp>
      <p:sp>
        <p:nvSpPr>
          <p:cNvPr id="8" name="Footer Placeholder 7">
            <a:extLst>
              <a:ext uri="{FF2B5EF4-FFF2-40B4-BE49-F238E27FC236}">
                <a16:creationId xmlns="" xmlns:a16="http://schemas.microsoft.com/office/drawing/2014/main" id="{186ADC47-26F2-8C8C-53F9-62F49291186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D788BEF8-5DF8-9B70-1D9A-B49593308B88}"/>
              </a:ext>
            </a:extLst>
          </p:cNvPr>
          <p:cNvSpPr>
            <a:spLocks noGrp="1"/>
          </p:cNvSpPr>
          <p:nvPr>
            <p:ph type="sldNum" sz="quarter" idx="12"/>
          </p:nvPr>
        </p:nvSpPr>
        <p:spPr/>
        <p:txBody>
          <a:bodyPr/>
          <a:lstStyle/>
          <a:p>
            <a:fld id="{D4825885-EDD2-4F33-B35C-723B60815E56}" type="slidenum">
              <a:rPr lang="en-IN" smtClean="0"/>
              <a:t>‹#›</a:t>
            </a:fld>
            <a:endParaRPr lang="en-IN"/>
          </a:p>
        </p:txBody>
      </p:sp>
    </p:spTree>
    <p:extLst>
      <p:ext uri="{BB962C8B-B14F-4D97-AF65-F5344CB8AC3E}">
        <p14:creationId xmlns:p14="http://schemas.microsoft.com/office/powerpoint/2010/main" val="45030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586CD4A-B47B-58A9-1359-B427536DF1F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AE1F4D9D-74F5-D158-C26E-DE6AD4655330}"/>
              </a:ext>
            </a:extLst>
          </p:cNvPr>
          <p:cNvSpPr>
            <a:spLocks noGrp="1"/>
          </p:cNvSpPr>
          <p:nvPr>
            <p:ph type="dt" sz="half" idx="10"/>
          </p:nvPr>
        </p:nvSpPr>
        <p:spPr/>
        <p:txBody>
          <a:bodyPr/>
          <a:lstStyle/>
          <a:p>
            <a:fld id="{36E1B7E0-36C9-4D24-A17C-FF21E4AF7D9F}" type="datetimeFigureOut">
              <a:rPr lang="en-IN" smtClean="0"/>
              <a:t>03-01-2026</a:t>
            </a:fld>
            <a:endParaRPr lang="en-IN"/>
          </a:p>
        </p:txBody>
      </p:sp>
      <p:sp>
        <p:nvSpPr>
          <p:cNvPr id="4" name="Footer Placeholder 3">
            <a:extLst>
              <a:ext uri="{FF2B5EF4-FFF2-40B4-BE49-F238E27FC236}">
                <a16:creationId xmlns="" xmlns:a16="http://schemas.microsoft.com/office/drawing/2014/main" id="{ACF170B6-6F04-5532-D1E9-BC586D87C8A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0E8069A4-32F3-137C-A74C-ABDE873C789F}"/>
              </a:ext>
            </a:extLst>
          </p:cNvPr>
          <p:cNvSpPr>
            <a:spLocks noGrp="1"/>
          </p:cNvSpPr>
          <p:nvPr>
            <p:ph type="sldNum" sz="quarter" idx="12"/>
          </p:nvPr>
        </p:nvSpPr>
        <p:spPr/>
        <p:txBody>
          <a:bodyPr/>
          <a:lstStyle/>
          <a:p>
            <a:fld id="{D4825885-EDD2-4F33-B35C-723B60815E56}" type="slidenum">
              <a:rPr lang="en-IN" smtClean="0"/>
              <a:t>‹#›</a:t>
            </a:fld>
            <a:endParaRPr lang="en-IN"/>
          </a:p>
        </p:txBody>
      </p:sp>
    </p:spTree>
    <p:extLst>
      <p:ext uri="{BB962C8B-B14F-4D97-AF65-F5344CB8AC3E}">
        <p14:creationId xmlns:p14="http://schemas.microsoft.com/office/powerpoint/2010/main" val="1316466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B1A8EB7C-E15B-87AB-7EE0-ACED70944054}"/>
              </a:ext>
            </a:extLst>
          </p:cNvPr>
          <p:cNvSpPr>
            <a:spLocks noGrp="1"/>
          </p:cNvSpPr>
          <p:nvPr>
            <p:ph type="dt" sz="half" idx="10"/>
          </p:nvPr>
        </p:nvSpPr>
        <p:spPr/>
        <p:txBody>
          <a:bodyPr/>
          <a:lstStyle/>
          <a:p>
            <a:fld id="{36E1B7E0-36C9-4D24-A17C-FF21E4AF7D9F}" type="datetimeFigureOut">
              <a:rPr lang="en-IN" smtClean="0"/>
              <a:t>03-01-2026</a:t>
            </a:fld>
            <a:endParaRPr lang="en-IN"/>
          </a:p>
        </p:txBody>
      </p:sp>
      <p:sp>
        <p:nvSpPr>
          <p:cNvPr id="3" name="Footer Placeholder 2">
            <a:extLst>
              <a:ext uri="{FF2B5EF4-FFF2-40B4-BE49-F238E27FC236}">
                <a16:creationId xmlns="" xmlns:a16="http://schemas.microsoft.com/office/drawing/2014/main" id="{434604E4-8B15-81CD-3417-DCFA03A4952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BF333779-DCB8-0C69-C6F5-EAED9096FFE6}"/>
              </a:ext>
            </a:extLst>
          </p:cNvPr>
          <p:cNvSpPr>
            <a:spLocks noGrp="1"/>
          </p:cNvSpPr>
          <p:nvPr>
            <p:ph type="sldNum" sz="quarter" idx="12"/>
          </p:nvPr>
        </p:nvSpPr>
        <p:spPr/>
        <p:txBody>
          <a:bodyPr/>
          <a:lstStyle/>
          <a:p>
            <a:fld id="{D4825885-EDD2-4F33-B35C-723B60815E56}" type="slidenum">
              <a:rPr lang="en-IN" smtClean="0"/>
              <a:t>‹#›</a:t>
            </a:fld>
            <a:endParaRPr lang="en-IN"/>
          </a:p>
        </p:txBody>
      </p:sp>
    </p:spTree>
    <p:extLst>
      <p:ext uri="{BB962C8B-B14F-4D97-AF65-F5344CB8AC3E}">
        <p14:creationId xmlns:p14="http://schemas.microsoft.com/office/powerpoint/2010/main" val="3675841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D43829F-3FCD-48DE-6FF5-FB8F175386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050DE73C-CC81-5618-00BB-898B4386D9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4DA3062B-BF92-FC85-4AAD-D1ABE5FDC0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F5917266-BC11-EEC8-3F38-88D244F3CE47}"/>
              </a:ext>
            </a:extLst>
          </p:cNvPr>
          <p:cNvSpPr>
            <a:spLocks noGrp="1"/>
          </p:cNvSpPr>
          <p:nvPr>
            <p:ph type="dt" sz="half" idx="10"/>
          </p:nvPr>
        </p:nvSpPr>
        <p:spPr/>
        <p:txBody>
          <a:bodyPr/>
          <a:lstStyle/>
          <a:p>
            <a:fld id="{36E1B7E0-36C9-4D24-A17C-FF21E4AF7D9F}" type="datetimeFigureOut">
              <a:rPr lang="en-IN" smtClean="0"/>
              <a:t>03-01-2026</a:t>
            </a:fld>
            <a:endParaRPr lang="en-IN"/>
          </a:p>
        </p:txBody>
      </p:sp>
      <p:sp>
        <p:nvSpPr>
          <p:cNvPr id="6" name="Footer Placeholder 5">
            <a:extLst>
              <a:ext uri="{FF2B5EF4-FFF2-40B4-BE49-F238E27FC236}">
                <a16:creationId xmlns="" xmlns:a16="http://schemas.microsoft.com/office/drawing/2014/main" id="{17973345-BEE5-DDA6-410F-11CB0DAA88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8C6A95ED-B32D-F107-C73D-AFE9EC694836}"/>
              </a:ext>
            </a:extLst>
          </p:cNvPr>
          <p:cNvSpPr>
            <a:spLocks noGrp="1"/>
          </p:cNvSpPr>
          <p:nvPr>
            <p:ph type="sldNum" sz="quarter" idx="12"/>
          </p:nvPr>
        </p:nvSpPr>
        <p:spPr/>
        <p:txBody>
          <a:bodyPr/>
          <a:lstStyle/>
          <a:p>
            <a:fld id="{D4825885-EDD2-4F33-B35C-723B60815E56}" type="slidenum">
              <a:rPr lang="en-IN" smtClean="0"/>
              <a:t>‹#›</a:t>
            </a:fld>
            <a:endParaRPr lang="en-IN"/>
          </a:p>
        </p:txBody>
      </p:sp>
    </p:spTree>
    <p:extLst>
      <p:ext uri="{BB962C8B-B14F-4D97-AF65-F5344CB8AC3E}">
        <p14:creationId xmlns:p14="http://schemas.microsoft.com/office/powerpoint/2010/main" val="2921127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04A7301-7931-536C-B945-6F83FC7022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BD7D3A4A-B25E-76DC-472E-8A89F1A5F0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732F8921-852B-82BA-01B9-B2AF80DBB4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0A35661C-2A7E-1422-19D3-07F005AF58FB}"/>
              </a:ext>
            </a:extLst>
          </p:cNvPr>
          <p:cNvSpPr>
            <a:spLocks noGrp="1"/>
          </p:cNvSpPr>
          <p:nvPr>
            <p:ph type="dt" sz="half" idx="10"/>
          </p:nvPr>
        </p:nvSpPr>
        <p:spPr/>
        <p:txBody>
          <a:bodyPr/>
          <a:lstStyle/>
          <a:p>
            <a:fld id="{36E1B7E0-36C9-4D24-A17C-FF21E4AF7D9F}" type="datetimeFigureOut">
              <a:rPr lang="en-IN" smtClean="0"/>
              <a:t>03-01-2026</a:t>
            </a:fld>
            <a:endParaRPr lang="en-IN"/>
          </a:p>
        </p:txBody>
      </p:sp>
      <p:sp>
        <p:nvSpPr>
          <p:cNvPr id="6" name="Footer Placeholder 5">
            <a:extLst>
              <a:ext uri="{FF2B5EF4-FFF2-40B4-BE49-F238E27FC236}">
                <a16:creationId xmlns="" xmlns:a16="http://schemas.microsoft.com/office/drawing/2014/main" id="{912F2384-DCA2-BA0A-79E7-481A413C98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C0289DD5-0338-4580-8E29-02B2E30F06ED}"/>
              </a:ext>
            </a:extLst>
          </p:cNvPr>
          <p:cNvSpPr>
            <a:spLocks noGrp="1"/>
          </p:cNvSpPr>
          <p:nvPr>
            <p:ph type="sldNum" sz="quarter" idx="12"/>
          </p:nvPr>
        </p:nvSpPr>
        <p:spPr/>
        <p:txBody>
          <a:bodyPr/>
          <a:lstStyle/>
          <a:p>
            <a:fld id="{D4825885-EDD2-4F33-B35C-723B60815E56}" type="slidenum">
              <a:rPr lang="en-IN" smtClean="0"/>
              <a:t>‹#›</a:t>
            </a:fld>
            <a:endParaRPr lang="en-IN"/>
          </a:p>
        </p:txBody>
      </p:sp>
    </p:spTree>
    <p:extLst>
      <p:ext uri="{BB962C8B-B14F-4D97-AF65-F5344CB8AC3E}">
        <p14:creationId xmlns:p14="http://schemas.microsoft.com/office/powerpoint/2010/main" val="224616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2A64C9-19B9-F2C6-8627-1E6CC3F9211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FCD7BC10-D660-C023-25A3-71DC891AF1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C0B4EF27-6904-BBCF-2C4F-9936F11FBE04}"/>
              </a:ext>
            </a:extLst>
          </p:cNvPr>
          <p:cNvSpPr>
            <a:spLocks noGrp="1"/>
          </p:cNvSpPr>
          <p:nvPr>
            <p:ph type="dt" sz="half" idx="10"/>
          </p:nvPr>
        </p:nvSpPr>
        <p:spPr/>
        <p:txBody>
          <a:bodyPr/>
          <a:lstStyle/>
          <a:p>
            <a:fld id="{36E1B7E0-36C9-4D24-A17C-FF21E4AF7D9F}" type="datetimeFigureOut">
              <a:rPr lang="en-IN" smtClean="0"/>
              <a:t>03-01-2026</a:t>
            </a:fld>
            <a:endParaRPr lang="en-IN"/>
          </a:p>
        </p:txBody>
      </p:sp>
      <p:sp>
        <p:nvSpPr>
          <p:cNvPr id="5" name="Footer Placeholder 4">
            <a:extLst>
              <a:ext uri="{FF2B5EF4-FFF2-40B4-BE49-F238E27FC236}">
                <a16:creationId xmlns="" xmlns:a16="http://schemas.microsoft.com/office/drawing/2014/main" id="{481A18E5-7FDE-7365-5CD6-D105F0822D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E37FA445-49C4-CF5D-EB76-8799BEF72A8C}"/>
              </a:ext>
            </a:extLst>
          </p:cNvPr>
          <p:cNvSpPr>
            <a:spLocks noGrp="1"/>
          </p:cNvSpPr>
          <p:nvPr>
            <p:ph type="sldNum" sz="quarter" idx="12"/>
          </p:nvPr>
        </p:nvSpPr>
        <p:spPr/>
        <p:txBody>
          <a:bodyPr/>
          <a:lstStyle/>
          <a:p>
            <a:fld id="{D4825885-EDD2-4F33-B35C-723B60815E56}" type="slidenum">
              <a:rPr lang="en-IN" smtClean="0"/>
              <a:t>‹#›</a:t>
            </a:fld>
            <a:endParaRPr lang="en-IN"/>
          </a:p>
        </p:txBody>
      </p:sp>
    </p:spTree>
    <p:extLst>
      <p:ext uri="{BB962C8B-B14F-4D97-AF65-F5344CB8AC3E}">
        <p14:creationId xmlns:p14="http://schemas.microsoft.com/office/powerpoint/2010/main" val="3140262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EC7A8B0C-3821-96E0-2AB8-5973D7574CE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5CE4F90F-AD5D-BD83-A4A4-1C0797E0FC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DC96F8AB-5BBC-8936-FD53-7BD079C514CE}"/>
              </a:ext>
            </a:extLst>
          </p:cNvPr>
          <p:cNvSpPr>
            <a:spLocks noGrp="1"/>
          </p:cNvSpPr>
          <p:nvPr>
            <p:ph type="dt" sz="half" idx="10"/>
          </p:nvPr>
        </p:nvSpPr>
        <p:spPr/>
        <p:txBody>
          <a:bodyPr/>
          <a:lstStyle/>
          <a:p>
            <a:fld id="{36E1B7E0-36C9-4D24-A17C-FF21E4AF7D9F}" type="datetimeFigureOut">
              <a:rPr lang="en-IN" smtClean="0"/>
              <a:t>03-01-2026</a:t>
            </a:fld>
            <a:endParaRPr lang="en-IN"/>
          </a:p>
        </p:txBody>
      </p:sp>
      <p:sp>
        <p:nvSpPr>
          <p:cNvPr id="5" name="Footer Placeholder 4">
            <a:extLst>
              <a:ext uri="{FF2B5EF4-FFF2-40B4-BE49-F238E27FC236}">
                <a16:creationId xmlns="" xmlns:a16="http://schemas.microsoft.com/office/drawing/2014/main" id="{CFAB3368-E129-B03C-29D3-A3FA227250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BDE0C01-47A6-77D3-2871-B3F941E520B1}"/>
              </a:ext>
            </a:extLst>
          </p:cNvPr>
          <p:cNvSpPr>
            <a:spLocks noGrp="1"/>
          </p:cNvSpPr>
          <p:nvPr>
            <p:ph type="sldNum" sz="quarter" idx="12"/>
          </p:nvPr>
        </p:nvSpPr>
        <p:spPr/>
        <p:txBody>
          <a:bodyPr/>
          <a:lstStyle/>
          <a:p>
            <a:fld id="{D4825885-EDD2-4F33-B35C-723B60815E56}" type="slidenum">
              <a:rPr lang="en-IN" smtClean="0"/>
              <a:t>‹#›</a:t>
            </a:fld>
            <a:endParaRPr lang="en-IN"/>
          </a:p>
        </p:txBody>
      </p:sp>
    </p:spTree>
    <p:extLst>
      <p:ext uri="{BB962C8B-B14F-4D97-AF65-F5344CB8AC3E}">
        <p14:creationId xmlns:p14="http://schemas.microsoft.com/office/powerpoint/2010/main" val="2681463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05B07C25-07E9-0D58-9D23-594DA3F448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DAD75CAA-228B-2048-E1B7-AC0ADFD5B2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A271B4A3-9DCD-E04E-D0DC-232A7E656E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E1B7E0-36C9-4D24-A17C-FF21E4AF7D9F}" type="datetimeFigureOut">
              <a:rPr lang="en-IN" smtClean="0"/>
              <a:t>03-01-2026</a:t>
            </a:fld>
            <a:endParaRPr lang="en-IN"/>
          </a:p>
        </p:txBody>
      </p:sp>
      <p:sp>
        <p:nvSpPr>
          <p:cNvPr id="5" name="Footer Placeholder 4">
            <a:extLst>
              <a:ext uri="{FF2B5EF4-FFF2-40B4-BE49-F238E27FC236}">
                <a16:creationId xmlns="" xmlns:a16="http://schemas.microsoft.com/office/drawing/2014/main" id="{7FA5467D-3B01-1D42-2DD0-407B6AE596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04D2AA47-B27F-72BF-5B04-40D16A5024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825885-EDD2-4F33-B35C-723B60815E56}" type="slidenum">
              <a:rPr lang="en-IN" smtClean="0"/>
              <a:t>‹#›</a:t>
            </a:fld>
            <a:endParaRPr lang="en-IN"/>
          </a:p>
        </p:txBody>
      </p:sp>
    </p:spTree>
    <p:extLst>
      <p:ext uri="{BB962C8B-B14F-4D97-AF65-F5344CB8AC3E}">
        <p14:creationId xmlns:p14="http://schemas.microsoft.com/office/powerpoint/2010/main" val="17501901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FE645AF-E3D3-CCFF-E7DF-87E3871AA46A}"/>
              </a:ext>
            </a:extLst>
          </p:cNvPr>
          <p:cNvSpPr>
            <a:spLocks noGrp="1"/>
          </p:cNvSpPr>
          <p:nvPr>
            <p:ph type="ctrTitle"/>
          </p:nvPr>
        </p:nvSpPr>
        <p:spPr>
          <a:xfrm>
            <a:off x="1524000" y="1122363"/>
            <a:ext cx="9144000" cy="853394"/>
          </a:xfrm>
        </p:spPr>
        <p:txBody>
          <a:bodyPr>
            <a:normAutofit/>
          </a:bodyPr>
          <a:lstStyle/>
          <a:p>
            <a:r>
              <a:rPr lang="en-IN" sz="2800" b="1" dirty="0" smtClean="0"/>
              <a:t>Colour </a:t>
            </a:r>
            <a:r>
              <a:rPr lang="en-IN" sz="2800" b="1" dirty="0"/>
              <a:t>Fundamentals</a:t>
            </a:r>
          </a:p>
        </p:txBody>
      </p:sp>
      <p:sp>
        <p:nvSpPr>
          <p:cNvPr id="3" name="Subtitle 2">
            <a:extLst>
              <a:ext uri="{FF2B5EF4-FFF2-40B4-BE49-F238E27FC236}">
                <a16:creationId xmlns="" xmlns:a16="http://schemas.microsoft.com/office/drawing/2014/main" id="{B32D4CE0-7559-1A1C-0B0F-31CDAC298427}"/>
              </a:ext>
            </a:extLst>
          </p:cNvPr>
          <p:cNvSpPr>
            <a:spLocks noGrp="1"/>
          </p:cNvSpPr>
          <p:nvPr>
            <p:ph type="subTitle" idx="1"/>
          </p:nvPr>
        </p:nvSpPr>
        <p:spPr>
          <a:xfrm>
            <a:off x="1540328" y="2237014"/>
            <a:ext cx="9144000" cy="4328747"/>
          </a:xfrm>
        </p:spPr>
        <p:txBody>
          <a:bodyPr>
            <a:normAutofit/>
          </a:bodyPr>
          <a:lstStyle/>
          <a:p>
            <a:pPr algn="l"/>
            <a:r>
              <a:rPr lang="en-IN" sz="1800" b="1" dirty="0"/>
              <a:t>Why do we use colour in image processing?</a:t>
            </a:r>
          </a:p>
          <a:p>
            <a:pPr marL="457200" indent="-457200" algn="l">
              <a:buFont typeface="+mj-lt"/>
              <a:buAutoNum type="arabicPeriod"/>
            </a:pPr>
            <a:r>
              <a:rPr lang="en-US" sz="1800" dirty="0"/>
              <a:t>Color is an important feature that often facilitates recognition and selection of an object in an image</a:t>
            </a:r>
            <a:r>
              <a:rPr lang="en-US" sz="1800" dirty="0" smtClean="0"/>
              <a:t>. </a:t>
            </a:r>
            <a:r>
              <a:rPr lang="en-US" sz="1800" dirty="0" err="1" smtClean="0"/>
              <a:t>Eg</a:t>
            </a:r>
            <a:r>
              <a:rPr lang="en-US" sz="1800" dirty="0"/>
              <a:t>: face detection using skin </a:t>
            </a:r>
            <a:r>
              <a:rPr lang="en-US" sz="1800" dirty="0" err="1"/>
              <a:t>colours</a:t>
            </a:r>
            <a:r>
              <a:rPr lang="en-US" sz="1800" dirty="0"/>
              <a:t>.</a:t>
            </a:r>
          </a:p>
          <a:p>
            <a:pPr marL="457200" indent="-457200" algn="l">
              <a:buFont typeface="+mj-lt"/>
              <a:buAutoNum type="arabicPeriod"/>
            </a:pPr>
            <a:r>
              <a:rPr lang="en-US" sz="1800" dirty="0"/>
              <a:t>A person is able to distinguish between thousands of different shades and intensities of color and only about two dozen shades of gray.</a:t>
            </a:r>
          </a:p>
          <a:p>
            <a:pPr marL="457200" indent="-457200" algn="l">
              <a:buFont typeface="+mj-lt"/>
              <a:buAutoNum type="arabicPeriod"/>
            </a:pPr>
            <a:endParaRPr lang="en-IN" b="1" dirty="0">
              <a:solidFill>
                <a:schemeClr val="accent1"/>
              </a:solidFill>
            </a:endParaRPr>
          </a:p>
        </p:txBody>
      </p:sp>
      <p:pic>
        <p:nvPicPr>
          <p:cNvPr id="4" name="Picture 3">
            <a:extLst>
              <a:ext uri="{FF2B5EF4-FFF2-40B4-BE49-F238E27FC236}">
                <a16:creationId xmlns="" xmlns:a16="http://schemas.microsoft.com/office/drawing/2014/main" id="{E8D3B293-8BB9-F85D-E7A4-A6EA78608604}"/>
              </a:ext>
            </a:extLst>
          </p:cNvPr>
          <p:cNvPicPr>
            <a:picLocks noChangeAspect="1"/>
          </p:cNvPicPr>
          <p:nvPr/>
        </p:nvPicPr>
        <p:blipFill>
          <a:blip r:embed="rId2"/>
          <a:stretch>
            <a:fillRect/>
          </a:stretch>
        </p:blipFill>
        <p:spPr>
          <a:xfrm>
            <a:off x="2469577" y="4068850"/>
            <a:ext cx="2981325" cy="1533525"/>
          </a:xfrm>
          <a:prstGeom prst="rect">
            <a:avLst/>
          </a:prstGeom>
        </p:spPr>
      </p:pic>
      <p:pic>
        <p:nvPicPr>
          <p:cNvPr id="5" name="Picture 4">
            <a:extLst>
              <a:ext uri="{FF2B5EF4-FFF2-40B4-BE49-F238E27FC236}">
                <a16:creationId xmlns="" xmlns:a16="http://schemas.microsoft.com/office/drawing/2014/main" id="{8840D720-9D79-3B36-5554-AA805BEE819F}"/>
              </a:ext>
            </a:extLst>
          </p:cNvPr>
          <p:cNvPicPr>
            <a:picLocks noChangeAspect="1"/>
          </p:cNvPicPr>
          <p:nvPr/>
        </p:nvPicPr>
        <p:blipFill>
          <a:blip r:embed="rId3"/>
          <a:stretch>
            <a:fillRect/>
          </a:stretch>
        </p:blipFill>
        <p:spPr>
          <a:xfrm>
            <a:off x="6752769" y="4087900"/>
            <a:ext cx="3019425" cy="1514475"/>
          </a:xfrm>
          <a:prstGeom prst="rect">
            <a:avLst/>
          </a:prstGeom>
        </p:spPr>
      </p:pic>
    </p:spTree>
    <p:extLst>
      <p:ext uri="{BB962C8B-B14F-4D97-AF65-F5344CB8AC3E}">
        <p14:creationId xmlns:p14="http://schemas.microsoft.com/office/powerpoint/2010/main" val="4279136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3A681E-7CE7-7B54-38F7-0E14FCA93A1B}"/>
              </a:ext>
            </a:extLst>
          </p:cNvPr>
          <p:cNvSpPr>
            <a:spLocks noGrp="1"/>
          </p:cNvSpPr>
          <p:nvPr>
            <p:ph type="title"/>
          </p:nvPr>
        </p:nvSpPr>
        <p:spPr/>
        <p:txBody>
          <a:bodyPr>
            <a:normAutofit/>
          </a:bodyPr>
          <a:lstStyle/>
          <a:p>
            <a:pPr algn="ctr"/>
            <a:r>
              <a:rPr lang="en-US" sz="2800" b="1" dirty="0" smtClean="0"/>
              <a:t>Color Fundamentals</a:t>
            </a:r>
            <a:endParaRPr lang="en-IN" sz="2800" b="1" dirty="0"/>
          </a:p>
        </p:txBody>
      </p:sp>
      <p:sp>
        <p:nvSpPr>
          <p:cNvPr id="3" name="Content Placeholder 2">
            <a:extLst>
              <a:ext uri="{FF2B5EF4-FFF2-40B4-BE49-F238E27FC236}">
                <a16:creationId xmlns="" xmlns:a16="http://schemas.microsoft.com/office/drawing/2014/main" id="{D56826AB-B049-5321-94F6-CD8F09B228D4}"/>
              </a:ext>
            </a:extLst>
          </p:cNvPr>
          <p:cNvSpPr>
            <a:spLocks noGrp="1"/>
          </p:cNvSpPr>
          <p:nvPr>
            <p:ph idx="1"/>
          </p:nvPr>
        </p:nvSpPr>
        <p:spPr/>
        <p:txBody>
          <a:bodyPr>
            <a:normAutofit/>
          </a:bodyPr>
          <a:lstStyle/>
          <a:p>
            <a:pPr marL="0" indent="0">
              <a:buNone/>
            </a:pPr>
            <a:r>
              <a:rPr lang="en-IN" sz="1800" b="1" dirty="0"/>
              <a:t>Categories of </a:t>
            </a:r>
            <a:r>
              <a:rPr lang="en-IN" sz="1800" b="1" dirty="0" err="1"/>
              <a:t>Color</a:t>
            </a:r>
            <a:r>
              <a:rPr lang="en-IN" sz="1800" b="1" dirty="0"/>
              <a:t> image processing</a:t>
            </a:r>
          </a:p>
          <a:p>
            <a:r>
              <a:rPr lang="en-IN" sz="1800" dirty="0"/>
              <a:t>Full </a:t>
            </a:r>
            <a:r>
              <a:rPr lang="en-IN" sz="1800" dirty="0" err="1"/>
              <a:t>color</a:t>
            </a:r>
            <a:r>
              <a:rPr lang="en-IN" sz="1800" dirty="0"/>
              <a:t> image processing </a:t>
            </a:r>
          </a:p>
          <a:p>
            <a:pPr marL="457200" lvl="1" indent="0">
              <a:buNone/>
            </a:pPr>
            <a:r>
              <a:rPr lang="en-IN" sz="1800" dirty="0"/>
              <a:t>Images are acquired from full-</a:t>
            </a:r>
            <a:r>
              <a:rPr lang="en-IN" sz="1800" dirty="0" err="1"/>
              <a:t>color</a:t>
            </a:r>
            <a:r>
              <a:rPr lang="en-IN" sz="1800" dirty="0"/>
              <a:t> sensors or </a:t>
            </a:r>
            <a:r>
              <a:rPr lang="en-IN" sz="1800" dirty="0" err="1"/>
              <a:t>equipments</a:t>
            </a:r>
            <a:r>
              <a:rPr lang="en-IN" sz="1800" dirty="0"/>
              <a:t> </a:t>
            </a:r>
          </a:p>
          <a:p>
            <a:r>
              <a:rPr lang="en-IN" sz="1800" dirty="0"/>
              <a:t>Pseudo </a:t>
            </a:r>
            <a:r>
              <a:rPr lang="en-IN" sz="1800" dirty="0" err="1"/>
              <a:t>color</a:t>
            </a:r>
            <a:r>
              <a:rPr lang="en-IN" sz="1800" dirty="0"/>
              <a:t> image processing </a:t>
            </a:r>
          </a:p>
          <a:p>
            <a:pPr marL="457200" lvl="1" indent="0">
              <a:buNone/>
            </a:pPr>
            <a:r>
              <a:rPr lang="en-US" sz="1800" dirty="0"/>
              <a:t>Assigning a shade of color to a particular monochrome intensity or range of intensities.</a:t>
            </a:r>
          </a:p>
          <a:p>
            <a:pPr marL="457200" lvl="1" indent="0">
              <a:buNone/>
            </a:pPr>
            <a:r>
              <a:rPr lang="en-US" sz="1800" dirty="0"/>
              <a:t> </a:t>
            </a:r>
            <a:endParaRPr lang="en-IN" sz="1800" dirty="0"/>
          </a:p>
        </p:txBody>
      </p:sp>
    </p:spTree>
    <p:extLst>
      <p:ext uri="{BB962C8B-B14F-4D97-AF65-F5344CB8AC3E}">
        <p14:creationId xmlns:p14="http://schemas.microsoft.com/office/powerpoint/2010/main" val="4170031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9428F1-2CCA-ED9E-E657-BB9A1057561C}"/>
              </a:ext>
            </a:extLst>
          </p:cNvPr>
          <p:cNvSpPr>
            <a:spLocks noGrp="1"/>
          </p:cNvSpPr>
          <p:nvPr>
            <p:ph type="title"/>
          </p:nvPr>
        </p:nvSpPr>
        <p:spPr/>
        <p:txBody>
          <a:bodyPr>
            <a:normAutofit/>
          </a:bodyPr>
          <a:lstStyle/>
          <a:p>
            <a:pPr algn="ctr"/>
            <a:r>
              <a:rPr lang="en-US" sz="2800" b="1" dirty="0"/>
              <a:t>Color Fundamentals</a:t>
            </a:r>
            <a:endParaRPr lang="en-IN" sz="2800" b="1" dirty="0"/>
          </a:p>
        </p:txBody>
      </p:sp>
      <p:pic>
        <p:nvPicPr>
          <p:cNvPr id="5" name="Content Placeholder 4">
            <a:extLst>
              <a:ext uri="{FF2B5EF4-FFF2-40B4-BE49-F238E27FC236}">
                <a16:creationId xmlns="" xmlns:a16="http://schemas.microsoft.com/office/drawing/2014/main" id="{C23127BF-59D6-86E1-BBFA-48AE8972A2B9}"/>
              </a:ext>
            </a:extLst>
          </p:cNvPr>
          <p:cNvPicPr>
            <a:picLocks noGrp="1" noChangeAspect="1"/>
          </p:cNvPicPr>
          <p:nvPr>
            <p:ph idx="1"/>
          </p:nvPr>
        </p:nvPicPr>
        <p:blipFill>
          <a:blip r:embed="rId2"/>
          <a:stretch>
            <a:fillRect/>
          </a:stretch>
        </p:blipFill>
        <p:spPr>
          <a:xfrm>
            <a:off x="2362291" y="1825625"/>
            <a:ext cx="7467417" cy="4351338"/>
          </a:xfrm>
          <a:prstGeom prst="rect">
            <a:avLst/>
          </a:prstGeom>
        </p:spPr>
      </p:pic>
    </p:spTree>
    <p:extLst>
      <p:ext uri="{BB962C8B-B14F-4D97-AF65-F5344CB8AC3E}">
        <p14:creationId xmlns:p14="http://schemas.microsoft.com/office/powerpoint/2010/main" val="3254810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900A1A0-9151-8676-0404-2591F7189580}"/>
              </a:ext>
            </a:extLst>
          </p:cNvPr>
          <p:cNvSpPr>
            <a:spLocks noGrp="1"/>
          </p:cNvSpPr>
          <p:nvPr>
            <p:ph type="title"/>
          </p:nvPr>
        </p:nvSpPr>
        <p:spPr/>
        <p:txBody>
          <a:bodyPr/>
          <a:lstStyle/>
          <a:p>
            <a:r>
              <a:rPr lang="en-US" dirty="0"/>
              <a:t>Color Fundamentals</a:t>
            </a:r>
            <a:endParaRPr lang="en-IN" dirty="0"/>
          </a:p>
        </p:txBody>
      </p:sp>
      <p:pic>
        <p:nvPicPr>
          <p:cNvPr id="9" name="Content Placeholder 8">
            <a:extLst>
              <a:ext uri="{FF2B5EF4-FFF2-40B4-BE49-F238E27FC236}">
                <a16:creationId xmlns="" xmlns:a16="http://schemas.microsoft.com/office/drawing/2014/main" id="{8CFCF18D-9936-07EE-5D05-F2E28B550959}"/>
              </a:ext>
            </a:extLst>
          </p:cNvPr>
          <p:cNvPicPr>
            <a:picLocks noGrp="1" noChangeAspect="1"/>
          </p:cNvPicPr>
          <p:nvPr>
            <p:ph idx="1"/>
          </p:nvPr>
        </p:nvPicPr>
        <p:blipFill>
          <a:blip r:embed="rId2"/>
          <a:stretch>
            <a:fillRect/>
          </a:stretch>
        </p:blipFill>
        <p:spPr>
          <a:xfrm>
            <a:off x="2343150" y="2220119"/>
            <a:ext cx="7505700" cy="3562350"/>
          </a:xfrm>
          <a:prstGeom prst="rect">
            <a:avLst/>
          </a:prstGeom>
        </p:spPr>
      </p:pic>
    </p:spTree>
    <p:extLst>
      <p:ext uri="{BB962C8B-B14F-4D97-AF65-F5344CB8AC3E}">
        <p14:creationId xmlns:p14="http://schemas.microsoft.com/office/powerpoint/2010/main" val="1502268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E336439-E083-3C1D-9A69-A1D6B64A8DDF}"/>
              </a:ext>
            </a:extLst>
          </p:cNvPr>
          <p:cNvSpPr>
            <a:spLocks noGrp="1"/>
          </p:cNvSpPr>
          <p:nvPr>
            <p:ph type="title"/>
          </p:nvPr>
        </p:nvSpPr>
        <p:spPr/>
        <p:txBody>
          <a:bodyPr/>
          <a:lstStyle/>
          <a:p>
            <a:endParaRPr lang="en-IN" dirty="0"/>
          </a:p>
        </p:txBody>
      </p:sp>
      <p:sp>
        <p:nvSpPr>
          <p:cNvPr id="7" name="Content Placeholder 6">
            <a:extLst>
              <a:ext uri="{FF2B5EF4-FFF2-40B4-BE49-F238E27FC236}">
                <a16:creationId xmlns="" xmlns:a16="http://schemas.microsoft.com/office/drawing/2014/main" id="{45F3BD23-CF73-2405-27DB-E24EFEAB28BD}"/>
              </a:ext>
            </a:extLst>
          </p:cNvPr>
          <p:cNvSpPr>
            <a:spLocks noGrp="1"/>
          </p:cNvSpPr>
          <p:nvPr>
            <p:ph idx="1"/>
          </p:nvPr>
        </p:nvSpPr>
        <p:spPr/>
        <p:txBody>
          <a:bodyPr>
            <a:normAutofit fontScale="92500" lnSpcReduction="20000"/>
          </a:bodyPr>
          <a:lstStyle/>
          <a:p>
            <a:pPr marL="0" indent="0">
              <a:buNone/>
            </a:pPr>
            <a:r>
              <a:rPr lang="en-IN" sz="2400" dirty="0"/>
              <a:t>Visible light wavelength is from around </a:t>
            </a:r>
            <a:r>
              <a:rPr lang="en-IN" sz="2400" dirty="0" smtClean="0"/>
              <a:t>400nm  </a:t>
            </a:r>
            <a:r>
              <a:rPr lang="en-IN" sz="2400" dirty="0"/>
              <a:t>to 700nm.</a:t>
            </a:r>
          </a:p>
          <a:p>
            <a:r>
              <a:rPr lang="en-IN" sz="2400" dirty="0"/>
              <a:t>For achromatic(monochrome) light source, there is only one attribute to describe the quality </a:t>
            </a:r>
            <a:r>
              <a:rPr lang="en-IN" sz="2400" dirty="0" err="1"/>
              <a:t>ie</a:t>
            </a:r>
            <a:r>
              <a:rPr lang="en-IN" sz="2400" dirty="0"/>
              <a:t> intensity</a:t>
            </a:r>
          </a:p>
          <a:p>
            <a:endParaRPr lang="en-IN" sz="2400" dirty="0"/>
          </a:p>
          <a:p>
            <a:r>
              <a:rPr lang="en-US" sz="2400" dirty="0"/>
              <a:t>For a chromatic light source there are three basic attributes to describe the quality: </a:t>
            </a:r>
          </a:p>
          <a:p>
            <a:pPr marL="914400" lvl="1" indent="-457200">
              <a:buFont typeface="+mj-lt"/>
              <a:buAutoNum type="arabicPeriod"/>
            </a:pPr>
            <a:r>
              <a:rPr lang="en-US" b="1" dirty="0"/>
              <a:t>Radiance</a:t>
            </a:r>
            <a:r>
              <a:rPr lang="en-US" dirty="0"/>
              <a:t> – total amount of energy flow from a light source(Watts)</a:t>
            </a:r>
          </a:p>
          <a:p>
            <a:pPr marL="914400" lvl="1" indent="-457200">
              <a:buFont typeface="+mj-lt"/>
              <a:buAutoNum type="arabicPeriod"/>
            </a:pPr>
            <a:r>
              <a:rPr lang="en-US" b="1" dirty="0"/>
              <a:t>Luminance</a:t>
            </a:r>
            <a:r>
              <a:rPr lang="en-US" dirty="0"/>
              <a:t> – amount of energy received by an observer</a:t>
            </a:r>
          </a:p>
          <a:p>
            <a:pPr marL="914400" lvl="1" indent="-457200">
              <a:buFont typeface="+mj-lt"/>
              <a:buAutoNum type="arabicPeriod"/>
            </a:pPr>
            <a:r>
              <a:rPr lang="en-US" b="1" dirty="0"/>
              <a:t>Brightness</a:t>
            </a:r>
            <a:r>
              <a:rPr lang="en-US" dirty="0"/>
              <a:t> – </a:t>
            </a:r>
            <a:r>
              <a:rPr lang="en-US" dirty="0" smtClean="0"/>
              <a:t>intensity</a:t>
            </a:r>
          </a:p>
          <a:p>
            <a:pPr marL="457200" lvl="1" indent="0">
              <a:buNone/>
            </a:pPr>
            <a:endParaRPr lang="en-US" dirty="0"/>
          </a:p>
          <a:p>
            <a:r>
              <a:rPr lang="en-US" sz="2000" dirty="0"/>
              <a:t>The Three important quantities to describe the color are :</a:t>
            </a:r>
          </a:p>
          <a:p>
            <a:pPr marL="800100" lvl="2" indent="-342900">
              <a:spcBef>
                <a:spcPts val="1000"/>
              </a:spcBef>
              <a:buFont typeface="+mj-lt"/>
              <a:buAutoNum type="arabicPeriod"/>
            </a:pPr>
            <a:r>
              <a:rPr lang="en-IN" b="1" dirty="0"/>
              <a:t> Hue</a:t>
            </a:r>
            <a:r>
              <a:rPr lang="en-IN" dirty="0"/>
              <a:t>  - the actual </a:t>
            </a:r>
            <a:r>
              <a:rPr lang="en-IN" dirty="0" err="1"/>
              <a:t>color</a:t>
            </a:r>
            <a:r>
              <a:rPr lang="en-IN" dirty="0"/>
              <a:t> shade </a:t>
            </a:r>
            <a:r>
              <a:rPr lang="en-IN" dirty="0" err="1"/>
              <a:t>i.e</a:t>
            </a:r>
            <a:r>
              <a:rPr lang="en-IN" dirty="0"/>
              <a:t> the predominant spectral </a:t>
            </a:r>
            <a:r>
              <a:rPr lang="en-IN" dirty="0" err="1"/>
              <a:t>color</a:t>
            </a:r>
            <a:endParaRPr lang="en-IN" dirty="0"/>
          </a:p>
          <a:p>
            <a:pPr marL="800100" lvl="2" indent="-342900">
              <a:spcBef>
                <a:spcPts val="1000"/>
              </a:spcBef>
              <a:buFont typeface="+mj-lt"/>
              <a:buAutoNum type="arabicPeriod"/>
            </a:pPr>
            <a:r>
              <a:rPr lang="en-IN" b="1" dirty="0"/>
              <a:t> Saturation</a:t>
            </a:r>
            <a:r>
              <a:rPr lang="en-IN" dirty="0"/>
              <a:t>  - intensity/purity </a:t>
            </a:r>
            <a:r>
              <a:rPr lang="en-IN" dirty="0" err="1"/>
              <a:t>i.e</a:t>
            </a:r>
            <a:r>
              <a:rPr lang="en-IN" dirty="0"/>
              <a:t> how less the white light is mixed or how much it is diluted.</a:t>
            </a:r>
          </a:p>
          <a:p>
            <a:pPr marL="800100" lvl="2" indent="-342900">
              <a:spcBef>
                <a:spcPts val="1000"/>
              </a:spcBef>
              <a:buFont typeface="+mj-lt"/>
              <a:buAutoNum type="arabicPeriod"/>
            </a:pPr>
            <a:r>
              <a:rPr lang="en-IN" b="1" dirty="0" smtClean="0"/>
              <a:t> Value/Brightness/Intensity</a:t>
            </a:r>
            <a:r>
              <a:rPr lang="en-IN" dirty="0"/>
              <a:t>  - lightness/darkness</a:t>
            </a:r>
          </a:p>
          <a:p>
            <a:pPr marL="457200" lvl="1" indent="0">
              <a:buNone/>
            </a:pPr>
            <a:endParaRPr lang="en-US" dirty="0"/>
          </a:p>
          <a:p>
            <a:pPr marL="457200" lvl="1" indent="0">
              <a:buNone/>
            </a:pPr>
            <a:endParaRPr lang="en-IN" dirty="0"/>
          </a:p>
          <a:p>
            <a:pPr marL="0" indent="0">
              <a:buNone/>
            </a:pPr>
            <a:endParaRPr lang="en-IN" dirty="0"/>
          </a:p>
        </p:txBody>
      </p:sp>
    </p:spTree>
    <p:extLst>
      <p:ext uri="{BB962C8B-B14F-4D97-AF65-F5344CB8AC3E}">
        <p14:creationId xmlns:p14="http://schemas.microsoft.com/office/powerpoint/2010/main" val="4016399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Content Placeholder 3"/>
          <p:cNvSpPr>
            <a:spLocks noGrp="1"/>
          </p:cNvSpPr>
          <p:nvPr>
            <p:ph idx="1"/>
          </p:nvPr>
        </p:nvSpPr>
        <p:spPr/>
        <p:txBody>
          <a:bodyPr/>
          <a:lstStyle/>
          <a:p>
            <a:pPr marL="0" indent="0">
              <a:buNone/>
            </a:pPr>
            <a:r>
              <a:rPr lang="en-US" b="1" dirty="0" smtClean="0"/>
              <a:t>How human eyes sense light</a:t>
            </a:r>
          </a:p>
          <a:p>
            <a:pPr marL="0" indent="0">
              <a:buNone/>
            </a:pPr>
            <a:r>
              <a:rPr lang="en-US" sz="2000" dirty="0" smtClean="0"/>
              <a:t>Reflection of light – the </a:t>
            </a:r>
            <a:r>
              <a:rPr lang="en-US" sz="2000" dirty="0" err="1" smtClean="0"/>
              <a:t>colour</a:t>
            </a:r>
            <a:r>
              <a:rPr lang="en-US" sz="2000" dirty="0" smtClean="0"/>
              <a:t> that the human </a:t>
            </a:r>
            <a:r>
              <a:rPr lang="en-US" sz="2000" dirty="0" err="1" smtClean="0"/>
              <a:t>percieve</a:t>
            </a:r>
            <a:r>
              <a:rPr lang="en-US" sz="2000" dirty="0" smtClean="0"/>
              <a:t> in an object = light reflected from the object </a:t>
            </a:r>
            <a:endParaRPr lang="en-IN" sz="2000"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3667" y="2767920"/>
            <a:ext cx="4514850" cy="324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4234" y="3119664"/>
            <a:ext cx="2667000" cy="192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3007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65% </a:t>
            </a:r>
            <a:r>
              <a:rPr lang="en-US" dirty="0">
                <a:solidFill>
                  <a:srgbClr val="FF0000"/>
                </a:solidFill>
              </a:rPr>
              <a:t>Red Light</a:t>
            </a:r>
            <a:r>
              <a:rPr lang="en-US" dirty="0"/>
              <a:t>, 33% </a:t>
            </a:r>
            <a:r>
              <a:rPr lang="en-US" dirty="0">
                <a:solidFill>
                  <a:schemeClr val="accent6">
                    <a:lumMod val="75000"/>
                  </a:schemeClr>
                </a:solidFill>
              </a:rPr>
              <a:t>Green Light</a:t>
            </a:r>
            <a:r>
              <a:rPr lang="en-US" dirty="0"/>
              <a:t>, 2% </a:t>
            </a:r>
            <a:r>
              <a:rPr lang="en-US" dirty="0">
                <a:solidFill>
                  <a:schemeClr val="accent5">
                    <a:lumMod val="75000"/>
                  </a:schemeClr>
                </a:solidFill>
              </a:rPr>
              <a:t>Blue Light</a:t>
            </a:r>
            <a:endParaRPr lang="en-IN" dirty="0">
              <a:solidFill>
                <a:schemeClr val="accent5">
                  <a:lumMod val="75000"/>
                </a:schemeClr>
              </a:solidFill>
            </a:endParaRP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3963" y="2280040"/>
            <a:ext cx="6641873" cy="4333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4304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sz="2400" dirty="0"/>
              <a:t>Red, green, and blue cones (L, M, S types) in the eye absorb different wavelengths, peaking around 560-580nm (L-Red), 530nm (M-Green), and 420nm (S-Blue), but they overlap significantly, allowing the brain to interpret combined signals for all </a:t>
            </a:r>
            <a:r>
              <a:rPr lang="en-US" sz="2400" dirty="0" smtClean="0"/>
              <a:t>colors</a:t>
            </a:r>
          </a:p>
          <a:p>
            <a:r>
              <a:rPr lang="en-US" sz="2400" dirty="0" smtClean="0"/>
              <a:t>Their </a:t>
            </a:r>
            <a:r>
              <a:rPr lang="en-US" sz="2400" dirty="0"/>
              <a:t>absorption curves show sensitivity across the visible spectrum, with L-cones for longer (reds/yellows), M-cones for medium (greens/yellows), and S-cones for shorter (blues/violets) </a:t>
            </a:r>
            <a:r>
              <a:rPr lang="en-US" sz="2400" dirty="0" smtClean="0"/>
              <a:t>wavelengths</a:t>
            </a:r>
            <a:r>
              <a:rPr lang="en-US" sz="2400" dirty="0"/>
              <a:t>. </a:t>
            </a:r>
            <a:endParaRPr lang="en-IN" sz="2400" dirty="0"/>
          </a:p>
        </p:txBody>
      </p:sp>
    </p:spTree>
    <p:extLst>
      <p:ext uri="{BB962C8B-B14F-4D97-AF65-F5344CB8AC3E}">
        <p14:creationId xmlns:p14="http://schemas.microsoft.com/office/powerpoint/2010/main" val="1536418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Color Models</a:t>
            </a:r>
            <a:endParaRPr lang="en-IN" dirty="0"/>
          </a:p>
        </p:txBody>
      </p:sp>
      <p:sp>
        <p:nvSpPr>
          <p:cNvPr id="3" name="Content Placeholder 2"/>
          <p:cNvSpPr>
            <a:spLocks noGrp="1"/>
          </p:cNvSpPr>
          <p:nvPr>
            <p:ph idx="1"/>
          </p:nvPr>
        </p:nvSpPr>
        <p:spPr/>
        <p:txBody>
          <a:bodyPr>
            <a:noAutofit/>
          </a:bodyPr>
          <a:lstStyle/>
          <a:p>
            <a:pPr marL="400050" lvl="1" indent="0">
              <a:buNone/>
            </a:pPr>
            <a:r>
              <a:rPr lang="en-US" sz="1800" dirty="0" smtClean="0"/>
              <a:t>A </a:t>
            </a:r>
            <a:r>
              <a:rPr lang="en-US" sz="1800" dirty="0"/>
              <a:t>color model is a mathematical way to describe and represent colors using numbers – typically in tuple like RGB (three values: Red, Green, Blue) or quadruple like CMYK (four values: Cyan, Magenta, Yellow, Black). These values define positions in a coordinate system that helps us encode color information digitally.</a:t>
            </a:r>
            <a:endParaRPr lang="en-IN" sz="1800" dirty="0"/>
          </a:p>
          <a:p>
            <a:pPr marL="0" indent="0">
              <a:buNone/>
            </a:pPr>
            <a:r>
              <a:rPr lang="en-IN" sz="1800" b="1" dirty="0"/>
              <a:t>Common </a:t>
            </a:r>
            <a:r>
              <a:rPr lang="en-IN" sz="1800" b="1" dirty="0" err="1"/>
              <a:t>Color</a:t>
            </a:r>
            <a:r>
              <a:rPr lang="en-IN" sz="1800" b="1" dirty="0"/>
              <a:t> Models in Image Processing</a:t>
            </a:r>
          </a:p>
          <a:p>
            <a:r>
              <a:rPr lang="en-IN" sz="1800" b="1" dirty="0"/>
              <a:t>RGB (Red, Green, Blue</a:t>
            </a:r>
            <a:r>
              <a:rPr lang="en-IN" sz="1800" b="1" dirty="0" smtClean="0"/>
              <a:t>)</a:t>
            </a:r>
            <a:endParaRPr lang="en-IN" sz="1800" dirty="0"/>
          </a:p>
          <a:p>
            <a:r>
              <a:rPr lang="en-IN" sz="1800" b="1" dirty="0" smtClean="0"/>
              <a:t>HSI/HSV</a:t>
            </a:r>
            <a:r>
              <a:rPr lang="en-IN" sz="1800" b="1" dirty="0"/>
              <a:t> (Hue, Saturation, Intensity/Value</a:t>
            </a:r>
            <a:r>
              <a:rPr lang="en-IN" sz="1800" b="1" dirty="0" smtClean="0"/>
              <a:t>)</a:t>
            </a:r>
          </a:p>
          <a:p>
            <a:r>
              <a:rPr lang="en-IN" sz="1800" b="1" dirty="0"/>
              <a:t>YUV/</a:t>
            </a:r>
            <a:r>
              <a:rPr lang="en-IN" sz="1800" b="1" dirty="0" err="1"/>
              <a:t>YCbCr</a:t>
            </a:r>
            <a:r>
              <a:rPr lang="en-IN" sz="1800" b="1" dirty="0"/>
              <a:t> (Luminance &amp; Chrominance</a:t>
            </a:r>
            <a:r>
              <a:rPr lang="en-IN" sz="1800" b="1" dirty="0" smtClean="0"/>
              <a:t>)</a:t>
            </a:r>
            <a:endParaRPr lang="en-IN" sz="1800" dirty="0"/>
          </a:p>
          <a:p>
            <a:pPr marL="0" indent="0">
              <a:buNone/>
            </a:pPr>
            <a:endParaRPr lang="en-IN" sz="1800" dirty="0"/>
          </a:p>
          <a:p>
            <a:endParaRPr lang="en-IN" sz="1800" dirty="0"/>
          </a:p>
        </p:txBody>
      </p:sp>
    </p:spTree>
    <p:extLst>
      <p:ext uri="{BB962C8B-B14F-4D97-AF65-F5344CB8AC3E}">
        <p14:creationId xmlns:p14="http://schemas.microsoft.com/office/powerpoint/2010/main" val="456547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Colour Models </a:t>
            </a:r>
            <a:endParaRPr lang="en-IN" dirty="0"/>
          </a:p>
        </p:txBody>
      </p:sp>
      <p:sp>
        <p:nvSpPr>
          <p:cNvPr id="3" name="Content Placeholder 2"/>
          <p:cNvSpPr>
            <a:spLocks noGrp="1"/>
          </p:cNvSpPr>
          <p:nvPr>
            <p:ph idx="1"/>
          </p:nvPr>
        </p:nvSpPr>
        <p:spPr>
          <a:xfrm>
            <a:off x="261257" y="1412420"/>
            <a:ext cx="11092543" cy="5445579"/>
          </a:xfrm>
        </p:spPr>
        <p:txBody>
          <a:bodyPr/>
          <a:lstStyle/>
          <a:p>
            <a:r>
              <a:rPr lang="en-IN" sz="2000" dirty="0"/>
              <a:t>RGB (Red, Green, Blue</a:t>
            </a:r>
            <a:r>
              <a:rPr lang="en-IN" sz="2000" dirty="0" smtClean="0"/>
              <a:t>)</a:t>
            </a:r>
          </a:p>
          <a:p>
            <a:pPr marL="800100" lvl="1" indent="-342900">
              <a:buFont typeface="+mj-lt"/>
              <a:buAutoNum type="arabicPeriod"/>
            </a:pPr>
            <a:r>
              <a:rPr lang="en-IN" sz="1800" b="1" dirty="0"/>
              <a:t>Concept:</a:t>
            </a:r>
            <a:r>
              <a:rPr lang="en-IN" sz="1800" dirty="0"/>
              <a:t> Additive model, combining R, G, B to create </a:t>
            </a:r>
            <a:r>
              <a:rPr lang="en-IN" sz="1800" dirty="0" err="1"/>
              <a:t>colors</a:t>
            </a:r>
            <a:r>
              <a:rPr lang="en-IN" sz="1800" dirty="0"/>
              <a:t>; used for screens and cameras.</a:t>
            </a:r>
          </a:p>
          <a:p>
            <a:pPr marL="800100" lvl="1" indent="-342900">
              <a:buFont typeface="+mj-lt"/>
              <a:buAutoNum type="arabicPeriod"/>
            </a:pPr>
            <a:r>
              <a:rPr lang="en-IN" sz="1800" b="1" dirty="0"/>
              <a:t>Use:</a:t>
            </a:r>
            <a:r>
              <a:rPr lang="en-IN" sz="1800" dirty="0"/>
              <a:t> </a:t>
            </a:r>
            <a:r>
              <a:rPr lang="en-US" sz="1800" dirty="0"/>
              <a:t>Standard for digital photos, videos, websites, and screens (phones, TVs) due to its additive color model and large gamut</a:t>
            </a:r>
            <a:r>
              <a:rPr lang="en-US" sz="1800" dirty="0" smtClean="0"/>
              <a:t>.</a:t>
            </a:r>
          </a:p>
          <a:p>
            <a:pPr marL="800100" lvl="1" indent="-342900">
              <a:buFont typeface="+mj-lt"/>
              <a:buAutoNum type="arabicPeriod"/>
            </a:pPr>
            <a:r>
              <a:rPr lang="en-US" sz="1800" dirty="0"/>
              <a:t>With a color space based on the RGB color model, the three primaries are added together to create colors from completely white to completely black. </a:t>
            </a:r>
            <a:r>
              <a:rPr lang="en-US" sz="1800" dirty="0" err="1"/>
              <a:t>Eg</a:t>
            </a:r>
            <a:r>
              <a:rPr lang="en-US" sz="1800" dirty="0"/>
              <a:t>., </a:t>
            </a:r>
            <a:r>
              <a:rPr lang="en-US" sz="1800" dirty="0" err="1"/>
              <a:t>rgb</a:t>
            </a:r>
            <a:r>
              <a:rPr lang="en-US" sz="1800" dirty="0"/>
              <a:t>(255, 0, 0) is pure red, </a:t>
            </a:r>
            <a:r>
              <a:rPr lang="en-US" sz="1800" dirty="0" err="1"/>
              <a:t>rgb</a:t>
            </a:r>
            <a:r>
              <a:rPr lang="en-US" sz="1800" dirty="0"/>
              <a:t>(0, 0, 0) is black, and </a:t>
            </a:r>
            <a:r>
              <a:rPr lang="en-US" sz="1800" dirty="0" err="1"/>
              <a:t>rgb</a:t>
            </a:r>
            <a:r>
              <a:rPr lang="en-US" sz="1800" dirty="0"/>
              <a:t>(255, 255, 255) is white</a:t>
            </a:r>
          </a:p>
          <a:p>
            <a:pPr marL="457200" lvl="1" indent="0">
              <a:buNone/>
            </a:pPr>
            <a:endParaRPr lang="en-IN" sz="1800" dirty="0"/>
          </a:p>
          <a:p>
            <a:pPr marL="0" indent="0">
              <a:buNone/>
            </a:pPr>
            <a:endParaRPr lang="en-IN" sz="2000" dirty="0"/>
          </a:p>
          <a:p>
            <a:pPr marL="0" indent="0">
              <a:buNone/>
            </a:pPr>
            <a:r>
              <a:rPr lang="en-US" sz="2000" dirty="0"/>
              <a:t> </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271" y="3906670"/>
            <a:ext cx="8191500" cy="282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descr="RGB color model - Wikiped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2916" y="3747406"/>
            <a:ext cx="1728192" cy="2538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0200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2800" b="1" dirty="0" smtClean="0"/>
              <a:t>Colour Models</a:t>
            </a:r>
            <a:endParaRPr lang="en-IN" sz="2800" b="1" dirty="0"/>
          </a:p>
        </p:txBody>
      </p:sp>
      <p:sp>
        <p:nvSpPr>
          <p:cNvPr id="3" name="Content Placeholder 2"/>
          <p:cNvSpPr>
            <a:spLocks noGrp="1"/>
          </p:cNvSpPr>
          <p:nvPr>
            <p:ph idx="1"/>
          </p:nvPr>
        </p:nvSpPr>
        <p:spPr>
          <a:xfrm>
            <a:off x="816429" y="1918607"/>
            <a:ext cx="10613571" cy="4784272"/>
          </a:xfrm>
        </p:spPr>
        <p:txBody>
          <a:bodyPr>
            <a:normAutofit fontScale="92500" lnSpcReduction="10000"/>
          </a:bodyPr>
          <a:lstStyle/>
          <a:p>
            <a:r>
              <a:rPr lang="en-US" dirty="0"/>
              <a:t> </a:t>
            </a:r>
            <a:r>
              <a:rPr lang="en-US" b="1" dirty="0"/>
              <a:t>HSI color model (Hue, Saturation, Intensity</a:t>
            </a:r>
            <a:r>
              <a:rPr lang="en-US" b="1" dirty="0" smtClean="0"/>
              <a:t>)</a:t>
            </a:r>
          </a:p>
          <a:p>
            <a:pPr marL="0" indent="0">
              <a:buNone/>
            </a:pPr>
            <a:r>
              <a:rPr lang="en-US" dirty="0" smtClean="0"/>
              <a:t>  A system used in image processing that mimics human perception by separating color (Hue, Saturation) from brightness (Intensity). Hue is the pure color (like red, green, blue), Saturation is its purity (how much gray it has), and Intensity is its brightness or darkness, making it excellent for tasks like changing colors or adjusting brightness without affecting the hue. </a:t>
            </a:r>
          </a:p>
          <a:p>
            <a:pPr marL="457200" lvl="1" indent="0">
              <a:buNone/>
            </a:pPr>
            <a:r>
              <a:rPr lang="en-US" b="1" u="sng" dirty="0"/>
              <a:t>Hue </a:t>
            </a:r>
            <a:r>
              <a:rPr lang="en-US" b="1" dirty="0"/>
              <a:t>(H):</a:t>
            </a:r>
            <a:r>
              <a:rPr lang="en-US" dirty="0"/>
              <a:t> The actual color, often represented as an angle (0-360°), where 0° is red, 120° green, and 240° blue.</a:t>
            </a:r>
          </a:p>
          <a:p>
            <a:pPr marL="457200" lvl="1" indent="0">
              <a:buNone/>
            </a:pPr>
            <a:r>
              <a:rPr lang="en-US" b="1" u="sng" dirty="0"/>
              <a:t>Saturation</a:t>
            </a:r>
            <a:r>
              <a:rPr lang="en-US" b="1" dirty="0"/>
              <a:t> (S):</a:t>
            </a:r>
            <a:r>
              <a:rPr lang="en-US" dirty="0"/>
              <a:t> The intensity or richness of the color, ranging from 0 (gray) to 1 (fully saturated color).</a:t>
            </a:r>
          </a:p>
          <a:p>
            <a:pPr marL="457200" lvl="1" indent="0">
              <a:buNone/>
            </a:pPr>
            <a:r>
              <a:rPr lang="en-US" b="1" u="sng" dirty="0"/>
              <a:t>Intensity</a:t>
            </a:r>
            <a:r>
              <a:rPr lang="en-US" b="1" dirty="0"/>
              <a:t> (I):</a:t>
            </a:r>
            <a:r>
              <a:rPr lang="en-US" dirty="0"/>
              <a:t> The brightness of the color, ranging from 0 (black) to 1 (white). </a:t>
            </a:r>
            <a:endParaRPr lang="en-US" dirty="0" smtClean="0"/>
          </a:p>
          <a:p>
            <a:pPr marL="457200" lvl="1" indent="0">
              <a:buNone/>
            </a:pPr>
            <a:endParaRPr lang="en-US" dirty="0" smtClean="0"/>
          </a:p>
          <a:p>
            <a:pPr marL="457200" lvl="1" indent="0">
              <a:buNone/>
            </a:pPr>
            <a:r>
              <a:rPr lang="en-IN" b="1" dirty="0"/>
              <a:t>Use:</a:t>
            </a:r>
            <a:r>
              <a:rPr lang="en-IN" dirty="0"/>
              <a:t> Ideal for tasks where brightness or </a:t>
            </a:r>
            <a:r>
              <a:rPr lang="en-IN" dirty="0" err="1"/>
              <a:t>color</a:t>
            </a:r>
            <a:r>
              <a:rPr lang="en-IN" dirty="0"/>
              <a:t> content needs independent adjustment (e.g., skin detection).</a:t>
            </a:r>
          </a:p>
          <a:p>
            <a:pPr marL="457200" lvl="1" indent="0">
              <a:buNone/>
            </a:pPr>
            <a:endParaRPr lang="en-US" dirty="0" smtClean="0"/>
          </a:p>
          <a:p>
            <a:pPr marL="457200" lvl="1" indent="0">
              <a:buNone/>
            </a:pPr>
            <a:endParaRPr lang="en-US" dirty="0" smtClean="0"/>
          </a:p>
          <a:p>
            <a:pPr marL="457200" lvl="1" indent="0">
              <a:buNone/>
            </a:pPr>
            <a:endParaRPr lang="en-US" dirty="0"/>
          </a:p>
          <a:p>
            <a:pPr marL="0" indent="0">
              <a:buNone/>
            </a:pPr>
            <a:endParaRPr lang="en-IN" dirty="0"/>
          </a:p>
        </p:txBody>
      </p:sp>
    </p:spTree>
    <p:extLst>
      <p:ext uri="{BB962C8B-B14F-4D97-AF65-F5344CB8AC3E}">
        <p14:creationId xmlns:p14="http://schemas.microsoft.com/office/powerpoint/2010/main" val="339716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Colour Models</a:t>
            </a:r>
            <a:endParaRPr lang="en-IN"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16000" y="1958181"/>
            <a:ext cx="101600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2934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Colour Models</a:t>
            </a:r>
            <a:endParaRPr lang="en-IN" dirty="0"/>
          </a:p>
        </p:txBody>
      </p:sp>
      <p:sp>
        <p:nvSpPr>
          <p:cNvPr id="3" name="Content Placeholder 2"/>
          <p:cNvSpPr>
            <a:spLocks noGrp="1"/>
          </p:cNvSpPr>
          <p:nvPr>
            <p:ph idx="1"/>
          </p:nvPr>
        </p:nvSpPr>
        <p:spPr/>
        <p:txBody>
          <a:bodyPr/>
          <a:lstStyle/>
          <a:p>
            <a:r>
              <a:rPr lang="en-IN" dirty="0" smtClean="0"/>
              <a:t>HSI </a:t>
            </a:r>
          </a:p>
          <a:p>
            <a:pPr marL="0" indent="0">
              <a:buNone/>
            </a:pPr>
            <a:r>
              <a:rPr lang="en-US" dirty="0"/>
              <a:t> </a:t>
            </a:r>
            <a:r>
              <a:rPr lang="en-US" sz="2400" dirty="0" smtClean="0"/>
              <a:t>Ideal for algorithms that need to manipulate specific color aspects (like changing all reds to blues) while preserving brightness, or vice versa</a:t>
            </a:r>
            <a:r>
              <a:rPr lang="en-US" dirty="0" smtClean="0"/>
              <a:t>.</a:t>
            </a:r>
          </a:p>
          <a:p>
            <a:pPr marL="0" indent="0">
              <a:buNone/>
            </a:pPr>
            <a:r>
              <a:rPr lang="en-US" dirty="0" smtClean="0"/>
              <a:t> </a:t>
            </a:r>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2092" y="3717032"/>
            <a:ext cx="3775968" cy="2250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2011" y="3645024"/>
            <a:ext cx="3456384" cy="2365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65431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Colour Models</a:t>
            </a:r>
            <a:endParaRPr lang="en-IN" dirty="0"/>
          </a:p>
        </p:txBody>
      </p:sp>
      <p:pic>
        <p:nvPicPr>
          <p:cNvPr id="5122"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983766" y="1556793"/>
            <a:ext cx="2615925" cy="2442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59563" y="4221088"/>
            <a:ext cx="6333824"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863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1800" b="1" dirty="0"/>
              <a:t>YUV/</a:t>
            </a:r>
            <a:r>
              <a:rPr lang="en-IN" sz="1800" b="1" dirty="0" err="1"/>
              <a:t>YCbCr</a:t>
            </a:r>
            <a:r>
              <a:rPr lang="en-IN" sz="1800" b="1" dirty="0"/>
              <a:t> (Luminance &amp; Chrominance):</a:t>
            </a:r>
            <a:endParaRPr lang="en-IN" sz="1800" dirty="0"/>
          </a:p>
          <a:p>
            <a:pPr marL="457200" lvl="1" indent="0">
              <a:buNone/>
            </a:pPr>
            <a:r>
              <a:rPr lang="en-IN" sz="1600" dirty="0" smtClean="0"/>
              <a:t>Separates </a:t>
            </a:r>
            <a:r>
              <a:rPr lang="en-IN" sz="1600" dirty="0"/>
              <a:t>luminance (Y, brightness) from chrominance (U/V or </a:t>
            </a:r>
            <a:r>
              <a:rPr lang="en-IN" sz="1600" dirty="0" err="1"/>
              <a:t>Cb</a:t>
            </a:r>
            <a:r>
              <a:rPr lang="en-IN" sz="1600" dirty="0"/>
              <a:t>/Cr, </a:t>
            </a:r>
            <a:r>
              <a:rPr lang="en-IN" sz="1600" dirty="0" err="1"/>
              <a:t>color</a:t>
            </a:r>
            <a:r>
              <a:rPr lang="en-IN" sz="1600" dirty="0"/>
              <a:t> information</a:t>
            </a:r>
            <a:r>
              <a:rPr lang="en-IN" sz="1600" dirty="0" smtClean="0"/>
              <a:t>) </a:t>
            </a:r>
            <a:r>
              <a:rPr lang="en-IN" sz="1600" dirty="0" err="1" smtClean="0"/>
              <a:t>ie</a:t>
            </a:r>
            <a:r>
              <a:rPr lang="en-IN" sz="1600" dirty="0" smtClean="0"/>
              <a:t> </a:t>
            </a:r>
            <a:r>
              <a:rPr lang="en-US" sz="1600" dirty="0"/>
              <a:t> </a:t>
            </a:r>
            <a:r>
              <a:rPr lang="en-US" sz="1600" dirty="0" smtClean="0"/>
              <a:t>it breaks </a:t>
            </a:r>
            <a:r>
              <a:rPr lang="en-US" sz="1600" dirty="0"/>
              <a:t>the signal down into a Y, or luminance channel, and 2 channels that store color info without brightness info – a Blue channel and a Red channel that don’t contain any brightness.</a:t>
            </a:r>
          </a:p>
          <a:p>
            <a:pPr marL="457200" lvl="1" indent="0">
              <a:buNone/>
            </a:pPr>
            <a:r>
              <a:rPr lang="en-US" sz="1600" b="1" dirty="0" smtClean="0"/>
              <a:t>Luminance </a:t>
            </a:r>
            <a:r>
              <a:rPr lang="en-US" sz="1600" b="1" dirty="0"/>
              <a:t>(Y):</a:t>
            </a:r>
            <a:r>
              <a:rPr lang="en-US" sz="1600" dirty="0"/>
              <a:t> Represents the brightness in an image (the 'Y' component) and carries the black and white (</a:t>
            </a:r>
            <a:r>
              <a:rPr lang="en-US" sz="1600" dirty="0" err="1"/>
              <a:t>grayscale</a:t>
            </a:r>
            <a:r>
              <a:rPr lang="en-US" sz="1600" dirty="0"/>
              <a:t>) information.</a:t>
            </a:r>
          </a:p>
          <a:p>
            <a:pPr marL="457200" lvl="1" indent="0">
              <a:buNone/>
            </a:pPr>
            <a:r>
              <a:rPr lang="en-US" sz="1600" b="1" dirty="0"/>
              <a:t>Chrominance (</a:t>
            </a:r>
            <a:r>
              <a:rPr lang="en-US" sz="1600" b="1" dirty="0" err="1"/>
              <a:t>Cb</a:t>
            </a:r>
            <a:r>
              <a:rPr lang="en-US" sz="1600" b="1" dirty="0"/>
              <a:t> and Cr)</a:t>
            </a:r>
            <a:r>
              <a:rPr lang="en-US" sz="1600" dirty="0"/>
              <a:t>: Encodes the color information of the </a:t>
            </a:r>
            <a:r>
              <a:rPr lang="en-US" sz="1600" b="1" dirty="0"/>
              <a:t>pixel</a:t>
            </a:r>
            <a:r>
              <a:rPr lang="en-US" sz="1600" dirty="0"/>
              <a:t> (the '</a:t>
            </a:r>
            <a:r>
              <a:rPr lang="en-US" sz="1600" dirty="0" err="1"/>
              <a:t>Cb</a:t>
            </a:r>
            <a:r>
              <a:rPr lang="en-US" sz="1600" dirty="0"/>
              <a:t>' and 'Cr' components). '</a:t>
            </a:r>
            <a:r>
              <a:rPr lang="en-US" sz="1600" dirty="0" err="1"/>
              <a:t>Cb</a:t>
            </a:r>
            <a:r>
              <a:rPr lang="en-US" sz="1600" dirty="0"/>
              <a:t>' stands for blue-difference </a:t>
            </a:r>
            <a:r>
              <a:rPr lang="en-US" sz="1600" dirty="0" err="1"/>
              <a:t>chroma</a:t>
            </a:r>
            <a:r>
              <a:rPr lang="en-US" sz="1600" dirty="0"/>
              <a:t>, while 'Cr' represents red-difference </a:t>
            </a:r>
            <a:r>
              <a:rPr lang="en-US" sz="1600" dirty="0" err="1"/>
              <a:t>chroma</a:t>
            </a:r>
            <a:r>
              <a:rPr lang="en-US" sz="1600" dirty="0"/>
              <a:t>.</a:t>
            </a:r>
          </a:p>
          <a:p>
            <a:pPr marL="457200" lvl="1" indent="0">
              <a:buNone/>
            </a:pPr>
            <a:endParaRPr lang="en-IN" sz="1600" dirty="0"/>
          </a:p>
          <a:p>
            <a:pPr marL="0" indent="0">
              <a:buNone/>
            </a:pPr>
            <a:endParaRPr lang="en-IN" sz="1600" dirty="0"/>
          </a:p>
        </p:txBody>
      </p:sp>
    </p:spTree>
    <p:extLst>
      <p:ext uri="{BB962C8B-B14F-4D97-AF65-F5344CB8AC3E}">
        <p14:creationId xmlns:p14="http://schemas.microsoft.com/office/powerpoint/2010/main" val="1852868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IN"/>
          </a:p>
        </p:txBody>
      </p:sp>
      <p:sp>
        <p:nvSpPr>
          <p:cNvPr id="5" name="Text Placeholder 4"/>
          <p:cNvSpPr>
            <a:spLocks noGrp="1"/>
          </p:cNvSpPr>
          <p:nvPr>
            <p:ph type="body" idx="1"/>
          </p:nvPr>
        </p:nvSpPr>
        <p:spPr>
          <a:xfrm>
            <a:off x="839789" y="1681163"/>
            <a:ext cx="2417761" cy="57830"/>
          </a:xfrm>
        </p:spPr>
        <p:txBody>
          <a:bodyPr>
            <a:normAutofit fontScale="25000" lnSpcReduction="20000"/>
          </a:bodyPr>
          <a:lstStyle/>
          <a:p>
            <a:endParaRPr lang="en-IN" dirty="0"/>
          </a:p>
        </p:txBody>
      </p:sp>
      <p:pic>
        <p:nvPicPr>
          <p:cNvPr id="1026" name="Picture 2"/>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tretch>
            <a:fillRect/>
          </a:stretch>
        </p:blipFill>
        <p:spPr bwMode="auto">
          <a:xfrm>
            <a:off x="1322614" y="1827439"/>
            <a:ext cx="1806497" cy="4475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Placeholder 5"/>
          <p:cNvSpPr>
            <a:spLocks noGrp="1"/>
          </p:cNvSpPr>
          <p:nvPr>
            <p:ph type="body" sz="quarter" idx="3"/>
          </p:nvPr>
        </p:nvSpPr>
        <p:spPr>
          <a:xfrm>
            <a:off x="11291207" y="791256"/>
            <a:ext cx="45719" cy="823912"/>
          </a:xfrm>
        </p:spPr>
        <p:txBody>
          <a:bodyPr/>
          <a:lstStyle/>
          <a:p>
            <a:endParaRPr lang="en-IN" dirty="0"/>
          </a:p>
        </p:txBody>
      </p:sp>
      <p:sp>
        <p:nvSpPr>
          <p:cNvPr id="7" name="Content Placeholder 6"/>
          <p:cNvSpPr>
            <a:spLocks noGrp="1"/>
          </p:cNvSpPr>
          <p:nvPr>
            <p:ph sz="quarter" idx="4"/>
          </p:nvPr>
        </p:nvSpPr>
        <p:spPr>
          <a:xfrm>
            <a:off x="3347357" y="1714500"/>
            <a:ext cx="7052809" cy="4483327"/>
          </a:xfrm>
        </p:spPr>
        <p:txBody>
          <a:bodyPr>
            <a:normAutofit fontScale="92500" lnSpcReduction="20000"/>
          </a:bodyPr>
          <a:lstStyle/>
          <a:p>
            <a:pPr marL="0" indent="0">
              <a:buNone/>
            </a:pPr>
            <a:r>
              <a:rPr lang="en-US" sz="1900" dirty="0"/>
              <a:t>You can see that YUV provides essentially a “</a:t>
            </a:r>
            <a:r>
              <a:rPr lang="en-US" sz="1900" dirty="0" err="1"/>
              <a:t>grayscale</a:t>
            </a:r>
            <a:r>
              <a:rPr lang="en-US" sz="1900" dirty="0"/>
              <a:t>” image from one channel, and the color information is separated out into 2 channels – one for Blue information minus the brightness, and one for Red info minus the brightness. In this image, the Blue channel is showing purple/yellow colors, and the Red channel has more red/cyan colors in this particular image</a:t>
            </a:r>
            <a:r>
              <a:rPr lang="en-US" sz="1900" dirty="0" smtClean="0"/>
              <a:t>.</a:t>
            </a:r>
          </a:p>
          <a:p>
            <a:pPr marL="0" indent="0">
              <a:buNone/>
            </a:pPr>
            <a:r>
              <a:rPr lang="en-US" sz="1900" dirty="0" smtClean="0"/>
              <a:t>The </a:t>
            </a:r>
            <a:r>
              <a:rPr lang="en-US" sz="1900" dirty="0"/>
              <a:t>white snow in the shots has a grey color in both the color channels. That’s because it has a 0 value in both color channels. The barn has a negative value in the Blue channel (producing a yellowish color) and a positive value in the Red channel (producing, well, red colors.) Green colors are derived from a mix of negative values in both channels</a:t>
            </a:r>
            <a:r>
              <a:rPr lang="en-US" sz="1900" dirty="0" smtClean="0"/>
              <a:t>.</a:t>
            </a:r>
          </a:p>
          <a:p>
            <a:pPr marL="0" indent="0">
              <a:buNone/>
            </a:pPr>
            <a:r>
              <a:rPr lang="en-US" sz="1900" dirty="0"/>
              <a:t>Images have negative values in YUV's U (blue-yellow) and V (red-cyan) chrominance channels because they represent color difference signals, where zero is a neutral gray, and positive/negative values shift the color towards one extreme or the </a:t>
            </a:r>
            <a:r>
              <a:rPr lang="en-US" sz="1900" dirty="0" smtClean="0"/>
              <a:t>other. </a:t>
            </a:r>
            <a:r>
              <a:rPr lang="en-US" sz="1900" dirty="0"/>
              <a:t>A negative U value might push towards yellow, while a positive V pushes towards red, encoding color information relative to brightness (Y). </a:t>
            </a:r>
          </a:p>
          <a:p>
            <a:pPr marL="0" indent="0">
              <a:buNone/>
            </a:pPr>
            <a:r>
              <a:rPr lang="en-US" dirty="0"/>
              <a:t/>
            </a:r>
            <a:br>
              <a:rPr lang="en-US" dirty="0"/>
            </a:br>
            <a:endParaRPr lang="en-IN" dirty="0"/>
          </a:p>
        </p:txBody>
      </p:sp>
    </p:spTree>
    <p:extLst>
      <p:ext uri="{BB962C8B-B14F-4D97-AF65-F5344CB8AC3E}">
        <p14:creationId xmlns:p14="http://schemas.microsoft.com/office/powerpoint/2010/main" val="1933637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1524000" y="1122363"/>
            <a:ext cx="9144000" cy="657451"/>
          </a:xfrm>
        </p:spPr>
        <p:txBody>
          <a:bodyPr>
            <a:normAutofit fontScale="90000"/>
          </a:bodyPr>
          <a:lstStyle/>
          <a:p>
            <a:endParaRPr lang="en-IN" dirty="0"/>
          </a:p>
        </p:txBody>
      </p:sp>
      <p:sp>
        <p:nvSpPr>
          <p:cNvPr id="8" name="Subtitle 7"/>
          <p:cNvSpPr>
            <a:spLocks noGrp="1"/>
          </p:cNvSpPr>
          <p:nvPr>
            <p:ph type="subTitle" idx="1"/>
          </p:nvPr>
        </p:nvSpPr>
        <p:spPr>
          <a:xfrm>
            <a:off x="1524000" y="1983921"/>
            <a:ext cx="9144000" cy="3273879"/>
          </a:xfrm>
        </p:spPr>
        <p:txBody>
          <a:bodyPr>
            <a:normAutofit fontScale="85000" lnSpcReduction="10000"/>
          </a:bodyPr>
          <a:lstStyle/>
          <a:p>
            <a:pPr lvl="1" algn="l"/>
            <a:r>
              <a:rPr lang="en-IN" sz="1900" b="1" dirty="0" smtClean="0"/>
              <a:t>Use of YUV images:</a:t>
            </a:r>
            <a:r>
              <a:rPr lang="en-IN" sz="1900" dirty="0"/>
              <a:t> </a:t>
            </a:r>
          </a:p>
          <a:p>
            <a:pPr lvl="1" algn="l"/>
            <a:r>
              <a:rPr lang="en-US" sz="1900" dirty="0"/>
              <a:t>The adoption of the </a:t>
            </a:r>
            <a:r>
              <a:rPr lang="en-US" sz="1900" dirty="0" err="1"/>
              <a:t>YCbCr</a:t>
            </a:r>
            <a:r>
              <a:rPr lang="en-US" sz="1900" dirty="0"/>
              <a:t> color space in digital image processing is particularly prominent due to its ability to balance quality and storage efficiency. As the color information is compressed more than the brightness because the human eye is more sensitive to changes in brightness than color, the U and V channels can be sampled at a lower resolution than the Y channel to reduce data size with minimal perceptual quality loss.  </a:t>
            </a:r>
            <a:r>
              <a:rPr lang="en-US" sz="1900" dirty="0" err="1"/>
              <a:t>YCbCr</a:t>
            </a:r>
            <a:r>
              <a:rPr lang="en-US" sz="1900" dirty="0"/>
              <a:t> enables the retention of essential visual details while reducing data size. </a:t>
            </a:r>
          </a:p>
          <a:p>
            <a:pPr lvl="1" algn="l"/>
            <a:r>
              <a:rPr lang="en-US" sz="1900" dirty="0"/>
              <a:t>The </a:t>
            </a:r>
            <a:r>
              <a:rPr lang="en-US" sz="1900" dirty="0" err="1"/>
              <a:t>YCbCr</a:t>
            </a:r>
            <a:r>
              <a:rPr lang="en-US" sz="1900" dirty="0"/>
              <a:t> color space is instrumental in image compression, particularly in JPEG compression, due to its structure that separates color into luminance (Y) and chrominance (</a:t>
            </a:r>
            <a:r>
              <a:rPr lang="en-US" sz="1900" dirty="0" err="1"/>
              <a:t>Cb</a:t>
            </a:r>
            <a:r>
              <a:rPr lang="en-US" sz="1900" dirty="0"/>
              <a:t> and Cr) components. This results in a smaller file size, demonstrating </a:t>
            </a:r>
            <a:r>
              <a:rPr lang="en-US" sz="1900" dirty="0" err="1"/>
              <a:t>YCbCr’s</a:t>
            </a:r>
            <a:r>
              <a:rPr lang="en-US" sz="1900" dirty="0"/>
              <a:t> effectiveness in reducing data redundancy in image processing.</a:t>
            </a:r>
          </a:p>
          <a:p>
            <a:pPr lvl="1" algn="l"/>
            <a:r>
              <a:rPr lang="en-US" sz="1900" dirty="0" err="1"/>
              <a:t>YCbCr</a:t>
            </a:r>
            <a:r>
              <a:rPr lang="en-US" sz="1900" dirty="0"/>
              <a:t> color space plays a critical role in image segmentation, which involves dividing an image into segments to simplify or change the representation of an image. By separating chrominance from luminance, </a:t>
            </a:r>
            <a:r>
              <a:rPr lang="en-US" sz="1900" dirty="0" err="1"/>
              <a:t>YCbCr</a:t>
            </a:r>
            <a:r>
              <a:rPr lang="en-US" sz="1900" dirty="0"/>
              <a:t> allows for more precise segmentation since variations in lighting and shadows have a reduced impact on the chrominance components, leading to more accurate detection and isolation of objects within an image.</a:t>
            </a:r>
          </a:p>
          <a:p>
            <a:pPr algn="l"/>
            <a:endParaRPr lang="en-IN" dirty="0"/>
          </a:p>
        </p:txBody>
      </p:sp>
    </p:spTree>
    <p:extLst>
      <p:ext uri="{BB962C8B-B14F-4D97-AF65-F5344CB8AC3E}">
        <p14:creationId xmlns:p14="http://schemas.microsoft.com/office/powerpoint/2010/main" val="3448873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US" b="1" dirty="0" smtClean="0"/>
              <a:t>Image File Formats</a:t>
            </a:r>
          </a:p>
          <a:p>
            <a:pPr marL="0" indent="0">
              <a:buNone/>
            </a:pPr>
            <a:r>
              <a:rPr lang="en-US" dirty="0" smtClean="0"/>
              <a:t>   - defines </a:t>
            </a:r>
            <a:r>
              <a:rPr lang="en-US" dirty="0"/>
              <a:t>how digital images are stored and compressed</a:t>
            </a:r>
            <a:r>
              <a:rPr lang="en-US" dirty="0" smtClean="0"/>
              <a:t>.</a:t>
            </a:r>
          </a:p>
          <a:p>
            <a:pPr marL="0" indent="0">
              <a:buNone/>
            </a:pPr>
            <a:r>
              <a:rPr lang="en-US" dirty="0" smtClean="0"/>
              <a:t>They </a:t>
            </a:r>
            <a:r>
              <a:rPr lang="en-US" dirty="0"/>
              <a:t>fall primarily into two categories</a:t>
            </a:r>
            <a:r>
              <a:rPr lang="en-US" dirty="0" smtClean="0"/>
              <a:t>:</a:t>
            </a:r>
          </a:p>
          <a:p>
            <a:pPr marL="0" indent="0">
              <a:buNone/>
            </a:pPr>
            <a:r>
              <a:rPr lang="en-US" b="1" dirty="0" smtClean="0"/>
              <a:t>Raster </a:t>
            </a:r>
            <a:r>
              <a:rPr lang="en-US" b="1" dirty="0"/>
              <a:t>formats</a:t>
            </a:r>
            <a:r>
              <a:rPr lang="en-US" dirty="0"/>
              <a:t> (pixel-based) </a:t>
            </a:r>
            <a:endParaRPr lang="en-US" dirty="0" smtClean="0"/>
          </a:p>
          <a:p>
            <a:pPr marL="0" indent="0">
              <a:buNone/>
            </a:pPr>
            <a:r>
              <a:rPr lang="en-US" b="1" dirty="0" smtClean="0"/>
              <a:t>Vector formats</a:t>
            </a:r>
            <a:r>
              <a:rPr lang="en-US" dirty="0"/>
              <a:t> (mathematically defined shapes</a:t>
            </a:r>
            <a:r>
              <a:rPr lang="en-US" dirty="0" smtClean="0"/>
              <a:t>) </a:t>
            </a:r>
            <a:r>
              <a:rPr lang="en-US" dirty="0"/>
              <a:t> </a:t>
            </a:r>
            <a:endParaRPr lang="en-US" dirty="0" smtClean="0"/>
          </a:p>
          <a:p>
            <a:pPr marL="0" indent="0">
              <a:buNone/>
            </a:pPr>
            <a:r>
              <a:rPr lang="en-US" dirty="0" err="1" smtClean="0"/>
              <a:t>Eg</a:t>
            </a:r>
            <a:r>
              <a:rPr lang="en-US" dirty="0" smtClean="0"/>
              <a:t>: SVG(Scalable Vector Graphics).</a:t>
            </a:r>
            <a:r>
              <a:rPr lang="en-US" dirty="0" err="1" smtClean="0"/>
              <a:t>svg</a:t>
            </a:r>
            <a:endParaRPr lang="en-US" dirty="0" smtClean="0"/>
          </a:p>
          <a:p>
            <a:pPr marL="0" indent="0">
              <a:buNone/>
            </a:pPr>
            <a:r>
              <a:rPr lang="en-US"/>
              <a:t> </a:t>
            </a:r>
            <a:r>
              <a:rPr lang="en-US" smtClean="0"/>
              <a:t>      AI(Adobe </a:t>
            </a:r>
            <a:r>
              <a:rPr lang="en-US" dirty="0" smtClean="0"/>
              <a:t>Illustrator).</a:t>
            </a:r>
            <a:r>
              <a:rPr lang="en-US" dirty="0" err="1" smtClean="0"/>
              <a:t>ai</a:t>
            </a:r>
            <a:endParaRPr lang="en-US" dirty="0" smtClean="0"/>
          </a:p>
          <a:p>
            <a:pPr marL="0" indent="0">
              <a:buNone/>
            </a:pPr>
            <a:endParaRPr lang="en-US" dirty="0"/>
          </a:p>
          <a:p>
            <a:pPr marL="0" indent="0">
              <a:buNone/>
            </a:pPr>
            <a:endParaRPr lang="en-IN" dirty="0"/>
          </a:p>
        </p:txBody>
      </p:sp>
    </p:spTree>
    <p:extLst>
      <p:ext uri="{BB962C8B-B14F-4D97-AF65-F5344CB8AC3E}">
        <p14:creationId xmlns:p14="http://schemas.microsoft.com/office/powerpoint/2010/main" val="641426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US" b="1" dirty="0"/>
              <a:t>Raster Formats</a:t>
            </a:r>
          </a:p>
          <a:p>
            <a:pPr marL="0" indent="0">
              <a:buNone/>
            </a:pPr>
            <a:r>
              <a:rPr lang="en-US" dirty="0"/>
              <a:t>Raster formats, such as JPEG and PNG, are composed of a grid of pixels and are commonly used for photographs and complex graphics. They are resolution-dependent and may become pixelated if enlarged excessively. </a:t>
            </a:r>
          </a:p>
          <a:p>
            <a:pPr marL="457200" lvl="1" indent="0">
              <a:buNone/>
            </a:pPr>
            <a:r>
              <a:rPr lang="en-IN" b="1" dirty="0"/>
              <a:t>JPEG/JPG (Joint Photographic Experts Group):</a:t>
            </a:r>
            <a:r>
              <a:rPr lang="en-IN" dirty="0"/>
              <a:t> Great for photos, uses </a:t>
            </a:r>
            <a:r>
              <a:rPr lang="en-IN" dirty="0" err="1"/>
              <a:t>lossy</a:t>
            </a:r>
            <a:r>
              <a:rPr lang="en-IN" dirty="0"/>
              <a:t> compression (reduces quality for smaller size).</a:t>
            </a:r>
          </a:p>
          <a:p>
            <a:pPr marL="457200" lvl="1" indent="0">
              <a:buNone/>
            </a:pPr>
            <a:r>
              <a:rPr lang="en-IN" b="1" dirty="0"/>
              <a:t>PNG (Portable Network Graphics):</a:t>
            </a:r>
            <a:r>
              <a:rPr lang="en-IN" dirty="0"/>
              <a:t> Supports transparency and lossless compression, ideal for web graphics, logos.</a:t>
            </a:r>
          </a:p>
          <a:p>
            <a:pPr marL="457200" lvl="1" indent="0">
              <a:buNone/>
            </a:pPr>
            <a:r>
              <a:rPr lang="en-IN" b="1" dirty="0"/>
              <a:t>GIF (Graphics Interchange Format):</a:t>
            </a:r>
            <a:r>
              <a:rPr lang="en-IN" dirty="0"/>
              <a:t> Supports simple animations and transparency, limited </a:t>
            </a:r>
            <a:r>
              <a:rPr lang="en-IN" dirty="0" err="1"/>
              <a:t>colors</a:t>
            </a:r>
            <a:r>
              <a:rPr lang="en-IN" dirty="0"/>
              <a:t>.</a:t>
            </a:r>
          </a:p>
          <a:p>
            <a:pPr marL="457200" lvl="1" indent="0">
              <a:buNone/>
            </a:pPr>
            <a:r>
              <a:rPr lang="en-IN" b="1" dirty="0"/>
              <a:t>TIFF/TIF (Tagged Image File Format):</a:t>
            </a:r>
            <a:r>
              <a:rPr lang="en-IN" dirty="0"/>
              <a:t> High quality, lossless, large files, used for printing and archiving.</a:t>
            </a:r>
          </a:p>
          <a:p>
            <a:pPr marL="457200" lvl="1" indent="0">
              <a:buNone/>
            </a:pPr>
            <a:r>
              <a:rPr lang="en-IN" b="1" dirty="0"/>
              <a:t>BMP (Bitmap):</a:t>
            </a:r>
            <a:r>
              <a:rPr lang="en-IN" dirty="0"/>
              <a:t> Uncompressed, large files, basic format.</a:t>
            </a:r>
          </a:p>
          <a:p>
            <a:endParaRPr lang="en-IN" dirty="0"/>
          </a:p>
        </p:txBody>
      </p:sp>
    </p:spTree>
    <p:extLst>
      <p:ext uri="{BB962C8B-B14F-4D97-AF65-F5344CB8AC3E}">
        <p14:creationId xmlns:p14="http://schemas.microsoft.com/office/powerpoint/2010/main" val="3640221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TotalTime>
  <Words>527</Words>
  <Application>Microsoft Office PowerPoint</Application>
  <PresentationFormat>Custom</PresentationFormat>
  <Paragraphs>87</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Colour Fundamentals</vt:lpstr>
      <vt:lpstr>Color Fundamentals</vt:lpstr>
      <vt:lpstr>Color Fundamentals</vt:lpstr>
      <vt:lpstr>Color Fundamentals</vt:lpstr>
      <vt:lpstr>PowerPoint Presentation</vt:lpstr>
      <vt:lpstr>PowerPoint Presentation</vt:lpstr>
      <vt:lpstr>PowerPoint Presentation</vt:lpstr>
      <vt:lpstr>PowerPoint Presentation</vt:lpstr>
      <vt:lpstr>Color Models</vt:lpstr>
      <vt:lpstr>Colour Models </vt:lpstr>
      <vt:lpstr>Colour Models</vt:lpstr>
      <vt:lpstr>Colour Models</vt:lpstr>
      <vt:lpstr>Colour Models</vt:lpstr>
      <vt:lpstr>Colour Models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Colour Fundamentals</dc:title>
  <dc:creator>manjiri shirsat</dc:creator>
  <cp:lastModifiedBy>Admin</cp:lastModifiedBy>
  <cp:revision>68</cp:revision>
  <dcterms:created xsi:type="dcterms:W3CDTF">2025-12-31T01:20:48Z</dcterms:created>
  <dcterms:modified xsi:type="dcterms:W3CDTF">2026-01-03T07:42:48Z</dcterms:modified>
</cp:coreProperties>
</file>