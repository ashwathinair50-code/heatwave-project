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3" r:id="rId4"/>
    <p:sldId id="274" r:id="rId5"/>
    <p:sldId id="275" r:id="rId6"/>
    <p:sldId id="25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6" r:id="rId15"/>
    <p:sldId id="267" r:id="rId16"/>
    <p:sldId id="272" r:id="rId17"/>
    <p:sldId id="268" r:id="rId18"/>
    <p:sldId id="269" r:id="rId19"/>
    <p:sldId id="270" r:id="rId20"/>
    <p:sldId id="277" r:id="rId21"/>
  </p:sldIdLst>
  <p:sldSz cx="12192000" cy="6858000"/>
  <p:notesSz cx="6858000" cy="9144000"/>
  <p:embeddedFontLst>
    <p:embeddedFont>
      <p:font typeface="Calibri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lfaCUwk6hbWXIQU/zru1cgr6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7" d="100"/>
          <a:sy n="117" d="100"/>
        </p:scale>
        <p:origin x="-318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496487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92bc6a9c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b92bc6a9c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92bc6a9c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92bc6a9c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ger.googleusercontent.com/img/b/R29vZ2xl/AVvXsEhxoZU70q_VcPeGA6C4VKNFZ4ovrUty_60f4_b0pC7syf9d3E_Td_vqu6XIkpQ7hZniO1_9iRxWafghcGvvBphgD_Q-VQ7rpKzxD1Z_H99Y7wFdechVnyGqXZpcey0OB6LMubBRNc7VQB0/s1600/laplacian_FigC.JPG" TargetMode="External"/><Relationship Id="rId5" Type="http://schemas.openxmlformats.org/officeDocument/2006/relationships/image" Target="../media/image3.jpg"/><Relationship Id="rId4" Type="http://schemas.openxmlformats.org/officeDocument/2006/relationships/hyperlink" Target="https://blogger.googleusercontent.com/img/b/R29vZ2xl/AVvXsEh7NzFPPAkb_Yh_Vx3HE9MNwSKxEaN_Hc_EMHtibA8GDeX9WSrRiV2DvcfGBg2NATngUdvmg9VH2wW2Qs5z4AiNlyhhiqMuIhY9GoyCNdC0YGuFUlobxCYZVUoT-NPNUBgcHHv615MjCz4/s1600/laplacian_figB.JP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254524"/>
            <a:ext cx="9144000" cy="101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b="1"/>
              <a:t>Image Sharpening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65988" y="1357460"/>
            <a:ext cx="12038028" cy="550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200" dirty="0"/>
              <a:t>Image sharpening is a crucial process in digital image processing, aimed at improving the clarity and crispness of visual content. 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200" dirty="0"/>
              <a:t>By emphasizing the edges and fine details in a picture, sharpening transforms dull or blurred images into visuals where objects stand out more distinctly from their backgrounds.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200" dirty="0"/>
              <a:t>This not only makes photographs more visually appealing but also enhances their usefulness in analysis, recognition and interpretation tasks.</a:t>
            </a:r>
            <a:endParaRPr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6000" b="1"/>
              <a:t>Image Sharpening</a:t>
            </a:r>
            <a:endParaRPr sz="6000"/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371600"/>
            <a:ext cx="10515600" cy="5486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 smtClean="0"/>
              <a:t>Sharpening Filters are based on the first and second order derivatives.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dirty="0" smtClean="0"/>
              <a:t>The derivatives of a digital function are defined in terms of differences.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lang="en-US" dirty="0" smtClean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u="sng" dirty="0" smtClean="0"/>
              <a:t>Common </a:t>
            </a:r>
            <a:r>
              <a:rPr lang="en-US" sz="3200" b="1" u="sng" dirty="0"/>
              <a:t>Techniques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b="1" dirty="0" err="1"/>
              <a:t>Laplacian</a:t>
            </a:r>
            <a:r>
              <a:rPr lang="en-US" sz="3200" b="1" dirty="0"/>
              <a:t> Filter</a:t>
            </a:r>
            <a:r>
              <a:rPr lang="en-US" sz="3200" dirty="0"/>
              <a:t> </a:t>
            </a:r>
            <a:endParaRPr sz="32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b="1" dirty="0" err="1"/>
              <a:t>Unsharp</a:t>
            </a:r>
            <a:r>
              <a:rPr lang="en-US" sz="3200" b="1" dirty="0"/>
              <a:t> Masking (USM) </a:t>
            </a:r>
            <a:r>
              <a:rPr lang="en-US" sz="3200" dirty="0"/>
              <a:t> </a:t>
            </a:r>
            <a:endParaRPr sz="32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 b="1" dirty="0"/>
              <a:t>High Boost Filtering</a:t>
            </a:r>
            <a:endParaRPr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592" y="639534"/>
            <a:ext cx="9704389" cy="5271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0925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8214" y="2197894"/>
            <a:ext cx="1136468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We 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require that any definition we use for a first derivative: </a:t>
            </a: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>
              <a:buAutoNum type="arabicPeriod"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Must 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be zero in areas of constant intensity. </a:t>
            </a: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>
              <a:buAutoNum type="arabicPeriod"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Must 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be nonzero at the onset of an intensity step or ramp. </a:t>
            </a: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>
              <a:buAutoNum type="arabicPeriod"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Must 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be nonzero along intensity ramps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Similarly, any definition of a second derivative </a:t>
            </a:r>
            <a:endParaRPr lang="en-US" sz="24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342900" indent="-342900">
              <a:buAutoNum type="arabicPeriod"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Must 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be zero in areas of constant intensity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Must 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be nonzero at the onset and end of an intensity step or ramp</a:t>
            </a: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sz="24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Must </a:t>
            </a:r>
            <a:r>
              <a:rPr lang="en-US" sz="2400" dirty="0">
                <a:latin typeface="Calibri" pitchFamily="34" charset="0"/>
                <a:ea typeface="Calibri" pitchFamily="34" charset="0"/>
                <a:cs typeface="Calibri" pitchFamily="34" charset="0"/>
              </a:rPr>
              <a:t>be zero along intensity ramps. </a:t>
            </a:r>
            <a:endParaRPr lang="en-IN" sz="24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242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8071" y="522514"/>
            <a:ext cx="1085033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Edges in digital images often are ramp-like transitions in intensity, in which case the first derivative of the image would result in thick edges because the derivative is nonzero along a ramp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 smtClean="0"/>
              <a:t>On </a:t>
            </a:r>
            <a:r>
              <a:rPr lang="en-US" sz="2400" dirty="0"/>
              <a:t>the other hand, the second derivative would produce a double edge one pixel thick, separated by zeros. 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dirty="0" smtClean="0"/>
              <a:t>From </a:t>
            </a:r>
            <a:r>
              <a:rPr lang="en-US" sz="2400" dirty="0"/>
              <a:t>this, we conclude that the second derivative enhances fine detail much better than the first derivative, a property ideally suited for sharpening images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r>
              <a:rPr lang="en-US" sz="2400" dirty="0" smtClean="0"/>
              <a:t>Also</a:t>
            </a:r>
            <a:r>
              <a:rPr lang="en-US" sz="2400" dirty="0"/>
              <a:t>, second derivatives require fewer operations to implement than first derivatives, so our initial attention is on the former.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5556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 b="1" dirty="0"/>
              <a:t>Image Sharpening</a:t>
            </a:r>
            <a:endParaRPr sz="6000" dirty="0"/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791936" y="1771651"/>
            <a:ext cx="9821635" cy="389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2400" b="1" u="sng" dirty="0" err="1"/>
              <a:t>Laplacian</a:t>
            </a:r>
            <a:r>
              <a:rPr lang="en-US" sz="2400" b="1" u="sng" dirty="0"/>
              <a:t> Filter:</a:t>
            </a:r>
            <a:r>
              <a:rPr lang="en-US" sz="2400" u="sng" dirty="0"/>
              <a:t> 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2400" dirty="0" smtClean="0"/>
              <a:t>It </a:t>
            </a:r>
            <a:r>
              <a:rPr lang="en-US" sz="2400" dirty="0"/>
              <a:t>highlights gray level discontinuities in an image.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2400" dirty="0"/>
              <a:t>It deemphasizes regions with slowly varying gray </a:t>
            </a:r>
            <a:r>
              <a:rPr lang="en-US" sz="2400" dirty="0" smtClean="0"/>
              <a:t>levels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2400" dirty="0"/>
              <a:t>It computes the second-order derivative of an image to detect edges. We need a </a:t>
            </a:r>
            <a:r>
              <a:rPr lang="en-US" sz="2400" dirty="0" err="1"/>
              <a:t>Laplacian</a:t>
            </a:r>
            <a:r>
              <a:rPr lang="en-US" sz="2400" dirty="0"/>
              <a:t> filter so that we can extract the features of the image in a better way. </a:t>
            </a:r>
            <a:endParaRPr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sz="3600" b="1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867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Sharpening </a:t>
            </a:r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body" idx="1"/>
          </p:nvPr>
        </p:nvSpPr>
        <p:spPr>
          <a:xfrm>
            <a:off x="498020" y="1232452"/>
            <a:ext cx="11508449" cy="5947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/>
              <a:t>      Formula for 2D: </a:t>
            </a:r>
            <a:endParaRPr dirty="0"/>
          </a:p>
        </p:txBody>
      </p:sp>
      <p:pic>
        <p:nvPicPr>
          <p:cNvPr id="109" name="Google Shape;109;p5" descr="IMAGE PROCESSING: Image Sharpening using second order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0690" y="1134972"/>
            <a:ext cx="5726225" cy="198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5"/>
          <p:cNvSpPr/>
          <p:nvPr/>
        </p:nvSpPr>
        <p:spPr>
          <a:xfrm>
            <a:off x="407504" y="2898947"/>
            <a:ext cx="10908196" cy="37087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58700" tIns="45700" rIns="158700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lang="en-US" sz="32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X-direction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78CD"/>
              </a:buClr>
              <a:buSzPts val="100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3778CD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US" sz="7100" b="0" i="0" u="none" strike="noStrike" cap="none" dirty="0">
                <a:solidFill>
                  <a:srgbClr val="3778CD"/>
                </a:solidFill>
                <a:latin typeface="Courier New"/>
                <a:ea typeface="Courier New"/>
                <a:cs typeface="Courier New"/>
                <a:sym typeface="Courier New"/>
              </a:rPr>
              <a:t>           </a:t>
            </a:r>
            <a:endParaRPr sz="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None/>
            </a:pPr>
            <a:r>
              <a:rPr lang="en-US" sz="10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/>
            </a:r>
            <a:br>
              <a:rPr lang="en-US" sz="10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urier New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For Y-direction</a:t>
            </a:r>
            <a:endParaRPr sz="3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5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3305" y="2863330"/>
            <a:ext cx="5429250" cy="198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5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903305" y="4403346"/>
            <a:ext cx="5438775" cy="2301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69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	</a:t>
            </a:r>
            <a:endParaRPr/>
          </a:p>
        </p:txBody>
      </p:sp>
      <p:sp>
        <p:nvSpPr>
          <p:cNvPr id="118" name="Google Shape;118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dirty="0"/>
              <a:t>By substituting 2 and 3 to 1 we get 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19" name="Google Shape;11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653" y="2965326"/>
            <a:ext cx="9736156" cy="2597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Filter masks</a:t>
            </a:r>
            <a:endParaRPr/>
          </a:p>
        </p:txBody>
      </p:sp>
      <p:pic>
        <p:nvPicPr>
          <p:cNvPr id="125" name="Google Shape;125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5929" y="1688873"/>
            <a:ext cx="392430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707" y="1069521"/>
            <a:ext cx="5347607" cy="4669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02684"/>
            <a:ext cx="6543675" cy="574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600" y="547687"/>
            <a:ext cx="6248400" cy="57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4662" y="738187"/>
            <a:ext cx="6162675" cy="53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>
            <a:spLocks noGrp="1"/>
          </p:cNvSpPr>
          <p:nvPr>
            <p:ph type="title"/>
          </p:nvPr>
        </p:nvSpPr>
        <p:spPr>
          <a:xfrm>
            <a:off x="838200" y="59800"/>
            <a:ext cx="10515600" cy="7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Image Sharpening </a:t>
            </a:r>
            <a:endParaRPr b="1"/>
          </a:p>
        </p:txBody>
      </p:sp>
      <p:sp>
        <p:nvSpPr>
          <p:cNvPr id="144" name="Google Shape;144;p10"/>
          <p:cNvSpPr txBox="1">
            <a:spLocks noGrp="1"/>
          </p:cNvSpPr>
          <p:nvPr>
            <p:ph type="body" idx="1"/>
          </p:nvPr>
        </p:nvSpPr>
        <p:spPr>
          <a:xfrm>
            <a:off x="838200" y="827337"/>
            <a:ext cx="10515600" cy="53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b="1" dirty="0" err="1"/>
              <a:t>Unsharp</a:t>
            </a:r>
            <a:r>
              <a:rPr lang="en-US" b="1" dirty="0"/>
              <a:t> Masking (USM)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A popular method where a blurred version (the "</a:t>
            </a:r>
            <a:r>
              <a:rPr lang="en-US" dirty="0" err="1"/>
              <a:t>unsharp</a:t>
            </a:r>
            <a:r>
              <a:rPr lang="en-US" dirty="0"/>
              <a:t> mask") of the image is subtracted from the original.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Primarily used in the printing and publishing industry to sharpen images.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/>
          <p:nvPr/>
        </p:nvSpPr>
        <p:spPr>
          <a:xfrm>
            <a:off x="1631375" y="169449"/>
            <a:ext cx="8808600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2800" b="1" u="sng" dirty="0">
                <a:latin typeface="Calibri" pitchFamily="34" charset="0"/>
                <a:ea typeface="Calibri" pitchFamily="34" charset="0"/>
                <a:cs typeface="Calibri" pitchFamily="34" charset="0"/>
              </a:rPr>
              <a:t>Steps in </a:t>
            </a:r>
            <a:r>
              <a:rPr lang="en-IN" sz="2800" b="1" u="sng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Unsharp</a:t>
            </a:r>
            <a:r>
              <a:rPr lang="en-IN" sz="2800" b="1" u="sng" dirty="0">
                <a:latin typeface="Calibri" pitchFamily="34" charset="0"/>
                <a:ea typeface="Calibri" pitchFamily="34" charset="0"/>
                <a:cs typeface="Calibri" pitchFamily="34" charset="0"/>
              </a:rPr>
              <a:t> Masking:</a:t>
            </a:r>
            <a:r>
              <a:rPr lang="en-IN" sz="2800" b="1" u="sng">
                <a:latin typeface="Calibri" pitchFamily="34" charset="0"/>
                <a:ea typeface="Calibri" pitchFamily="34" charset="0"/>
                <a:cs typeface="Calibri" pitchFamily="34" charset="0"/>
              </a:rPr>
              <a:t> </a:t>
            </a:r>
            <a:endParaRPr lang="en-IN" sz="2800" b="1" u="sng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endParaRPr lang="en-IN" sz="2800" b="1" u="sng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IN" sz="2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Blur the Image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: Apply a low-pass filter (like a Gaussian filter, </a:t>
            </a:r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𝑔(𝑥,𝑦) to the original 𝑓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(𝑥,𝑦</a:t>
            </a:r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) to 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create a blurred version, </a:t>
            </a:r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𝑓</a:t>
            </a:r>
            <a:r>
              <a:rPr lang="en-IN" sz="2800" baseline="-25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𝑏</a:t>
            </a:r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(𝑥,𝑦).</a:t>
            </a:r>
          </a:p>
          <a:p>
            <a:endParaRPr lang="en-IN" sz="2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IN" sz="2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Create </a:t>
            </a:r>
            <a:r>
              <a:rPr lang="en-IN" sz="2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the Mask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: Subtract the blurred image from the original</a:t>
            </a:r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:</a:t>
            </a:r>
          </a:p>
          <a:p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𝑀𝑎𝑠𝑘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(𝑥,𝑦)=𝑓(𝑥,𝑦)−𝑓</a:t>
            </a:r>
            <a:r>
              <a:rPr lang="en-IN" sz="2800" baseline="-25000" dirty="0">
                <a:latin typeface="Calibri" pitchFamily="34" charset="0"/>
                <a:ea typeface="Calibri" pitchFamily="34" charset="0"/>
                <a:cs typeface="Calibri" pitchFamily="34" charset="0"/>
              </a:rPr>
              <a:t>𝑏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(𝑥,𝑦</a:t>
            </a:r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). </a:t>
            </a:r>
          </a:p>
          <a:p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This 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mask contains only the high-frequency details (edges</a:t>
            </a:r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).</a:t>
            </a:r>
          </a:p>
          <a:p>
            <a:endParaRPr lang="en-IN" sz="2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6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3143" y="1443841"/>
            <a:ext cx="1040946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Sharpen the Image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: Add a scaled version of the mask back to the original image: </a:t>
            </a:r>
          </a:p>
          <a:p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𝐺(𝑥,𝑦)=𝑓(𝑥,𝑦</a:t>
            </a:r>
            <a:r>
              <a:rPr lang="en-IN" sz="2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)+A⋅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𝑀𝑎𝑠𝑘(𝑥,𝑦).</a:t>
            </a:r>
          </a:p>
          <a:p>
            <a:endParaRPr lang="en-IN" sz="2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/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𝑘(Amount/Strength): Controls the intensity of sharpening </a:t>
            </a:r>
          </a:p>
          <a:p>
            <a:pPr lvl="1"/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(e.g., 𝑘=1 for standard </a:t>
            </a:r>
            <a:r>
              <a:rPr lang="en-IN" sz="2800" dirty="0" err="1">
                <a:latin typeface="Calibri" pitchFamily="34" charset="0"/>
                <a:ea typeface="Calibri" pitchFamily="34" charset="0"/>
                <a:cs typeface="Calibri" pitchFamily="34" charset="0"/>
              </a:rPr>
              <a:t>unsharp</a:t>
            </a:r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 masking, </a:t>
            </a:r>
          </a:p>
          <a:p>
            <a:pPr lvl="1"/>
            <a:r>
              <a:rPr lang="en-IN" sz="2800" dirty="0">
                <a:latin typeface="Calibri" pitchFamily="34" charset="0"/>
                <a:ea typeface="Calibri" pitchFamily="34" charset="0"/>
                <a:cs typeface="Calibri" pitchFamily="34" charset="0"/>
              </a:rPr>
              <a:t>𝑘&gt;1 for high boost filtering). </a:t>
            </a:r>
          </a:p>
        </p:txBody>
      </p:sp>
    </p:spTree>
    <p:extLst>
      <p:ext uri="{BB962C8B-B14F-4D97-AF65-F5344CB8AC3E}">
        <p14:creationId xmlns:p14="http://schemas.microsoft.com/office/powerpoint/2010/main" val="2115020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88" y="6350"/>
            <a:ext cx="8096250" cy="665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6288" y="1997075"/>
            <a:ext cx="8096250" cy="267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9759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 txBox="1">
            <a:spLocks noGrp="1"/>
          </p:cNvSpPr>
          <p:nvPr>
            <p:ph type="body"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b="1" u="sng" dirty="0" err="1"/>
              <a:t>Highboost</a:t>
            </a:r>
            <a:r>
              <a:rPr lang="en-US" b="1" u="sng" dirty="0"/>
              <a:t> </a:t>
            </a:r>
            <a:r>
              <a:rPr lang="en-US" b="1" u="sng" dirty="0" smtClean="0"/>
              <a:t>Filtering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endParaRPr dirty="0"/>
          </a:p>
          <a:p>
            <a:pPr marL="50800" indent="0">
              <a:buNone/>
            </a:pPr>
            <a:r>
              <a:rPr lang="en-US" sz="2400" dirty="0"/>
              <a:t>It acts as a generalized version of </a:t>
            </a:r>
            <a:r>
              <a:rPr lang="en-US" sz="2400" dirty="0" err="1"/>
              <a:t>unsharp</a:t>
            </a:r>
            <a:r>
              <a:rPr lang="en-US" sz="2400" dirty="0"/>
              <a:t> masking, using a </a:t>
            </a:r>
            <a:r>
              <a:rPr lang="en-US" sz="2400" dirty="0" smtClean="0"/>
              <a:t>boosting factor </a:t>
            </a:r>
            <a:endParaRPr lang="en-US" sz="2400" dirty="0"/>
          </a:p>
          <a:p>
            <a:pPr marL="50800" indent="0">
              <a:buNone/>
            </a:pPr>
            <a:r>
              <a:rPr lang="en-US" sz="2400" dirty="0"/>
              <a:t>𝐴≥</a:t>
            </a:r>
            <a:r>
              <a:rPr lang="en-US" sz="2400" dirty="0" smtClean="0"/>
              <a:t>1 to </a:t>
            </a:r>
            <a:r>
              <a:rPr lang="en-US" sz="2400" dirty="0"/>
              <a:t>control the intensity of the sharpening. </a:t>
            </a:r>
            <a:endParaRPr sz="36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92bc6a9c3_0_3"/>
          <p:cNvSpPr txBox="1"/>
          <p:nvPr/>
        </p:nvSpPr>
        <p:spPr>
          <a:xfrm>
            <a:off x="1445080" y="1787979"/>
            <a:ext cx="964202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A0A0A"/>
                </a:solidFill>
                <a:highlight>
                  <a:srgbClr val="FFFFFF"/>
                </a:highlight>
              </a:rPr>
              <a:t>When A=1, it becomes regular high-pass filtering (or </a:t>
            </a:r>
            <a:r>
              <a:rPr lang="en-US" sz="2800" dirty="0" err="1">
                <a:solidFill>
                  <a:srgbClr val="0A0A0A"/>
                </a:solidFill>
                <a:highlight>
                  <a:srgbClr val="FFFFFF"/>
                </a:highlight>
              </a:rPr>
              <a:t>unsharp</a:t>
            </a:r>
            <a:r>
              <a:rPr lang="en-US" sz="2800" dirty="0">
                <a:solidFill>
                  <a:srgbClr val="0A0A0A"/>
                </a:solidFill>
                <a:highlight>
                  <a:srgbClr val="FFFFFF"/>
                </a:highlight>
              </a:rPr>
              <a:t> masking); when A&gt;1, it's high-boost filtering.</a:t>
            </a:r>
            <a:endParaRPr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/>
          </a:p>
        </p:txBody>
      </p:sp>
      <p:pic>
        <p:nvPicPr>
          <p:cNvPr id="169" name="Google Shape;169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709287" y="1825625"/>
            <a:ext cx="47733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dirty="0" smtClean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 smtClean="0"/>
          </a:p>
          <a:p>
            <a:pPr marL="628650" indent="-514350">
              <a:buAutoNum type="alphaLcParenBoth"/>
            </a:pPr>
            <a:r>
              <a:rPr lang="en-US" dirty="0" smtClean="0"/>
              <a:t>Original </a:t>
            </a:r>
            <a:r>
              <a:rPr lang="en-US" dirty="0"/>
              <a:t>image of size 600 259 × pixels. </a:t>
            </a:r>
            <a:endParaRPr lang="en-US" dirty="0" smtClean="0"/>
          </a:p>
          <a:p>
            <a:pPr marL="628650" indent="-514350">
              <a:buAutoNum type="alphaLcParenBoth"/>
            </a:pPr>
            <a:r>
              <a:rPr lang="en-US" dirty="0" smtClean="0"/>
              <a:t>Image </a:t>
            </a:r>
            <a:r>
              <a:rPr lang="en-US" dirty="0"/>
              <a:t>blurred using </a:t>
            </a:r>
            <a:r>
              <a:rPr lang="en-US" dirty="0" smtClean="0"/>
              <a:t>Gaussian </a:t>
            </a:r>
            <a:r>
              <a:rPr lang="en-US" dirty="0" err="1" smtClean="0"/>
              <a:t>lowpass</a:t>
            </a:r>
            <a:r>
              <a:rPr lang="en-US" dirty="0" smtClean="0"/>
              <a:t>. </a:t>
            </a:r>
          </a:p>
          <a:p>
            <a:pPr marL="628650" indent="-514350">
              <a:buAutoNum type="alphaLcParenBoth"/>
            </a:pPr>
            <a:r>
              <a:rPr lang="en-US" dirty="0" smtClean="0"/>
              <a:t>Mask.</a:t>
            </a:r>
          </a:p>
          <a:p>
            <a:pPr marL="628650" indent="-514350">
              <a:buAutoNum type="alphaLcParenBoth"/>
            </a:pPr>
            <a:r>
              <a:rPr lang="en-US" dirty="0" smtClean="0"/>
              <a:t>Result </a:t>
            </a:r>
            <a:r>
              <a:rPr lang="en-US" dirty="0"/>
              <a:t>of </a:t>
            </a:r>
            <a:r>
              <a:rPr lang="en-US" dirty="0" err="1"/>
              <a:t>unsharp</a:t>
            </a:r>
            <a:r>
              <a:rPr lang="en-US" dirty="0"/>
              <a:t> masking </a:t>
            </a:r>
            <a:r>
              <a:rPr lang="en-US" dirty="0" smtClean="0"/>
              <a:t>A </a:t>
            </a:r>
            <a:r>
              <a:rPr lang="en-US" dirty="0"/>
              <a:t>= 1</a:t>
            </a:r>
            <a:r>
              <a:rPr lang="en-US" dirty="0" smtClean="0"/>
              <a:t>.</a:t>
            </a:r>
          </a:p>
          <a:p>
            <a:pPr marL="628650" indent="-514350">
              <a:buAutoNum type="alphaLcParenBoth"/>
            </a:pPr>
            <a:r>
              <a:rPr lang="en-US" dirty="0" smtClean="0"/>
              <a:t>Result </a:t>
            </a:r>
            <a:r>
              <a:rPr lang="en-US" dirty="0"/>
              <a:t>of </a:t>
            </a:r>
            <a:r>
              <a:rPr lang="en-US" dirty="0" err="1"/>
              <a:t>highboost</a:t>
            </a:r>
            <a:r>
              <a:rPr lang="en-US" dirty="0"/>
              <a:t> filtering with </a:t>
            </a:r>
            <a:r>
              <a:rPr lang="en-US" dirty="0" smtClean="0"/>
              <a:t>A </a:t>
            </a:r>
            <a:r>
              <a:rPr lang="en-US" dirty="0"/>
              <a:t>= </a:t>
            </a:r>
            <a:r>
              <a:rPr lang="en-US"/>
              <a:t>4 </a:t>
            </a:r>
            <a:r>
              <a:rPr lang="en-US" smtClean="0"/>
              <a:t>5.</a:t>
            </a: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3" y="1929720"/>
            <a:ext cx="5678714" cy="1152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8198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508</Words>
  <Application>Microsoft Office PowerPoint</Application>
  <PresentationFormat>Custom</PresentationFormat>
  <Paragraphs>75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Image Sharpening</vt:lpstr>
      <vt:lpstr>Image Sharpening</vt:lpstr>
      <vt:lpstr>PowerPoint Presentation</vt:lpstr>
      <vt:lpstr>PowerPoint Presentation</vt:lpstr>
      <vt:lpstr>PowerPoint Presentation</vt:lpstr>
      <vt:lpstr>Image Sharpening</vt:lpstr>
      <vt:lpstr>Sharpening </vt:lpstr>
      <vt:lpstr> </vt:lpstr>
      <vt:lpstr>Filter masks</vt:lpstr>
      <vt:lpstr>PowerPoint Presentation</vt:lpstr>
      <vt:lpstr>PowerPoint Presentation</vt:lpstr>
      <vt:lpstr>Image Sharpening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Sharpening</dc:title>
  <dc:creator>manjiri shirsat</dc:creator>
  <cp:lastModifiedBy>Admin</cp:lastModifiedBy>
  <cp:revision>34</cp:revision>
  <dcterms:created xsi:type="dcterms:W3CDTF">2026-01-10T14:45:12Z</dcterms:created>
  <dcterms:modified xsi:type="dcterms:W3CDTF">2026-01-23T09:14:35Z</dcterms:modified>
</cp:coreProperties>
</file>