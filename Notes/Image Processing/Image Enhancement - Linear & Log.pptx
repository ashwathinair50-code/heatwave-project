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74" r:id="rId12"/>
    <p:sldId id="266" r:id="rId13"/>
    <p:sldId id="267" r:id="rId14"/>
    <p:sldId id="268" r:id="rId15"/>
    <p:sldId id="269" r:id="rId16"/>
    <p:sldId id="270" r:id="rId17"/>
    <p:sldId id="271" r:id="rId18"/>
    <p:sldId id="272" r:id="rId19"/>
    <p:sldId id="276" r:id="rId20"/>
    <p:sldId id="275" r:id="rId21"/>
    <p:sldId id="273"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iNO0DixwPYPV5ll23PlNhjM5Mp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1618"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7c075f3d6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b7c075f3d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b7c075f3d6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b7c075f3d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3"/>
        <p:cNvGrpSpPr/>
        <p:nvPr/>
      </p:nvGrpSpPr>
      <p:grpSpPr>
        <a:xfrm>
          <a:off x="0" y="0"/>
          <a:ext cx="0" cy="0"/>
          <a:chOff x="0" y="0"/>
          <a:chExt cx="0" cy="0"/>
        </a:xfrm>
      </p:grpSpPr>
      <p:sp>
        <p:nvSpPr>
          <p:cNvPr id="24" name="Google Shape;24;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6" name="Google Shape;26;p2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7" name="Google Shape;27;p2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8" name="Google Shape;28;p2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9" name="Google Shape;29;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2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5" name="Google Shape;3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2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6"/>
          <p:cNvSpPr>
            <a:spLocks noGrp="1"/>
          </p:cNvSpPr>
          <p:nvPr>
            <p:ph type="pic" idx="2"/>
          </p:nvPr>
        </p:nvSpPr>
        <p:spPr>
          <a:xfrm>
            <a:off x="1792288" y="612775"/>
            <a:ext cx="5486400" cy="4114800"/>
          </a:xfrm>
          <a:prstGeom prst="rect">
            <a:avLst/>
          </a:prstGeom>
          <a:noFill/>
          <a:ln>
            <a:noFill/>
          </a:ln>
        </p:spPr>
      </p:sp>
      <p:sp>
        <p:nvSpPr>
          <p:cNvPr id="64" name="Google Shape;64;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83568" y="332656"/>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800"/>
              <a:buFont typeface="Calibri"/>
              <a:buNone/>
            </a:pPr>
            <a:r>
              <a:rPr lang="en-US" sz="2800" b="1"/>
              <a:t>Image Enhancement</a:t>
            </a:r>
            <a:endParaRPr sz="2800" b="1"/>
          </a:p>
        </p:txBody>
      </p:sp>
      <p:sp>
        <p:nvSpPr>
          <p:cNvPr id="85" name="Google Shape;85;p1"/>
          <p:cNvSpPr txBox="1">
            <a:spLocks noGrp="1"/>
          </p:cNvSpPr>
          <p:nvPr>
            <p:ph type="subTitle" idx="1"/>
          </p:nvPr>
        </p:nvSpPr>
        <p:spPr>
          <a:xfrm>
            <a:off x="683568" y="1772816"/>
            <a:ext cx="8208912" cy="4608512"/>
          </a:xfrm>
          <a:prstGeom prst="rect">
            <a:avLst/>
          </a:prstGeom>
          <a:noFill/>
          <a:ln>
            <a:noFill/>
          </a:ln>
        </p:spPr>
        <p:txBody>
          <a:bodyPr spcFirstLastPara="1" wrap="square" lIns="91425" tIns="45700" rIns="91425" bIns="45700" anchor="t" anchorCtr="0">
            <a:normAutofit lnSpcReduction="10000"/>
          </a:bodyPr>
          <a:lstStyle/>
          <a:p>
            <a:pPr marL="457200" lvl="1" indent="0" algn="l" rtl="0">
              <a:spcBef>
                <a:spcPts val="0"/>
              </a:spcBef>
              <a:spcAft>
                <a:spcPts val="0"/>
              </a:spcAft>
              <a:buClr>
                <a:schemeClr val="dk1"/>
              </a:buClr>
              <a:buSzPts val="2800"/>
              <a:buNone/>
            </a:pPr>
            <a:r>
              <a:rPr lang="en-US">
                <a:solidFill>
                  <a:schemeClr val="dk1"/>
                </a:solidFill>
              </a:rPr>
              <a:t>The process of manipulating the image so that the result is more suitable than the original for specific applications</a:t>
            </a:r>
            <a:endParaRPr>
              <a:solidFill>
                <a:schemeClr val="dk1"/>
              </a:solidFill>
            </a:endParaRPr>
          </a:p>
          <a:p>
            <a:pPr marL="457200" lvl="1" indent="0" algn="l" rtl="0">
              <a:spcBef>
                <a:spcPts val="560"/>
              </a:spcBef>
              <a:spcAft>
                <a:spcPts val="0"/>
              </a:spcAft>
              <a:buClr>
                <a:schemeClr val="dk1"/>
              </a:buClr>
              <a:buSzPts val="2800"/>
              <a:buNone/>
            </a:pPr>
            <a:r>
              <a:rPr lang="en-US" b="1">
                <a:solidFill>
                  <a:schemeClr val="dk1"/>
                </a:solidFill>
              </a:rPr>
              <a:t>Techniques of Image Enhancement</a:t>
            </a:r>
            <a:endParaRPr/>
          </a:p>
          <a:p>
            <a:pPr marL="971550" lvl="1" indent="-514350" algn="l" rtl="0">
              <a:spcBef>
                <a:spcPts val="560"/>
              </a:spcBef>
              <a:spcAft>
                <a:spcPts val="0"/>
              </a:spcAft>
              <a:buClr>
                <a:schemeClr val="dk1"/>
              </a:buClr>
              <a:buSzPts val="2800"/>
              <a:buFont typeface="Calibri"/>
              <a:buAutoNum type="arabicPeriod"/>
            </a:pPr>
            <a:r>
              <a:rPr lang="en-US" u="sng">
                <a:solidFill>
                  <a:schemeClr val="dk1"/>
                </a:solidFill>
              </a:rPr>
              <a:t>Spatial Domain </a:t>
            </a:r>
            <a:r>
              <a:rPr lang="en-US">
                <a:solidFill>
                  <a:schemeClr val="dk1"/>
                </a:solidFill>
              </a:rPr>
              <a:t>– involves direct modification of pixels. </a:t>
            </a:r>
            <a:endParaRPr/>
          </a:p>
          <a:p>
            <a:pPr marL="971550" lvl="1" indent="-514350" algn="l" rtl="0">
              <a:spcBef>
                <a:spcPts val="560"/>
              </a:spcBef>
              <a:spcAft>
                <a:spcPts val="0"/>
              </a:spcAft>
              <a:buClr>
                <a:schemeClr val="dk1"/>
              </a:buClr>
              <a:buSzPts val="2800"/>
              <a:buFont typeface="Calibri"/>
              <a:buAutoNum type="arabicPeriod"/>
            </a:pPr>
            <a:r>
              <a:rPr lang="en-US" u="sng">
                <a:solidFill>
                  <a:schemeClr val="dk1"/>
                </a:solidFill>
              </a:rPr>
              <a:t>Frequency Domain </a:t>
            </a:r>
            <a:r>
              <a:rPr lang="en-US">
                <a:solidFill>
                  <a:schemeClr val="dk1"/>
                </a:solidFill>
              </a:rPr>
              <a:t>– involves modification of the Fourier transformation of an image </a:t>
            </a:r>
            <a:endParaRPr/>
          </a:p>
          <a:p>
            <a:pPr marL="971550" lvl="1" indent="-514350" algn="l" rtl="0">
              <a:spcBef>
                <a:spcPts val="560"/>
              </a:spcBef>
              <a:spcAft>
                <a:spcPts val="0"/>
              </a:spcAft>
              <a:buClr>
                <a:schemeClr val="dk1"/>
              </a:buClr>
              <a:buSzPts val="2800"/>
              <a:buFont typeface="Calibri"/>
              <a:buAutoNum type="arabicPeriod"/>
            </a:pPr>
            <a:r>
              <a:rPr lang="en-US" u="sng">
                <a:solidFill>
                  <a:schemeClr val="dk1"/>
                </a:solidFill>
              </a:rPr>
              <a:t>Combination</a:t>
            </a:r>
            <a:r>
              <a:rPr lang="en-US">
                <a:solidFill>
                  <a:schemeClr val="dk1"/>
                </a:solidFill>
              </a:rPr>
              <a:t> – involves a combination of spatial and frequency domains</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b="1"/>
              <a:t>Image Enhancement - Spatial Domain </a:t>
            </a:r>
            <a:endParaRPr sz="3600" b="1"/>
          </a:p>
        </p:txBody>
      </p:sp>
      <p:sp>
        <p:nvSpPr>
          <p:cNvPr id="91" name="Google Shape;91;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47500" lnSpcReduction="20000"/>
          </a:bodyPr>
          <a:lstStyle/>
          <a:p>
            <a:pPr marL="0" lvl="0" indent="0" algn="l" rtl="0">
              <a:spcBef>
                <a:spcPts val="0"/>
              </a:spcBef>
              <a:spcAft>
                <a:spcPts val="0"/>
              </a:spcAft>
              <a:buClr>
                <a:schemeClr val="dk1"/>
              </a:buClr>
              <a:buSzPct val="100000"/>
              <a:buNone/>
            </a:pPr>
            <a:r>
              <a:rPr lang="en-US" sz="7000"/>
              <a:t>Operations happen on the pixels (x, y) of the image itself.</a:t>
            </a:r>
            <a:endParaRPr/>
          </a:p>
          <a:p>
            <a:pPr marL="0" lvl="0" indent="0" algn="l" rtl="0">
              <a:spcBef>
                <a:spcPts val="665"/>
              </a:spcBef>
              <a:spcAft>
                <a:spcPts val="0"/>
              </a:spcAft>
              <a:buClr>
                <a:schemeClr val="dk1"/>
              </a:buClr>
              <a:buSzPct val="100000"/>
              <a:buNone/>
            </a:pPr>
            <a:r>
              <a:rPr lang="en-US" sz="7000"/>
              <a:t>The transformation function has been given below</a:t>
            </a:r>
            <a:endParaRPr/>
          </a:p>
          <a:p>
            <a:pPr marL="0" lvl="0" indent="0" algn="l" rtl="0">
              <a:spcBef>
                <a:spcPts val="665"/>
              </a:spcBef>
              <a:spcAft>
                <a:spcPts val="0"/>
              </a:spcAft>
              <a:buClr>
                <a:schemeClr val="dk1"/>
              </a:buClr>
              <a:buSzPct val="100000"/>
              <a:buNone/>
            </a:pPr>
            <a:r>
              <a:rPr lang="en-US" sz="7000"/>
              <a:t>s = T ( r )</a:t>
            </a:r>
            <a:endParaRPr/>
          </a:p>
          <a:p>
            <a:pPr marL="0" lvl="0" indent="0" algn="l" rtl="0">
              <a:spcBef>
                <a:spcPts val="665"/>
              </a:spcBef>
              <a:spcAft>
                <a:spcPts val="0"/>
              </a:spcAft>
              <a:buClr>
                <a:schemeClr val="dk1"/>
              </a:buClr>
              <a:buSzPct val="100000"/>
              <a:buNone/>
            </a:pPr>
            <a:r>
              <a:rPr lang="en-US" sz="7000"/>
              <a:t>where r is the pixels of the input image and s is the pixels of the output image. T is a transformation function that maps each value of r to each value of s.</a:t>
            </a:r>
            <a:endParaRPr/>
          </a:p>
          <a:p>
            <a:pPr marL="0" lvl="0" indent="0" algn="l" rtl="0">
              <a:spcBef>
                <a:spcPts val="551"/>
              </a:spcBef>
              <a:spcAft>
                <a:spcPts val="0"/>
              </a:spcAft>
              <a:buClr>
                <a:schemeClr val="dk1"/>
              </a:buClr>
              <a:buSzPct val="100000"/>
              <a:buNone/>
            </a:pPr>
            <a:endParaRPr sz="5800"/>
          </a:p>
          <a:p>
            <a:pPr marL="0" lvl="0" indent="0" algn="l" rtl="0">
              <a:spcBef>
                <a:spcPts val="228"/>
              </a:spcBef>
              <a:spcAft>
                <a:spcPts val="0"/>
              </a:spcAft>
              <a:buClr>
                <a:schemeClr val="dk1"/>
              </a:buClr>
              <a:buSzPct val="100000"/>
              <a:buNone/>
            </a:pPr>
            <a:endParaRPr sz="2400"/>
          </a:p>
          <a:p>
            <a:pPr marL="0" lvl="0" indent="0" algn="l" rtl="0">
              <a:spcBef>
                <a:spcPts val="228"/>
              </a:spcBef>
              <a:spcAft>
                <a:spcPts val="0"/>
              </a:spcAft>
              <a:buClr>
                <a:schemeClr val="dk1"/>
              </a:buClr>
              <a:buSzPct val="100000"/>
              <a:buNone/>
            </a:pP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b="1"/>
              <a:t>Image Enhancement - Spatial Domain </a:t>
            </a:r>
            <a:endParaRPr sz="3600"/>
          </a:p>
        </p:txBody>
      </p:sp>
      <p:sp>
        <p:nvSpPr>
          <p:cNvPr id="97" name="Google Shape;97;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800"/>
              <a:buNone/>
            </a:pPr>
            <a:r>
              <a:rPr lang="en-US" sz="2800" b="1" u="sng"/>
              <a:t>Common Techniques</a:t>
            </a:r>
            <a:endParaRPr/>
          </a:p>
          <a:p>
            <a:pPr marL="342900" lvl="0" indent="-342900" algn="l" rtl="0">
              <a:spcBef>
                <a:spcPts val="560"/>
              </a:spcBef>
              <a:spcAft>
                <a:spcPts val="0"/>
              </a:spcAft>
              <a:buClr>
                <a:schemeClr val="dk1"/>
              </a:buClr>
              <a:buSzPts val="2800"/>
              <a:buChar char="•"/>
            </a:pPr>
            <a:r>
              <a:rPr lang="en-US" sz="2800" b="1"/>
              <a:t>Gray-Level Transformations</a:t>
            </a:r>
            <a:endParaRPr/>
          </a:p>
          <a:p>
            <a:pPr marL="342900" lvl="0" indent="-342900" algn="l" rtl="0">
              <a:spcBef>
                <a:spcPts val="560"/>
              </a:spcBef>
              <a:spcAft>
                <a:spcPts val="0"/>
              </a:spcAft>
              <a:buClr>
                <a:schemeClr val="dk1"/>
              </a:buClr>
              <a:buSzPts val="2800"/>
              <a:buChar char="•"/>
            </a:pPr>
            <a:r>
              <a:rPr lang="en-US" sz="2800" b="1"/>
              <a:t>Histogram Processing</a:t>
            </a:r>
            <a:endParaRPr/>
          </a:p>
          <a:p>
            <a:pPr marL="342900" lvl="0" indent="-342900" algn="l" rtl="0">
              <a:spcBef>
                <a:spcPts val="560"/>
              </a:spcBef>
              <a:spcAft>
                <a:spcPts val="0"/>
              </a:spcAft>
              <a:buClr>
                <a:schemeClr val="dk1"/>
              </a:buClr>
              <a:buSzPts val="2800"/>
              <a:buChar char="•"/>
            </a:pPr>
            <a:r>
              <a:rPr lang="en-US" sz="2800" b="1"/>
              <a:t>Spatial Filtering (Neighborhood Operations)</a:t>
            </a:r>
            <a:r>
              <a:rPr lang="en-US" sz="2800"/>
              <a:t>  </a:t>
            </a:r>
            <a:endParaRPr/>
          </a:p>
          <a:p>
            <a:pPr marL="0" lvl="0" indent="0" algn="l" rtl="0">
              <a:spcBef>
                <a:spcPts val="560"/>
              </a:spcBef>
              <a:spcAft>
                <a:spcPts val="0"/>
              </a:spcAft>
              <a:buClr>
                <a:schemeClr val="dk1"/>
              </a:buClr>
              <a:buSzPts val="2800"/>
              <a:buNone/>
            </a:pPr>
            <a:endParaRPr sz="2800" b="1" u="sng"/>
          </a:p>
          <a:p>
            <a:pPr marL="0" lvl="0" indent="0" algn="l" rtl="0">
              <a:spcBef>
                <a:spcPts val="560"/>
              </a:spcBef>
              <a:spcAft>
                <a:spcPts val="0"/>
              </a:spcAft>
              <a:buClr>
                <a:schemeClr val="dk1"/>
              </a:buClr>
              <a:buSzPts val="2800"/>
              <a:buNone/>
            </a:pPr>
            <a:r>
              <a:rPr lang="en-US" sz="2800" b="1" u="sng"/>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alibri"/>
              <a:buNone/>
            </a:pPr>
            <a:r>
              <a:rPr lang="en-US" sz="3600" b="1" u="sng"/>
              <a:t>Gray-Level Transformations - Linear </a:t>
            </a:r>
            <a:endParaRPr sz="3600"/>
          </a:p>
        </p:txBody>
      </p:sp>
      <p:sp>
        <p:nvSpPr>
          <p:cNvPr id="103" name="Google Shape;103;p4"/>
          <p:cNvSpPr txBox="1">
            <a:spLocks noGrp="1"/>
          </p:cNvSpPr>
          <p:nvPr>
            <p:ph type="body" idx="1"/>
          </p:nvPr>
        </p:nvSpPr>
        <p:spPr>
          <a:xfrm>
            <a:off x="467544" y="1268760"/>
            <a:ext cx="8219256" cy="532859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u="sng"/>
              <a:t>There are three basic Gray-Level Transformations</a:t>
            </a:r>
            <a:endParaRPr/>
          </a:p>
          <a:p>
            <a:pPr marL="342900" lvl="0" indent="-342900" algn="l" rtl="0">
              <a:spcBef>
                <a:spcPts val="640"/>
              </a:spcBef>
              <a:spcAft>
                <a:spcPts val="0"/>
              </a:spcAft>
              <a:buClr>
                <a:schemeClr val="dk1"/>
              </a:buClr>
              <a:buSzPts val="3200"/>
              <a:buChar char="•"/>
            </a:pPr>
            <a:r>
              <a:rPr lang="en-US"/>
              <a:t>Linear transformations</a:t>
            </a:r>
            <a:endParaRPr/>
          </a:p>
          <a:p>
            <a:pPr marL="342900" lvl="0" indent="-342900" algn="l" rtl="0">
              <a:spcBef>
                <a:spcPts val="640"/>
              </a:spcBef>
              <a:spcAft>
                <a:spcPts val="0"/>
              </a:spcAft>
              <a:buClr>
                <a:schemeClr val="dk1"/>
              </a:buClr>
              <a:buSzPts val="3200"/>
              <a:buChar char="•"/>
            </a:pPr>
            <a:r>
              <a:rPr lang="en-US"/>
              <a:t>Logarithmic transformations</a:t>
            </a:r>
            <a:endParaRPr/>
          </a:p>
          <a:p>
            <a:pPr marL="342900" lvl="0" indent="-342900" algn="l" rtl="0">
              <a:spcBef>
                <a:spcPts val="640"/>
              </a:spcBef>
              <a:spcAft>
                <a:spcPts val="0"/>
              </a:spcAft>
              <a:buClr>
                <a:schemeClr val="dk1"/>
              </a:buClr>
              <a:buSzPts val="3200"/>
              <a:buChar char="•"/>
            </a:pPr>
            <a:r>
              <a:rPr lang="en-US"/>
              <a:t>Power-Law(Gamma) transformations</a:t>
            </a:r>
            <a:endParaRPr/>
          </a:p>
          <a:p>
            <a:pPr marL="0" lvl="0" indent="0" algn="l" rtl="0">
              <a:spcBef>
                <a:spcPts val="640"/>
              </a:spcBef>
              <a:spcAft>
                <a:spcPts val="0"/>
              </a:spcAft>
              <a:buClr>
                <a:schemeClr val="dk1"/>
              </a:buClr>
              <a:buSzPts val="3200"/>
              <a:buNone/>
            </a:pPr>
            <a:r>
              <a:rPr lang="en-US"/>
              <a:t>    Adjusts pixel intensity correcting how human eyes and devices perceive brightness differently than linear sensors, enhancing contrast by expanding dark or compressing bright areas.</a:t>
            </a:r>
            <a:endParaRPr/>
          </a:p>
          <a:p>
            <a:pPr marL="0" lvl="0" indent="0" algn="l" rtl="0">
              <a:spcBef>
                <a:spcPts val="520"/>
              </a:spcBef>
              <a:spcAft>
                <a:spcPts val="0"/>
              </a:spcAft>
              <a:buClr>
                <a:schemeClr val="dk1"/>
              </a:buClr>
              <a:buSzPts val="2600"/>
              <a:buNone/>
            </a:pPr>
            <a:endParaRPr sz="2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09" name="Google Shape;109;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t>Linear transformation includes </a:t>
            </a:r>
            <a:endParaRPr/>
          </a:p>
          <a:p>
            <a:pPr marL="342900" lvl="0" indent="-342900" algn="l" rtl="0">
              <a:spcBef>
                <a:spcPts val="640"/>
              </a:spcBef>
              <a:spcAft>
                <a:spcPts val="0"/>
              </a:spcAft>
              <a:buClr>
                <a:schemeClr val="dk1"/>
              </a:buClr>
              <a:buSzPts val="3200"/>
              <a:buChar char="•"/>
            </a:pPr>
            <a:r>
              <a:rPr lang="en-US"/>
              <a:t>Simple identity transition</a:t>
            </a:r>
            <a:endParaRPr/>
          </a:p>
          <a:p>
            <a:pPr marL="342900" lvl="0" indent="-342900" algn="l" rtl="0">
              <a:spcBef>
                <a:spcPts val="640"/>
              </a:spcBef>
              <a:spcAft>
                <a:spcPts val="0"/>
              </a:spcAft>
              <a:buClr>
                <a:schemeClr val="dk1"/>
              </a:buClr>
              <a:buSzPts val="3200"/>
              <a:buChar char="•"/>
            </a:pPr>
            <a:r>
              <a:rPr lang="en-US"/>
              <a:t>Negative transformation </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15" name="Google Shape;115;p6"/>
          <p:cNvSpPr/>
          <p:nvPr/>
        </p:nvSpPr>
        <p:spPr>
          <a:xfrm>
            <a:off x="467544" y="1628800"/>
            <a:ext cx="7200800"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chemeClr val="dk1"/>
                </a:solidFill>
                <a:latin typeface="Calibri"/>
                <a:ea typeface="Calibri"/>
                <a:cs typeface="Calibri"/>
                <a:sym typeface="Calibri"/>
              </a:rPr>
              <a:t>Identity transition </a:t>
            </a:r>
            <a:r>
              <a:rPr lang="en-US" sz="2800" b="0" i="0" u="none" strike="noStrike" cap="none">
                <a:solidFill>
                  <a:schemeClr val="dk1"/>
                </a:solidFill>
                <a:latin typeface="Calibri"/>
                <a:ea typeface="Calibri"/>
                <a:cs typeface="Calibri"/>
                <a:sym typeface="Calibri"/>
              </a:rPr>
              <a:t>is shown by a straight line. In this transition, each value of the input image is directly mapped to each other value of output image. That results in the same input image and output image. And hence is called identity transformation. It has been shown below:</a:t>
            </a:r>
            <a:endParaRPr/>
          </a:p>
          <a:p>
            <a:pPr marL="0" marR="0" lvl="0" indent="0" algn="l" rtl="0">
              <a:spcBef>
                <a:spcPts val="0"/>
              </a:spcBef>
              <a:spcAft>
                <a:spcPts val="0"/>
              </a:spcAft>
              <a:buNone/>
            </a:pPr>
            <a:endParaRPr sz="2800">
              <a:solidFill>
                <a:schemeClr val="dk1"/>
              </a:solidFill>
              <a:latin typeface="Calibri"/>
              <a:ea typeface="Calibri"/>
              <a:cs typeface="Calibri"/>
              <a:sym typeface="Calibri"/>
            </a:endParaRPr>
          </a:p>
          <a:p>
            <a:pPr marL="0" marR="0" lvl="0" indent="0" algn="l" rtl="0">
              <a:spcBef>
                <a:spcPts val="0"/>
              </a:spcBef>
              <a:spcAft>
                <a:spcPts val="0"/>
              </a:spcAft>
              <a:buNone/>
            </a:pPr>
            <a:br>
              <a:rPr lang="en-US" sz="2800">
                <a:solidFill>
                  <a:schemeClr val="dk1"/>
                </a:solidFill>
                <a:latin typeface="Calibri"/>
                <a:ea typeface="Calibri"/>
                <a:cs typeface="Calibri"/>
                <a:sym typeface="Calibri"/>
              </a:rPr>
            </a:br>
            <a:endParaRPr sz="2800">
              <a:solidFill>
                <a:schemeClr val="dk1"/>
              </a:solidFill>
              <a:latin typeface="Calibri"/>
              <a:ea typeface="Calibri"/>
              <a:cs typeface="Calibri"/>
              <a:sym typeface="Calibri"/>
            </a:endParaRPr>
          </a:p>
        </p:txBody>
      </p:sp>
      <p:sp>
        <p:nvSpPr>
          <p:cNvPr id="116" name="Google Shape;116;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22" name="Google Shape;122;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t>The transformation can be described by a simple function 𝑇, where for every input pixel value 𝑟</a:t>
            </a:r>
            <a:endParaRPr/>
          </a:p>
          <a:p>
            <a:pPr marL="0" lvl="0" indent="0" algn="l" rtl="0">
              <a:spcBef>
                <a:spcPts val="640"/>
              </a:spcBef>
              <a:spcAft>
                <a:spcPts val="0"/>
              </a:spcAft>
              <a:buClr>
                <a:schemeClr val="dk1"/>
              </a:buClr>
              <a:buSzPts val="3200"/>
              <a:buNone/>
            </a:pPr>
            <a:r>
              <a:rPr lang="en-US"/>
              <a:t> the output pixel value 𝑠 is 𝑠=𝑇(𝑟) and specifically, 𝑇(𝑟)=𝑟.</a:t>
            </a:r>
            <a:endParaRPr/>
          </a:p>
          <a:p>
            <a:pPr marL="0" lvl="0" indent="0" algn="l" rtl="0">
              <a:spcBef>
                <a:spcPts val="640"/>
              </a:spcBef>
              <a:spcAft>
                <a:spcPts val="0"/>
              </a:spcAft>
              <a:buClr>
                <a:schemeClr val="dk1"/>
              </a:buClr>
              <a:buSzPts val="3200"/>
              <a:buNone/>
            </a:pPr>
            <a:r>
              <a:rPr lang="en-US"/>
              <a:t>This transformation is useful when you want to preserve the original appearance of the image without altering its intensity characteristics.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8"/>
          <p:cNvSpPr txBox="1">
            <a:spLocks noGrp="1"/>
          </p:cNvSpPr>
          <p:nvPr>
            <p:ph type="ctrTitle"/>
          </p:nvPr>
        </p:nvSpPr>
        <p:spPr>
          <a:xfrm>
            <a:off x="611560" y="260648"/>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28" name="Google Shape;128;p8"/>
          <p:cNvSpPr txBox="1">
            <a:spLocks noGrp="1"/>
          </p:cNvSpPr>
          <p:nvPr>
            <p:ph type="subTitle" idx="1"/>
          </p:nvPr>
        </p:nvSpPr>
        <p:spPr>
          <a:xfrm>
            <a:off x="611560" y="1988840"/>
            <a:ext cx="7848872" cy="4464496"/>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3200"/>
              <a:buNone/>
            </a:pPr>
            <a:r>
              <a:rPr lang="en-US">
                <a:solidFill>
                  <a:schemeClr val="dk1"/>
                </a:solidFill>
              </a:rPr>
              <a:t>Identity transformation is shown by a </a:t>
            </a:r>
            <a:r>
              <a:rPr lang="en-US" b="1">
                <a:solidFill>
                  <a:schemeClr val="dk1"/>
                </a:solidFill>
              </a:rPr>
              <a:t>straight line</a:t>
            </a:r>
            <a:r>
              <a:rPr lang="en-US">
                <a:solidFill>
                  <a:schemeClr val="dk1"/>
                </a:solidFill>
              </a:rPr>
              <a:t>. </a:t>
            </a:r>
            <a:endParaRPr>
              <a:solidFill>
                <a:schemeClr val="dk1"/>
              </a:solidFill>
            </a:endParaRPr>
          </a:p>
        </p:txBody>
      </p:sp>
      <p:pic>
        <p:nvPicPr>
          <p:cNvPr id="129" name="Google Shape;129;p8"/>
          <p:cNvPicPr preferRelativeResize="0">
            <a:picLocks noGrp="1"/>
          </p:cNvPicPr>
          <p:nvPr>
            <p:ph type="body" idx="4294967295"/>
          </p:nvPr>
        </p:nvPicPr>
        <p:blipFill rotWithShape="1">
          <a:blip r:embed="rId3">
            <a:alphaModFix/>
          </a:blip>
          <a:srcRect/>
          <a:stretch/>
        </p:blipFill>
        <p:spPr>
          <a:xfrm>
            <a:off x="1979712" y="3140968"/>
            <a:ext cx="4429125" cy="2324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35" name="Google Shape;135;p9"/>
          <p:cNvSpPr txBox="1">
            <a:spLocks noGrp="1"/>
          </p:cNvSpPr>
          <p:nvPr>
            <p:ph type="body" idx="1"/>
          </p:nvPr>
        </p:nvSpPr>
        <p:spPr>
          <a:xfrm>
            <a:off x="467544" y="1412776"/>
            <a:ext cx="8229600" cy="5445224"/>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spcBef>
                <a:spcPts val="0"/>
              </a:spcBef>
              <a:spcAft>
                <a:spcPts val="0"/>
              </a:spcAft>
              <a:buClr>
                <a:schemeClr val="dk1"/>
              </a:buClr>
              <a:buSzPct val="100000"/>
              <a:buNone/>
            </a:pPr>
            <a:r>
              <a:rPr lang="en-US" sz="4100" b="1"/>
              <a:t>Negative transformation</a:t>
            </a:r>
            <a:endParaRPr/>
          </a:p>
          <a:p>
            <a:pPr marL="0" lvl="0" indent="0" algn="l" rtl="0">
              <a:spcBef>
                <a:spcPts val="574"/>
              </a:spcBef>
              <a:spcAft>
                <a:spcPts val="0"/>
              </a:spcAft>
              <a:buClr>
                <a:schemeClr val="dk1"/>
              </a:buClr>
              <a:buSzPct val="100000"/>
              <a:buNone/>
            </a:pPr>
            <a:r>
              <a:rPr lang="en-US" sz="4100"/>
              <a:t>The second linear transformation is negative transformation, which is invert of identity transformation. In negative transformation, each value of the input image is subtracted from the L-1 and mapped onto the output image.</a:t>
            </a:r>
            <a:endParaRPr/>
          </a:p>
          <a:p>
            <a:pPr marL="0" lvl="0" indent="0" algn="l" rtl="0">
              <a:spcBef>
                <a:spcPts val="574"/>
              </a:spcBef>
              <a:spcAft>
                <a:spcPts val="0"/>
              </a:spcAft>
              <a:buClr>
                <a:schemeClr val="dk1"/>
              </a:buClr>
              <a:buSzPct val="100000"/>
              <a:buNone/>
            </a:pPr>
            <a:r>
              <a:rPr lang="en-US" sz="4100" b="1"/>
              <a:t>Formula: </a:t>
            </a:r>
            <a:r>
              <a:rPr lang="en-US" sz="4100"/>
              <a:t>𝑠=𝐿−1−𝑟</a:t>
            </a:r>
            <a:endParaRPr/>
          </a:p>
          <a:p>
            <a:pPr marL="0" lvl="0" indent="0" algn="l" rtl="0">
              <a:spcBef>
                <a:spcPts val="574"/>
              </a:spcBef>
              <a:spcAft>
                <a:spcPts val="0"/>
              </a:spcAft>
              <a:buClr>
                <a:schemeClr val="dk1"/>
              </a:buClr>
              <a:buSzPct val="100000"/>
              <a:buNone/>
            </a:pPr>
            <a:r>
              <a:rPr lang="en-US" sz="4100"/>
              <a:t>(where 'r' is original intensity, 's' is new, and 'L' is total levels, e.g., 256 for 8-bit), which enhances details in dark areas and is vital in medical imaging like X-rays. </a:t>
            </a:r>
            <a:endParaRPr sz="4100"/>
          </a:p>
          <a:p>
            <a:pPr marL="0" lvl="0" indent="0" algn="l" rtl="0">
              <a:spcBef>
                <a:spcPts val="392"/>
              </a:spcBef>
              <a:spcAft>
                <a:spcPts val="0"/>
              </a:spcAft>
              <a:buClr>
                <a:schemeClr val="dk1"/>
              </a:buClr>
              <a:buSzPct val="100000"/>
              <a:buNone/>
            </a:pPr>
            <a:endParaRPr sz="2800"/>
          </a:p>
          <a:p>
            <a:pPr marL="0" lvl="0" indent="0" algn="l" rtl="0">
              <a:spcBef>
                <a:spcPts val="448"/>
              </a:spcBef>
              <a:spcAft>
                <a:spcPts val="0"/>
              </a:spcAft>
              <a:buClr>
                <a:schemeClr val="dk1"/>
              </a:buClr>
              <a:buSzPct val="100000"/>
              <a:buNone/>
            </a:pPr>
            <a:endParaRPr/>
          </a:p>
          <a:p>
            <a:pPr marL="0" lvl="0" indent="0" algn="l" rtl="0">
              <a:spcBef>
                <a:spcPts val="448"/>
              </a:spcBef>
              <a:spcAft>
                <a:spcPts val="0"/>
              </a:spcAft>
              <a:buClr>
                <a:schemeClr val="dk1"/>
              </a:buClr>
              <a:buSzPct val="100000"/>
              <a:buNone/>
            </a:pPr>
            <a:br>
              <a:rPr lang="en-US"/>
            </a:b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0"/>
          <p:cNvSpPr txBox="1">
            <a:spLocks noGrp="1"/>
          </p:cNvSpPr>
          <p:nvPr>
            <p:ph type="title"/>
          </p:nvPr>
        </p:nvSpPr>
        <p:spPr>
          <a:xfrm>
            <a:off x="395536" y="26064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41" name="Google Shape;141;p10"/>
          <p:cNvSpPr txBox="1">
            <a:spLocks noGrp="1"/>
          </p:cNvSpPr>
          <p:nvPr>
            <p:ph type="body" idx="1"/>
          </p:nvPr>
        </p:nvSpPr>
        <p:spPr>
          <a:xfrm>
            <a:off x="1043608" y="1556792"/>
            <a:ext cx="6192688" cy="639762"/>
          </a:xfrm>
          <a:prstGeom prst="rect">
            <a:avLst/>
          </a:prstGeom>
          <a:noFill/>
          <a:ln>
            <a:noFill/>
          </a:ln>
        </p:spPr>
        <p:txBody>
          <a:bodyPr spcFirstLastPara="1" wrap="square" lIns="91425" tIns="45700" rIns="91425" bIns="45700" anchor="b" anchorCtr="0">
            <a:normAutofit fontScale="40000" lnSpcReduction="20000"/>
          </a:bodyPr>
          <a:lstStyle/>
          <a:p>
            <a:pPr marL="0" lvl="0" indent="0" algn="ctr" rtl="0">
              <a:spcBef>
                <a:spcPts val="0"/>
              </a:spcBef>
              <a:spcAft>
                <a:spcPts val="0"/>
              </a:spcAft>
              <a:buClr>
                <a:schemeClr val="dk1"/>
              </a:buClr>
              <a:buSzPct val="100000"/>
              <a:buNone/>
            </a:pPr>
            <a:endParaRPr sz="3500"/>
          </a:p>
          <a:p>
            <a:pPr marL="0" lvl="0" indent="0" algn="ctr" rtl="0">
              <a:spcBef>
                <a:spcPts val="408"/>
              </a:spcBef>
              <a:spcAft>
                <a:spcPts val="0"/>
              </a:spcAft>
              <a:buClr>
                <a:schemeClr val="dk1"/>
              </a:buClr>
              <a:buSzPct val="100000"/>
              <a:buNone/>
            </a:pPr>
            <a:r>
              <a:rPr lang="en-US" sz="5100"/>
              <a:t>The result is somewhat like this.</a:t>
            </a:r>
            <a:endParaRPr/>
          </a:p>
          <a:p>
            <a:pPr marL="0" lvl="0" indent="0" algn="ctr" rtl="0">
              <a:spcBef>
                <a:spcPts val="192"/>
              </a:spcBef>
              <a:spcAft>
                <a:spcPts val="0"/>
              </a:spcAft>
              <a:buClr>
                <a:schemeClr val="dk1"/>
              </a:buClr>
              <a:buSzPct val="100000"/>
              <a:buNone/>
            </a:pPr>
            <a:endParaRPr/>
          </a:p>
        </p:txBody>
      </p:sp>
      <p:pic>
        <p:nvPicPr>
          <p:cNvPr id="142" name="Google Shape;142;p10"/>
          <p:cNvPicPr preferRelativeResize="0">
            <a:picLocks noGrp="1"/>
          </p:cNvPicPr>
          <p:nvPr>
            <p:ph type="body" idx="2"/>
          </p:nvPr>
        </p:nvPicPr>
        <p:blipFill rotWithShape="1">
          <a:blip r:embed="rId3">
            <a:alphaModFix/>
          </a:blip>
          <a:srcRect/>
          <a:stretch/>
        </p:blipFill>
        <p:spPr>
          <a:xfrm>
            <a:off x="1605756" y="3288506"/>
            <a:ext cx="1743075" cy="1724025"/>
          </a:xfrm>
          <a:prstGeom prst="rect">
            <a:avLst/>
          </a:prstGeom>
          <a:noFill/>
          <a:ln>
            <a:noFill/>
          </a:ln>
        </p:spPr>
      </p:pic>
      <p:sp>
        <p:nvSpPr>
          <p:cNvPr id="143" name="Google Shape;143;p10"/>
          <p:cNvSpPr txBox="1">
            <a:spLocks noGrp="1"/>
          </p:cNvSpPr>
          <p:nvPr>
            <p:ph type="body" idx="3"/>
          </p:nvPr>
        </p:nvSpPr>
        <p:spPr>
          <a:xfrm>
            <a:off x="4644008" y="1556792"/>
            <a:ext cx="4041775" cy="639762"/>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2400"/>
              <a:buNone/>
            </a:pPr>
            <a:endParaRPr/>
          </a:p>
        </p:txBody>
      </p:sp>
      <p:sp>
        <p:nvSpPr>
          <p:cNvPr id="144" name="Google Shape;144;p1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400"/>
              <a:buNone/>
            </a:pPr>
            <a:r>
              <a:rPr lang="en-US" b="1"/>
              <a:t>OUTPUT IMAGE</a:t>
            </a:r>
            <a:endParaRPr b="1"/>
          </a:p>
          <a:p>
            <a:pPr marL="342900" lvl="0" indent="-190500" algn="l" rtl="0">
              <a:spcBef>
                <a:spcPts val="480"/>
              </a:spcBef>
              <a:spcAft>
                <a:spcPts val="0"/>
              </a:spcAft>
              <a:buClr>
                <a:schemeClr val="dk1"/>
              </a:buClr>
              <a:buSzPts val="2400"/>
              <a:buNone/>
            </a:pPr>
            <a:endParaRPr/>
          </a:p>
        </p:txBody>
      </p:sp>
      <p:pic>
        <p:nvPicPr>
          <p:cNvPr id="145" name="Google Shape;145;p10"/>
          <p:cNvPicPr preferRelativeResize="0"/>
          <p:nvPr/>
        </p:nvPicPr>
        <p:blipFill rotWithShape="1">
          <a:blip r:embed="rId4">
            <a:alphaModFix/>
          </a:blip>
          <a:srcRect/>
          <a:stretch/>
        </p:blipFill>
        <p:spPr>
          <a:xfrm>
            <a:off x="5292080" y="3068960"/>
            <a:ext cx="1771650" cy="1743075"/>
          </a:xfrm>
          <a:prstGeom prst="rect">
            <a:avLst/>
          </a:prstGeom>
          <a:noFill/>
          <a:ln>
            <a:noFill/>
          </a:ln>
        </p:spPr>
      </p:pic>
      <p:sp>
        <p:nvSpPr>
          <p:cNvPr id="146" name="Google Shape;146;p10"/>
          <p:cNvSpPr/>
          <p:nvPr/>
        </p:nvSpPr>
        <p:spPr>
          <a:xfrm>
            <a:off x="1259632" y="2273950"/>
            <a:ext cx="273630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INPUT IMAGE</a:t>
            </a:r>
            <a:endParaRPr sz="2400" b="1">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6F6B8F2-1FF3-FCFB-9B8D-AC6300DEE6AD}"/>
              </a:ext>
            </a:extLst>
          </p:cNvPr>
          <p:cNvSpPr>
            <a:spLocks noGrp="1"/>
          </p:cNvSpPr>
          <p:nvPr>
            <p:ph type="ctrTitle"/>
          </p:nvPr>
        </p:nvSpPr>
        <p:spPr>
          <a:xfrm>
            <a:off x="685800" y="69575"/>
            <a:ext cx="7772400" cy="924338"/>
          </a:xfrm>
        </p:spPr>
        <p:txBody>
          <a:bodyPr>
            <a:normAutofit fontScale="90000"/>
          </a:bodyPr>
          <a:lstStyle/>
          <a:p>
            <a:r>
              <a:rPr lang="en-US" b="1" u="sng" dirty="0"/>
              <a:t>Gray-Level Transformations - LOGARITHMIC</a:t>
            </a:r>
            <a:endParaRPr lang="en-IN" dirty="0"/>
          </a:p>
        </p:txBody>
      </p:sp>
      <p:pic>
        <p:nvPicPr>
          <p:cNvPr id="9" name="Picture 8">
            <a:extLst>
              <a:ext uri="{FF2B5EF4-FFF2-40B4-BE49-F238E27FC236}">
                <a16:creationId xmlns:a16="http://schemas.microsoft.com/office/drawing/2014/main" id="{F15B1C0E-B832-3117-ECF8-DF09CE9613DD}"/>
              </a:ext>
            </a:extLst>
          </p:cNvPr>
          <p:cNvPicPr>
            <a:picLocks noChangeAspect="1"/>
          </p:cNvPicPr>
          <p:nvPr/>
        </p:nvPicPr>
        <p:blipFill>
          <a:blip r:embed="rId2"/>
          <a:stretch>
            <a:fillRect/>
          </a:stretch>
        </p:blipFill>
        <p:spPr>
          <a:xfrm>
            <a:off x="685801" y="2124075"/>
            <a:ext cx="6862762" cy="3451778"/>
          </a:xfrm>
          <a:prstGeom prst="rect">
            <a:avLst/>
          </a:prstGeom>
        </p:spPr>
      </p:pic>
      <p:sp>
        <p:nvSpPr>
          <p:cNvPr id="8" name="Subtitle 7">
            <a:extLst>
              <a:ext uri="{FF2B5EF4-FFF2-40B4-BE49-F238E27FC236}">
                <a16:creationId xmlns:a16="http://schemas.microsoft.com/office/drawing/2014/main" id="{956FDBD9-9730-01F6-6A70-3E1A523CAC56}"/>
              </a:ext>
            </a:extLst>
          </p:cNvPr>
          <p:cNvSpPr>
            <a:spLocks noGrp="1"/>
          </p:cNvSpPr>
          <p:nvPr>
            <p:ph type="subTitle" idx="1"/>
          </p:nvPr>
        </p:nvSpPr>
        <p:spPr>
          <a:xfrm>
            <a:off x="119269" y="1282147"/>
            <a:ext cx="8855765" cy="5506277"/>
          </a:xfrm>
        </p:spPr>
        <p:txBody>
          <a:bodyPr/>
          <a:lstStyle/>
          <a:p>
            <a:endParaRPr lang="en-IN" dirty="0"/>
          </a:p>
        </p:txBody>
      </p:sp>
    </p:spTree>
    <p:extLst>
      <p:ext uri="{BB962C8B-B14F-4D97-AF65-F5344CB8AC3E}">
        <p14:creationId xmlns:p14="http://schemas.microsoft.com/office/powerpoint/2010/main" val="1099543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1"/>
          <p:cNvSpPr txBox="1">
            <a:spLocks noGrp="1"/>
          </p:cNvSpPr>
          <p:nvPr>
            <p:ph type="ctrTitle"/>
          </p:nvPr>
        </p:nvSpPr>
        <p:spPr>
          <a:xfrm>
            <a:off x="685800" y="139149"/>
            <a:ext cx="7772400" cy="1401416"/>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n-US" sz="4000" b="1" u="sng" dirty="0"/>
              <a:t>Gray-Level Transformations - LOGARITHMIC</a:t>
            </a:r>
            <a:endParaRPr sz="4000" dirty="0"/>
          </a:p>
        </p:txBody>
      </p:sp>
      <p:sp>
        <p:nvSpPr>
          <p:cNvPr id="152" name="Google Shape;152;p11"/>
          <p:cNvSpPr txBox="1">
            <a:spLocks noGrp="1"/>
          </p:cNvSpPr>
          <p:nvPr>
            <p:ph type="subTitle" idx="1"/>
          </p:nvPr>
        </p:nvSpPr>
        <p:spPr>
          <a:xfrm>
            <a:off x="611560" y="1540565"/>
            <a:ext cx="7992888" cy="5056787"/>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spcBef>
                <a:spcPts val="0"/>
              </a:spcBef>
              <a:spcAft>
                <a:spcPts val="0"/>
              </a:spcAft>
              <a:buClr>
                <a:schemeClr val="dk1"/>
              </a:buClr>
              <a:buSzPct val="100000"/>
              <a:buNone/>
            </a:pPr>
            <a:r>
              <a:rPr lang="en-US" sz="4500" dirty="0">
                <a:solidFill>
                  <a:schemeClr val="dk1"/>
                </a:solidFill>
              </a:rPr>
              <a:t>The log transformation is of the form:</a:t>
            </a:r>
            <a:endParaRPr sz="4500" dirty="0"/>
          </a:p>
          <a:p>
            <a:pPr marL="0" lvl="0" indent="0" algn="l" rtl="0">
              <a:spcBef>
                <a:spcPts val="640"/>
              </a:spcBef>
              <a:spcAft>
                <a:spcPts val="0"/>
              </a:spcAft>
              <a:buClr>
                <a:schemeClr val="dk1"/>
              </a:buClr>
              <a:buSzPct val="100000"/>
              <a:buNone/>
            </a:pPr>
            <a:r>
              <a:rPr lang="en-US" sz="4500" b="1" dirty="0">
                <a:solidFill>
                  <a:schemeClr val="dk1"/>
                </a:solidFill>
              </a:rPr>
              <a:t>s = T(r) = c log (1 + r)</a:t>
            </a:r>
            <a:endParaRPr sz="4500" dirty="0"/>
          </a:p>
          <a:p>
            <a:pPr marL="0" lvl="0" indent="0" algn="l" rtl="0">
              <a:spcBef>
                <a:spcPts val="640"/>
              </a:spcBef>
              <a:spcAft>
                <a:spcPts val="0"/>
              </a:spcAft>
              <a:buClr>
                <a:schemeClr val="dk1"/>
              </a:buClr>
              <a:buSzPct val="100000"/>
              <a:buNone/>
            </a:pPr>
            <a:r>
              <a:rPr lang="en-US" sz="4500" dirty="0">
                <a:solidFill>
                  <a:schemeClr val="dk1"/>
                </a:solidFill>
              </a:rPr>
              <a:t>where</a:t>
            </a:r>
            <a:endParaRPr sz="4500" dirty="0">
              <a:solidFill>
                <a:schemeClr val="dk1"/>
              </a:solidFill>
            </a:endParaRPr>
          </a:p>
          <a:p>
            <a:pPr marL="0" lvl="0" indent="0" algn="l" rtl="0">
              <a:spcBef>
                <a:spcPts val="640"/>
              </a:spcBef>
              <a:spcAft>
                <a:spcPts val="0"/>
              </a:spcAft>
              <a:buClr>
                <a:schemeClr val="dk1"/>
              </a:buClr>
              <a:buSzPct val="100000"/>
              <a:buNone/>
            </a:pPr>
            <a:r>
              <a:rPr lang="en-US" sz="4500" dirty="0">
                <a:solidFill>
                  <a:schemeClr val="dk1"/>
                </a:solidFill>
              </a:rPr>
              <a:t>r is input pixel intensity</a:t>
            </a:r>
            <a:endParaRPr sz="4500" dirty="0">
              <a:solidFill>
                <a:schemeClr val="dk1"/>
              </a:solidFill>
            </a:endParaRPr>
          </a:p>
          <a:p>
            <a:pPr marL="0" lvl="0" indent="0" algn="l" rtl="0">
              <a:spcBef>
                <a:spcPts val="640"/>
              </a:spcBef>
              <a:spcAft>
                <a:spcPts val="0"/>
              </a:spcAft>
              <a:buClr>
                <a:schemeClr val="dk1"/>
              </a:buClr>
              <a:buSzPct val="100000"/>
              <a:buNone/>
            </a:pPr>
            <a:r>
              <a:rPr lang="en-US" sz="4500" dirty="0">
                <a:solidFill>
                  <a:schemeClr val="dk1"/>
                </a:solidFill>
              </a:rPr>
              <a:t>s is output pixel intensity</a:t>
            </a:r>
            <a:endParaRPr sz="4500" dirty="0">
              <a:solidFill>
                <a:schemeClr val="dk1"/>
              </a:solidFill>
            </a:endParaRPr>
          </a:p>
          <a:p>
            <a:pPr marL="0" lvl="0" indent="0" algn="l" rtl="0">
              <a:spcBef>
                <a:spcPts val="640"/>
              </a:spcBef>
              <a:spcAft>
                <a:spcPts val="0"/>
              </a:spcAft>
              <a:buClr>
                <a:schemeClr val="dk1"/>
              </a:buClr>
              <a:buSzPct val="100000"/>
              <a:buNone/>
            </a:pPr>
            <a:r>
              <a:rPr lang="en-US" sz="4500" dirty="0">
                <a:solidFill>
                  <a:schemeClr val="dk1"/>
                </a:solidFill>
              </a:rPr>
              <a:t>c is scaling constant</a:t>
            </a:r>
            <a:endParaRPr sz="4500" dirty="0">
              <a:solidFill>
                <a:schemeClr val="dk1"/>
              </a:solidFill>
            </a:endParaRPr>
          </a:p>
          <a:p>
            <a:pPr marL="0" lvl="0" indent="0" algn="l" rtl="0">
              <a:spcBef>
                <a:spcPts val="640"/>
              </a:spcBef>
              <a:spcAft>
                <a:spcPts val="0"/>
              </a:spcAft>
              <a:buClr>
                <a:schemeClr val="dk1"/>
              </a:buClr>
              <a:buSzPct val="109113"/>
              <a:buNone/>
            </a:pPr>
            <a:r>
              <a:rPr lang="en-US" sz="4500" dirty="0">
                <a:solidFill>
                  <a:schemeClr val="dk1"/>
                </a:solidFill>
              </a:rPr>
              <a:t>+1 </a:t>
            </a:r>
            <a:r>
              <a:rPr lang="en-US" sz="4500" dirty="0">
                <a:solidFill>
                  <a:srgbClr val="0A0A0A"/>
                </a:solidFill>
                <a:highlight>
                  <a:srgbClr val="FFFFFF"/>
                </a:highlight>
                <a:latin typeface="Arial"/>
                <a:ea typeface="Arial"/>
                <a:cs typeface="Arial"/>
                <a:sym typeface="Arial"/>
              </a:rPr>
              <a:t>is added to the input to handle pixel values of zero, preventing infinite logarithm values. </a:t>
            </a:r>
            <a:endParaRPr sz="4500" dirty="0">
              <a:solidFill>
                <a:srgbClr val="0A0A0A"/>
              </a:solidFill>
              <a:highlight>
                <a:srgbClr val="FFFFFF"/>
              </a:highlight>
              <a:latin typeface="Arial"/>
              <a:ea typeface="Arial"/>
              <a:cs typeface="Arial"/>
              <a:sym typeface="Arial"/>
            </a:endParaRPr>
          </a:p>
          <a:p>
            <a:pPr marL="0" lvl="0" indent="0" algn="l" rtl="0">
              <a:spcBef>
                <a:spcPts val="640"/>
              </a:spcBef>
              <a:spcAft>
                <a:spcPts val="0"/>
              </a:spcAft>
              <a:buClr>
                <a:schemeClr val="dk1"/>
              </a:buClr>
              <a:buSzPct val="109113"/>
              <a:buNone/>
            </a:pPr>
            <a:endParaRPr sz="4500" dirty="0">
              <a:solidFill>
                <a:srgbClr val="0A0A0A"/>
              </a:solidFill>
              <a:highlight>
                <a:srgbClr val="FFFFFF"/>
              </a:highlight>
              <a:latin typeface="Arial"/>
              <a:ea typeface="Arial"/>
              <a:cs typeface="Arial"/>
              <a:sym typeface="Arial"/>
            </a:endParaRPr>
          </a:p>
          <a:p>
            <a:pPr marL="0" lvl="0" indent="0" algn="l" rtl="0">
              <a:spcBef>
                <a:spcPts val="640"/>
              </a:spcBef>
              <a:spcAft>
                <a:spcPts val="0"/>
              </a:spcAft>
              <a:buClr>
                <a:srgbClr val="888888"/>
              </a:buClr>
              <a:buSzPct val="100000"/>
              <a:buNone/>
            </a:pPr>
            <a:endParaRPr dirty="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3b7c075f3d6_0_6"/>
          <p:cNvSpPr txBox="1">
            <a:spLocks noGrp="1"/>
          </p:cNvSpPr>
          <p:nvPr>
            <p:ph type="ctrTitle"/>
          </p:nvPr>
        </p:nvSpPr>
        <p:spPr>
          <a:xfrm>
            <a:off x="685800" y="248479"/>
            <a:ext cx="7772400" cy="506896"/>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endParaRPr dirty="0"/>
          </a:p>
        </p:txBody>
      </p:sp>
      <p:sp>
        <p:nvSpPr>
          <p:cNvPr id="158" name="Google Shape;158;g3b7c075f3d6_0_6"/>
          <p:cNvSpPr txBox="1">
            <a:spLocks noGrp="1"/>
          </p:cNvSpPr>
          <p:nvPr>
            <p:ph type="subTitle" idx="1"/>
          </p:nvPr>
        </p:nvSpPr>
        <p:spPr>
          <a:xfrm>
            <a:off x="149087" y="993913"/>
            <a:ext cx="8994913" cy="5715000"/>
          </a:xfrm>
          <a:prstGeom prst="rect">
            <a:avLst/>
          </a:prstGeom>
        </p:spPr>
        <p:txBody>
          <a:bodyPr spcFirstLastPara="1" wrap="square" lIns="91425" tIns="45700" rIns="91425" bIns="45700" anchor="t" anchorCtr="0">
            <a:normAutofit fontScale="85000" lnSpcReduction="20000"/>
          </a:bodyPr>
          <a:lstStyle/>
          <a:p>
            <a:pPr marL="0" lvl="0" indent="0" algn="l">
              <a:buClr>
                <a:schemeClr val="dk1"/>
              </a:buClr>
              <a:buSzPct val="100000"/>
            </a:pPr>
            <a:r>
              <a:rPr lang="en-US" dirty="0">
                <a:solidFill>
                  <a:schemeClr val="dk1"/>
                </a:solidFill>
              </a:rPr>
              <a:t>Using </a:t>
            </a:r>
            <a:r>
              <a:rPr lang="en-US" b="1" dirty="0">
                <a:solidFill>
                  <a:schemeClr val="dk1"/>
                </a:solidFill>
              </a:rPr>
              <a:t>c=1</a:t>
            </a:r>
            <a:r>
              <a:rPr lang="en-US" dirty="0">
                <a:solidFill>
                  <a:schemeClr val="dk1"/>
                </a:solidFill>
              </a:rPr>
              <a:t> provides basic transformation.</a:t>
            </a:r>
          </a:p>
          <a:p>
            <a:pPr marL="0" lvl="0" indent="0" algn="l">
              <a:buClr>
                <a:schemeClr val="dk1"/>
              </a:buClr>
              <a:buSzPct val="100000"/>
            </a:pPr>
            <a:r>
              <a:rPr lang="en-US" b="1" dirty="0">
                <a:solidFill>
                  <a:schemeClr val="dk1"/>
                </a:solidFill>
              </a:rPr>
              <a:t>c log(1 + r) </a:t>
            </a:r>
            <a:r>
              <a:rPr lang="en-US" dirty="0">
                <a:solidFill>
                  <a:schemeClr val="dk1"/>
                </a:solidFill>
              </a:rPr>
              <a:t>scales the output to the full dynamic range ensuing optimal use of available gray levels.  </a:t>
            </a:r>
          </a:p>
          <a:p>
            <a:pPr algn="l"/>
            <a:endParaRPr lang="en-US" b="1" dirty="0">
              <a:solidFill>
                <a:schemeClr val="tx1"/>
              </a:solidFill>
            </a:endParaRPr>
          </a:p>
          <a:p>
            <a:pPr algn="l"/>
            <a:r>
              <a:rPr lang="en-US" b="1" dirty="0">
                <a:solidFill>
                  <a:schemeClr val="tx1"/>
                </a:solidFill>
              </a:rPr>
              <a:t>Original Image (Limited Range):</a:t>
            </a:r>
            <a:r>
              <a:rPr lang="en-US" dirty="0">
                <a:solidFill>
                  <a:schemeClr val="tx1"/>
                </a:solidFill>
              </a:rPr>
              <a:t> Imagine a photo where most pixels are in the mid-gray range (like 30-70), so darks aren't very dark, and lights aren't very bright.</a:t>
            </a:r>
          </a:p>
          <a:p>
            <a:pPr algn="l"/>
            <a:r>
              <a:rPr lang="en-US" b="1" dirty="0">
                <a:solidFill>
                  <a:schemeClr val="tx1"/>
                </a:solidFill>
              </a:rPr>
              <a:t>Scaling to Full Range:</a:t>
            </a:r>
            <a:r>
              <a:rPr lang="en-US" dirty="0">
                <a:solidFill>
                  <a:schemeClr val="tx1"/>
                </a:solidFill>
              </a:rPr>
              <a:t> This process takes those mid-gray values and spreads them out, pushing the darkest original pixel to black (0) and the brightest to white (255), and redistributing all shades in between.</a:t>
            </a:r>
          </a:p>
          <a:p>
            <a:pPr algn="l"/>
            <a:r>
              <a:rPr lang="en-US" b="1" dirty="0">
                <a:solidFill>
                  <a:schemeClr val="tx1"/>
                </a:solidFill>
              </a:rPr>
              <a:t>Result (Optimal Use):</a:t>
            </a:r>
            <a:r>
              <a:rPr lang="en-US" dirty="0">
                <a:solidFill>
                  <a:schemeClr val="tx1"/>
                </a:solidFill>
              </a:rPr>
              <a:t> You get better contrast, revealing details in shadows and highlights that were previously lost in the "middle," making the image look richer and more detailed. </a:t>
            </a:r>
          </a:p>
          <a:p>
            <a:pPr marL="0" lvl="0" indent="0" algn="l" rtl="0">
              <a:spcBef>
                <a:spcPts val="640"/>
              </a:spcBef>
              <a:spcAft>
                <a:spcPts val="0"/>
              </a:spcAft>
              <a:buNone/>
            </a:pPr>
            <a:endParaRPr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64" name="Google Shape;164;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spcBef>
                <a:spcPts val="640"/>
              </a:spcBef>
              <a:spcAft>
                <a:spcPts val="0"/>
              </a:spcAft>
              <a:buClr>
                <a:schemeClr val="dk1"/>
              </a:buClr>
              <a:buSzPct val="100000"/>
              <a:buNone/>
            </a:pPr>
            <a:r>
              <a:rPr lang="en-US" b="1" dirty="0"/>
              <a:t>Expanding Darks </a:t>
            </a:r>
            <a:r>
              <a:rPr lang="en-US" dirty="0"/>
              <a:t>– Enhances dark image regions by expanding their details(low intensities) while compressing bright areas improving visual quality when contrast is poor.</a:t>
            </a:r>
            <a:endParaRPr b="1" dirty="0"/>
          </a:p>
          <a:p>
            <a:pPr marL="0" lvl="0" indent="0" algn="l" rtl="0">
              <a:spcBef>
                <a:spcPts val="0"/>
              </a:spcBef>
              <a:spcAft>
                <a:spcPts val="0"/>
              </a:spcAft>
              <a:buClr>
                <a:schemeClr val="dk1"/>
              </a:buClr>
              <a:buSzPct val="100000"/>
              <a:buNone/>
            </a:pPr>
            <a:endParaRPr b="1" dirty="0"/>
          </a:p>
          <a:p>
            <a:pPr marL="0" lvl="0" indent="0" algn="l" rtl="0">
              <a:spcBef>
                <a:spcPts val="0"/>
              </a:spcBef>
              <a:spcAft>
                <a:spcPts val="0"/>
              </a:spcAft>
              <a:buClr>
                <a:schemeClr val="dk1"/>
              </a:buClr>
              <a:buSzPct val="100000"/>
              <a:buNone/>
            </a:pPr>
            <a:r>
              <a:rPr lang="en-US" b="1" dirty="0"/>
              <a:t>Compressing Brights – </a:t>
            </a:r>
            <a:endParaRPr dirty="0"/>
          </a:p>
          <a:p>
            <a:pPr marL="0" lvl="0" indent="0">
              <a:spcBef>
                <a:spcPts val="640"/>
              </a:spcBef>
              <a:buSzPct val="100000"/>
              <a:buNone/>
            </a:pPr>
            <a:r>
              <a:rPr lang="en-US" dirty="0"/>
              <a:t>Large changes in high input intensity values(r) are mapped to a much smaller range of output values(s). This "compresses" the tonal range(spectrum of brightness levels, from the darkest shadows to the brightest highlights, within an image) of the bright areas.  </a:t>
            </a:r>
            <a:endParaRPr dirty="0"/>
          </a:p>
          <a:p>
            <a:pPr marL="0" lvl="0" indent="0" algn="l" rtl="0">
              <a:spcBef>
                <a:spcPts val="640"/>
              </a:spcBef>
              <a:spcAft>
                <a:spcPts val="0"/>
              </a:spcAft>
              <a:buClr>
                <a:schemeClr val="dk1"/>
              </a:buClr>
              <a:buSzPct val="100000"/>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70" name="Google Shape;170;p13"/>
          <p:cNvSpPr txBox="1">
            <a:spLocks noGrp="1"/>
          </p:cNvSpPr>
          <p:nvPr>
            <p:ph type="body" idx="4294967295"/>
          </p:nvPr>
        </p:nvSpPr>
        <p:spPr>
          <a:xfrm>
            <a:off x="0" y="0"/>
            <a:ext cx="9144000" cy="6858000"/>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spcBef>
                <a:spcPts val="0"/>
              </a:spcBef>
              <a:spcAft>
                <a:spcPts val="0"/>
              </a:spcAft>
              <a:buClr>
                <a:schemeClr val="dk1"/>
              </a:buClr>
              <a:buSzPct val="100000"/>
              <a:buNone/>
            </a:pPr>
            <a:r>
              <a:rPr lang="en-US" sz="14400" b="1" u="sng" dirty="0"/>
              <a:t>Application</a:t>
            </a:r>
            <a:r>
              <a:rPr lang="en-US" b="1" u="sng" dirty="0"/>
              <a:t>:</a:t>
            </a:r>
            <a:endParaRPr dirty="0"/>
          </a:p>
          <a:p>
            <a:pPr marL="457200" lvl="0" indent="-389061" algn="l" rtl="0">
              <a:lnSpc>
                <a:spcPct val="150000"/>
              </a:lnSpc>
              <a:spcBef>
                <a:spcPts val="800"/>
              </a:spcBef>
              <a:spcAft>
                <a:spcPts val="0"/>
              </a:spcAft>
              <a:buClr>
                <a:srgbClr val="0A0A0A"/>
              </a:buClr>
              <a:buSzPct val="100000"/>
              <a:buChar char="●"/>
            </a:pPr>
            <a:r>
              <a:rPr lang="en-US" sz="12800" b="1" u="sng" dirty="0">
                <a:solidFill>
                  <a:srgbClr val="0A0A0A"/>
                </a:solidFill>
                <a:highlight>
                  <a:srgbClr val="FFFFFF"/>
                </a:highlight>
                <a:latin typeface="Arial"/>
                <a:ea typeface="Arial"/>
                <a:cs typeface="Arial"/>
                <a:sym typeface="Arial"/>
              </a:rPr>
              <a:t>Image Enhancement</a:t>
            </a:r>
            <a:r>
              <a:rPr lang="en-US" sz="12800" dirty="0">
                <a:solidFill>
                  <a:srgbClr val="0A0A0A"/>
                </a:solidFill>
                <a:highlight>
                  <a:srgbClr val="FFFFFF"/>
                </a:highlight>
                <a:latin typeface="Arial"/>
                <a:ea typeface="Arial"/>
                <a:cs typeface="Arial"/>
                <a:sym typeface="Arial"/>
              </a:rPr>
              <a:t>: Makes dark regions of an image brighter, improving visibility of details that are otherwise lost in shadows, such as facial features or subtle textures.</a:t>
            </a:r>
          </a:p>
          <a:p>
            <a:pPr indent="-389061">
              <a:lnSpc>
                <a:spcPct val="150000"/>
              </a:lnSpc>
              <a:spcBef>
                <a:spcPts val="800"/>
              </a:spcBef>
              <a:buClr>
                <a:srgbClr val="0A0A0A"/>
              </a:buClr>
              <a:buSzPct val="100000"/>
              <a:buFont typeface="Arial"/>
              <a:buChar char="●"/>
            </a:pPr>
            <a:r>
              <a:rPr lang="en-US" sz="12800" b="1" dirty="0"/>
              <a:t>Low-Light Images</a:t>
            </a:r>
            <a:r>
              <a:rPr lang="en-US" sz="12800" dirty="0"/>
              <a:t>: It is effective for enhancing details in dark images or underexposed photographs where significant information is hidden in the low pixel values. </a:t>
            </a:r>
          </a:p>
          <a:p>
            <a:pPr marL="457200" lvl="0" indent="-389061" algn="l" rtl="0">
              <a:lnSpc>
                <a:spcPct val="150000"/>
              </a:lnSpc>
              <a:spcBef>
                <a:spcPts val="800"/>
              </a:spcBef>
              <a:spcAft>
                <a:spcPts val="0"/>
              </a:spcAft>
              <a:buClr>
                <a:srgbClr val="0A0A0A"/>
              </a:buClr>
              <a:buSzPct val="100000"/>
              <a:buChar char="●"/>
            </a:pPr>
            <a:endParaRPr sz="10107" dirty="0">
              <a:solidFill>
                <a:srgbClr val="0A0A0A"/>
              </a:solidFill>
              <a:highlight>
                <a:srgbClr val="FFFFFF"/>
              </a:highlight>
              <a:latin typeface="Arial"/>
              <a:ea typeface="Arial"/>
              <a:cs typeface="Arial"/>
              <a:sym typeface="Arial"/>
            </a:endParaRPr>
          </a:p>
          <a:p>
            <a:pPr marL="68139" lvl="0" indent="0" algn="l" rtl="0">
              <a:lnSpc>
                <a:spcPct val="150000"/>
              </a:lnSpc>
              <a:spcBef>
                <a:spcPts val="0"/>
              </a:spcBef>
              <a:spcAft>
                <a:spcPts val="0"/>
              </a:spcAft>
              <a:buClr>
                <a:srgbClr val="0A0A0A"/>
              </a:buClr>
              <a:buSzPct val="100000"/>
              <a:buNone/>
            </a:pPr>
            <a:r>
              <a:rPr lang="en-US" sz="10107" dirty="0">
                <a:solidFill>
                  <a:srgbClr val="0A0A0A"/>
                </a:solidFill>
                <a:highlight>
                  <a:srgbClr val="FFFFFF"/>
                </a:highlight>
                <a:latin typeface="Arial"/>
                <a:ea typeface="Arial"/>
                <a:cs typeface="Arial"/>
                <a:sym typeface="Arial"/>
              </a:rPr>
              <a:t>	.</a:t>
            </a:r>
            <a:endParaRPr sz="10107" dirty="0">
              <a:solidFill>
                <a:srgbClr val="0A0A0A"/>
              </a:solidFill>
              <a:highlight>
                <a:srgbClr val="FFFFFF"/>
              </a:highlight>
              <a:latin typeface="Arial"/>
              <a:ea typeface="Arial"/>
              <a:cs typeface="Arial"/>
              <a:sym typeface="Arial"/>
            </a:endParaRPr>
          </a:p>
          <a:p>
            <a:pPr marL="342900" lvl="0" indent="-139700" algn="l" rtl="0">
              <a:spcBef>
                <a:spcPts val="2400"/>
              </a:spcBef>
              <a:spcAft>
                <a:spcPts val="0"/>
              </a:spcAft>
              <a:buClr>
                <a:schemeClr val="dk1"/>
              </a:buClr>
              <a:buSzPct val="100000"/>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6" name="Google Shape;176;p14"/>
          <p:cNvSpPr txBox="1">
            <a:spLocks noGrp="1"/>
          </p:cNvSpPr>
          <p:nvPr>
            <p:ph type="body" idx="4294967295"/>
          </p:nvPr>
        </p:nvSpPr>
        <p:spPr>
          <a:xfrm>
            <a:off x="-1" y="566738"/>
            <a:ext cx="9144001" cy="6201810"/>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spcBef>
                <a:spcPts val="0"/>
              </a:spcBef>
            </a:pPr>
            <a:r>
              <a:rPr lang="en-US" sz="3500" b="1" u="sng" dirty="0">
                <a:solidFill>
                  <a:schemeClr val="tx1"/>
                </a:solidFill>
                <a:highlight>
                  <a:srgbClr val="FFFFFF"/>
                </a:highlight>
                <a:latin typeface="Calibri" panose="020F0502020204030204" pitchFamily="34" charset="0"/>
                <a:ea typeface="Calibri" panose="020F0502020204030204" pitchFamily="34" charset="0"/>
                <a:cs typeface="Calibri" panose="020F0502020204030204" pitchFamily="34" charset="0"/>
                <a:sym typeface="Arial"/>
              </a:rPr>
              <a:t>Dynamic Range Compression</a:t>
            </a:r>
            <a:r>
              <a:rPr lang="en-US" sz="3500" dirty="0">
                <a:solidFill>
                  <a:srgbClr val="0A0A0A"/>
                </a:solidFill>
                <a:highlight>
                  <a:srgbClr val="FFFFFF"/>
                </a:highlight>
                <a:latin typeface="Calibri" panose="020F0502020204030204" pitchFamily="34" charset="0"/>
                <a:ea typeface="Calibri" panose="020F0502020204030204" pitchFamily="34" charset="0"/>
                <a:cs typeface="Calibri" panose="020F0502020204030204" pitchFamily="34" charset="0"/>
                <a:sym typeface="Arial"/>
              </a:rPr>
              <a:t>: </a:t>
            </a:r>
          </a:p>
          <a:p>
            <a:pPr marL="0" lvl="0" indent="0">
              <a:spcBef>
                <a:spcPts val="0"/>
              </a:spcBef>
              <a:buNone/>
            </a:pPr>
            <a:r>
              <a:rPr lang="en-US" sz="3500" dirty="0">
                <a:solidFill>
                  <a:srgbClr val="0A0A0A"/>
                </a:solidFill>
                <a:highlight>
                  <a:srgbClr val="FFFFFF"/>
                </a:highlight>
                <a:latin typeface="Calibri" panose="020F0502020204030204" pitchFamily="34" charset="0"/>
                <a:ea typeface="Calibri" panose="020F0502020204030204" pitchFamily="34" charset="0"/>
                <a:cs typeface="Calibri" panose="020F0502020204030204" pitchFamily="34" charset="0"/>
                <a:sym typeface="Arial"/>
              </a:rPr>
              <a:t>Reduces the vast range of pixel values in high-contrast images (like those with very bright skies and dark foregrounds) into a more manageable range, preventing clipping(losing detail in the brightest part in the image resulting in white areas where no data to recover).</a:t>
            </a:r>
          </a:p>
          <a:p>
            <a:pPr marL="0" lvl="0" indent="0">
              <a:spcBef>
                <a:spcPts val="0"/>
              </a:spcBef>
              <a:buNone/>
            </a:pPr>
            <a:endParaRPr lang="en-US" sz="3500" dirty="0">
              <a:solidFill>
                <a:srgbClr val="0A0A0A"/>
              </a:solidFill>
              <a:highlight>
                <a:srgbClr val="FFFFFF"/>
              </a:highlight>
              <a:latin typeface="Calibri" panose="020F0502020204030204" pitchFamily="34" charset="0"/>
              <a:ea typeface="Calibri" panose="020F0502020204030204" pitchFamily="34" charset="0"/>
              <a:cs typeface="Calibri" panose="020F0502020204030204" pitchFamily="34" charset="0"/>
              <a:sym typeface="Arial"/>
            </a:endParaRPr>
          </a:p>
          <a:p>
            <a:pPr marL="0" lvl="0" indent="0">
              <a:spcBef>
                <a:spcPts val="0"/>
              </a:spcBef>
              <a:buNone/>
            </a:pPr>
            <a:r>
              <a:rPr lang="en-US" sz="3300" dirty="0">
                <a:highlight>
                  <a:srgbClr val="FFFFFF"/>
                </a:highlight>
              </a:rPr>
              <a:t>Dynamic range refers to the ratio of max and min intensity values. When the dynamic range of the image is greater than that of displaying device, the lower values are suppressed. To overcome this issue, we use log transform. Log transformation first compresses the dynamic range and then upscales the image to a dynamic range of the display device. In this way, lower values are enhanced and thus the image shows significantly more details.</a:t>
            </a:r>
            <a:endParaRPr sz="3300" dirty="0"/>
          </a:p>
          <a:p>
            <a:pPr marL="342900" lvl="0" indent="-139700" algn="l" rtl="0">
              <a:spcBef>
                <a:spcPts val="640"/>
              </a:spcBef>
              <a:spcAft>
                <a:spcPts val="0"/>
              </a:spcAft>
              <a:buClr>
                <a:schemeClr val="dk1"/>
              </a:buClr>
              <a:buSzPts val="3200"/>
              <a:buNone/>
            </a:pPr>
            <a:endParaRPr sz="3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g3b7c075f3d6_0_1"/>
          <p:cNvSpPr txBox="1">
            <a:spLocks noGrp="1"/>
          </p:cNvSpPr>
          <p:nvPr>
            <p:ph type="body" idx="4294967295"/>
          </p:nvPr>
        </p:nvSpPr>
        <p:spPr>
          <a:xfrm>
            <a:off x="0" y="1600200"/>
            <a:ext cx="8229600" cy="4525963"/>
          </a:xfrm>
          <a:prstGeom prst="rect">
            <a:avLst/>
          </a:prstGeom>
        </p:spPr>
        <p:txBody>
          <a:bodyPr spcFirstLastPara="1" wrap="square" lIns="91425" tIns="45700" rIns="91425" bIns="45700" anchor="t" anchorCtr="0">
            <a:normAutofit fontScale="25000" lnSpcReduction="20000"/>
          </a:bodyPr>
          <a:lstStyle/>
          <a:p>
            <a:pPr marL="457200" lvl="0" indent="-389061" algn="l" rtl="0">
              <a:lnSpc>
                <a:spcPct val="150000"/>
              </a:lnSpc>
              <a:spcBef>
                <a:spcPts val="0"/>
              </a:spcBef>
              <a:spcAft>
                <a:spcPts val="0"/>
              </a:spcAft>
              <a:buClr>
                <a:srgbClr val="0A0A0A"/>
              </a:buClr>
              <a:buSzPct val="100000"/>
              <a:buChar char="●"/>
            </a:pPr>
            <a:r>
              <a:rPr lang="en-US" sz="10107" b="1" u="sng" dirty="0">
                <a:solidFill>
                  <a:schemeClr val="tx1"/>
                </a:solidFill>
                <a:highlight>
                  <a:srgbClr val="FFFFFF"/>
                </a:highlight>
                <a:latin typeface="Arial"/>
                <a:ea typeface="Arial"/>
                <a:cs typeface="Arial"/>
                <a:sym typeface="Arial"/>
              </a:rPr>
              <a:t>Satellite and Arial Imaging</a:t>
            </a:r>
            <a:r>
              <a:rPr lang="en-US" sz="10107" dirty="0">
                <a:solidFill>
                  <a:srgbClr val="0A0A0A"/>
                </a:solidFill>
                <a:highlight>
                  <a:srgbClr val="FFFFFF"/>
                </a:highlight>
                <a:latin typeface="Arial"/>
                <a:ea typeface="Arial"/>
                <a:cs typeface="Arial"/>
                <a:sym typeface="Arial"/>
              </a:rPr>
              <a:t>: Improves the visual quality of terrains and objects in images captured from space or aircraft, where lighting conditions vary greatly. </a:t>
            </a:r>
          </a:p>
          <a:p>
            <a:pPr indent="-389061">
              <a:lnSpc>
                <a:spcPct val="150000"/>
              </a:lnSpc>
              <a:spcBef>
                <a:spcPts val="0"/>
              </a:spcBef>
              <a:buClr>
                <a:srgbClr val="0A0A0A"/>
              </a:buClr>
              <a:buSzPct val="100000"/>
              <a:buFont typeface="Arial"/>
              <a:buChar char="●"/>
            </a:pPr>
            <a:r>
              <a:rPr lang="en-US" sz="10100" b="1" u="sng" dirty="0">
                <a:solidFill>
                  <a:srgbClr val="0A0A0A"/>
                </a:solidFill>
                <a:highlight>
                  <a:srgbClr val="FFFFFF"/>
                </a:highlight>
                <a:latin typeface="Arial"/>
                <a:ea typeface="Arial"/>
                <a:cs typeface="Arial"/>
                <a:sym typeface="Arial"/>
              </a:rPr>
              <a:t>Medical Image Scanning</a:t>
            </a:r>
            <a:r>
              <a:rPr lang="en-US" sz="10100" dirty="0">
                <a:solidFill>
                  <a:srgbClr val="0A0A0A"/>
                </a:solidFill>
                <a:highlight>
                  <a:srgbClr val="FFFFFF"/>
                </a:highlight>
                <a:latin typeface="Arial"/>
                <a:ea typeface="Arial"/>
                <a:cs typeface="Arial"/>
                <a:sym typeface="Arial"/>
              </a:rPr>
              <a:t>: Enhances contrast in X-rays, CT scans, and MRI images, highlighting subtle tissue differences.</a:t>
            </a:r>
          </a:p>
          <a:p>
            <a:pPr marL="457200" lvl="0" indent="-389061" algn="l" rtl="0">
              <a:lnSpc>
                <a:spcPct val="150000"/>
              </a:lnSpc>
              <a:spcBef>
                <a:spcPts val="0"/>
              </a:spcBef>
              <a:spcAft>
                <a:spcPts val="0"/>
              </a:spcAft>
              <a:buClr>
                <a:srgbClr val="0A0A0A"/>
              </a:buClr>
              <a:buSzPct val="100000"/>
              <a:buChar char="●"/>
            </a:pPr>
            <a:endParaRPr lang="en-US" sz="10107" dirty="0">
              <a:solidFill>
                <a:srgbClr val="0A0A0A"/>
              </a:solidFill>
              <a:highlight>
                <a:srgbClr val="FFFFFF"/>
              </a:highlight>
              <a:latin typeface="Arial"/>
              <a:ea typeface="Arial"/>
              <a:cs typeface="Arial"/>
              <a:sym typeface="Arial"/>
            </a:endParaRPr>
          </a:p>
          <a:p>
            <a:pPr marL="457200" lvl="0" indent="-389061" algn="l" rtl="0">
              <a:lnSpc>
                <a:spcPct val="150000"/>
              </a:lnSpc>
              <a:spcBef>
                <a:spcPts val="0"/>
              </a:spcBef>
              <a:spcAft>
                <a:spcPts val="0"/>
              </a:spcAft>
              <a:buClr>
                <a:srgbClr val="0A0A0A"/>
              </a:buClr>
              <a:buSzPct val="100000"/>
              <a:buChar char="●"/>
            </a:pPr>
            <a:endParaRPr sz="10107" dirty="0">
              <a:solidFill>
                <a:srgbClr val="0A0A0A"/>
              </a:solidFill>
              <a:highlight>
                <a:srgbClr val="FFFFFF"/>
              </a:highlight>
              <a:latin typeface="Arial"/>
              <a:ea typeface="Arial"/>
              <a:cs typeface="Arial"/>
              <a:sym typeface="Arial"/>
            </a:endParaRPr>
          </a:p>
          <a:p>
            <a:pPr marL="0" lvl="0" indent="0" algn="l" rtl="0">
              <a:spcBef>
                <a:spcPts val="2400"/>
              </a:spcBef>
              <a:spcAft>
                <a:spcPts val="0"/>
              </a:spcAft>
              <a:buClr>
                <a:schemeClr val="dk1"/>
              </a:buClr>
              <a:buSzPct val="100000"/>
              <a:buFont typeface="Arial"/>
              <a:buNone/>
            </a:pPr>
            <a:endParaRPr dirty="0"/>
          </a:p>
          <a:p>
            <a:pPr marL="342900" lvl="0" indent="-139700" algn="l" rtl="0">
              <a:spcBef>
                <a:spcPts val="640"/>
              </a:spcBef>
              <a:spcAft>
                <a:spcPts val="0"/>
              </a:spcAft>
              <a:buClr>
                <a:schemeClr val="dk1"/>
              </a:buClr>
              <a:buSzPct val="100000"/>
              <a:buFont typeface="Arial"/>
              <a:buNone/>
            </a:pPr>
            <a:endParaRPr dirty="0"/>
          </a:p>
          <a:p>
            <a:pPr marL="0" lvl="0" indent="0" algn="l" rtl="0">
              <a:spcBef>
                <a:spcPts val="360"/>
              </a:spcBef>
              <a:spcAft>
                <a:spcPts val="0"/>
              </a:spcAft>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pic>
        <p:nvPicPr>
          <p:cNvPr id="188" name="Google Shape;188;p15"/>
          <p:cNvPicPr preferRelativeResize="0">
            <a:picLocks noGrp="1"/>
          </p:cNvPicPr>
          <p:nvPr>
            <p:ph type="body" idx="1"/>
          </p:nvPr>
        </p:nvPicPr>
        <p:blipFill rotWithShape="1">
          <a:blip r:embed="rId3">
            <a:alphaModFix/>
          </a:blip>
          <a:srcRect/>
          <a:stretch/>
        </p:blipFill>
        <p:spPr>
          <a:xfrm>
            <a:off x="457200" y="1600200"/>
            <a:ext cx="8579295" cy="50691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63EA-573E-BDE7-87AE-9DED9C4066D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3A8E429-5BA3-3F27-8F37-25F79FC11F0E}"/>
              </a:ext>
            </a:extLst>
          </p:cNvPr>
          <p:cNvSpPr>
            <a:spLocks noGrp="1"/>
          </p:cNvSpPr>
          <p:nvPr>
            <p:ph type="body" idx="1"/>
          </p:nvPr>
        </p:nvSpPr>
        <p:spPr/>
        <p:txBody>
          <a:bodyPr/>
          <a:lstStyle/>
          <a:p>
            <a:r>
              <a:rPr lang="en-US" dirty="0"/>
              <a:t>Log gone wrong -  if most of the details are present in the high pixel values, then applying the log transform results in the loss of information</a:t>
            </a:r>
            <a:endParaRPr lang="en-IN" dirty="0"/>
          </a:p>
        </p:txBody>
      </p:sp>
    </p:spTree>
    <p:extLst>
      <p:ext uri="{BB962C8B-B14F-4D97-AF65-F5344CB8AC3E}">
        <p14:creationId xmlns:p14="http://schemas.microsoft.com/office/powerpoint/2010/main" val="3084742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F95004-0EE5-8019-1C6F-B5634B922B5E}"/>
              </a:ext>
            </a:extLst>
          </p:cNvPr>
          <p:cNvPicPr>
            <a:picLocks noChangeAspect="1"/>
          </p:cNvPicPr>
          <p:nvPr/>
        </p:nvPicPr>
        <p:blipFill>
          <a:blip r:embed="rId2"/>
          <a:stretch>
            <a:fillRect/>
          </a:stretch>
        </p:blipFill>
        <p:spPr>
          <a:xfrm>
            <a:off x="4750903" y="1838739"/>
            <a:ext cx="3935897" cy="3779354"/>
          </a:xfrm>
          <a:prstGeom prst="rect">
            <a:avLst/>
          </a:prstGeom>
        </p:spPr>
      </p:pic>
      <p:sp>
        <p:nvSpPr>
          <p:cNvPr id="5" name="Title 4">
            <a:extLst>
              <a:ext uri="{FF2B5EF4-FFF2-40B4-BE49-F238E27FC236}">
                <a16:creationId xmlns:a16="http://schemas.microsoft.com/office/drawing/2014/main" id="{04CCE96A-4D92-7D38-1C83-21FEFC47C4EA}"/>
              </a:ext>
            </a:extLst>
          </p:cNvPr>
          <p:cNvSpPr>
            <a:spLocks noGrp="1"/>
          </p:cNvSpPr>
          <p:nvPr>
            <p:ph type="title"/>
          </p:nvPr>
        </p:nvSpPr>
        <p:spPr>
          <a:xfrm>
            <a:off x="457200" y="274638"/>
            <a:ext cx="8229600" cy="817492"/>
          </a:xfrm>
        </p:spPr>
        <p:txBody>
          <a:bodyPr>
            <a:normAutofit/>
          </a:bodyPr>
          <a:lstStyle/>
          <a:p>
            <a:endParaRPr lang="en-IN" dirty="0"/>
          </a:p>
        </p:txBody>
      </p:sp>
      <p:pic>
        <p:nvPicPr>
          <p:cNvPr id="10" name="Picture 9">
            <a:extLst>
              <a:ext uri="{FF2B5EF4-FFF2-40B4-BE49-F238E27FC236}">
                <a16:creationId xmlns:a16="http://schemas.microsoft.com/office/drawing/2014/main" id="{A8DAC190-D65B-C63E-A729-8BEECFB60516}"/>
              </a:ext>
            </a:extLst>
          </p:cNvPr>
          <p:cNvPicPr>
            <a:picLocks noChangeAspect="1"/>
          </p:cNvPicPr>
          <p:nvPr/>
        </p:nvPicPr>
        <p:blipFill>
          <a:blip r:embed="rId3"/>
          <a:stretch>
            <a:fillRect/>
          </a:stretch>
        </p:blipFill>
        <p:spPr>
          <a:xfrm>
            <a:off x="457201" y="1922498"/>
            <a:ext cx="4114800" cy="3695595"/>
          </a:xfrm>
          <a:prstGeom prst="rect">
            <a:avLst/>
          </a:prstGeom>
        </p:spPr>
      </p:pic>
      <p:sp>
        <p:nvSpPr>
          <p:cNvPr id="6" name="Text Placeholder 5">
            <a:extLst>
              <a:ext uri="{FF2B5EF4-FFF2-40B4-BE49-F238E27FC236}">
                <a16:creationId xmlns:a16="http://schemas.microsoft.com/office/drawing/2014/main" id="{13AC1F8F-BBBE-9B33-D2EB-4DEC3A32ED18}"/>
              </a:ext>
            </a:extLst>
          </p:cNvPr>
          <p:cNvSpPr>
            <a:spLocks noGrp="1"/>
          </p:cNvSpPr>
          <p:nvPr>
            <p:ph type="body" idx="1"/>
          </p:nvPr>
        </p:nvSpPr>
        <p:spPr/>
        <p:txBody>
          <a:bodyPr/>
          <a:lstStyle/>
          <a:p>
            <a:pPr marL="50800" indent="0">
              <a:buNone/>
            </a:pPr>
            <a:r>
              <a:rPr lang="en-US" dirty="0"/>
              <a:t>AFTER</a:t>
            </a:r>
            <a:endParaRPr lang="en-IN" dirty="0"/>
          </a:p>
        </p:txBody>
      </p:sp>
      <p:sp>
        <p:nvSpPr>
          <p:cNvPr id="7" name="Text Placeholder 6">
            <a:extLst>
              <a:ext uri="{FF2B5EF4-FFF2-40B4-BE49-F238E27FC236}">
                <a16:creationId xmlns:a16="http://schemas.microsoft.com/office/drawing/2014/main" id="{F663AED6-7B03-9C12-40F8-F25F3EAA3D8A}"/>
              </a:ext>
            </a:extLst>
          </p:cNvPr>
          <p:cNvSpPr>
            <a:spLocks noGrp="1"/>
          </p:cNvSpPr>
          <p:nvPr>
            <p:ph type="body" idx="2"/>
          </p:nvPr>
        </p:nvSpPr>
        <p:spPr/>
        <p:txBody>
          <a:bodyPr/>
          <a:lstStyle/>
          <a:p>
            <a:pPr marL="50800" indent="0">
              <a:buNone/>
            </a:pPr>
            <a:r>
              <a:rPr lang="en-US" dirty="0"/>
              <a:t>BEFORE</a:t>
            </a:r>
            <a:endParaRPr lang="en-IN" dirty="0"/>
          </a:p>
        </p:txBody>
      </p:sp>
    </p:spTree>
    <p:extLst>
      <p:ext uri="{BB962C8B-B14F-4D97-AF65-F5344CB8AC3E}">
        <p14:creationId xmlns:p14="http://schemas.microsoft.com/office/powerpoint/2010/main" val="2264044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Negative Vs Log</a:t>
            </a:r>
            <a:endParaRPr dirty="0"/>
          </a:p>
        </p:txBody>
      </p:sp>
      <p:sp>
        <p:nvSpPr>
          <p:cNvPr id="194" name="Google Shape;194;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Negative inverts the image (enhancing dark details)</a:t>
            </a:r>
            <a:endParaRPr dirty="0"/>
          </a:p>
          <a:p>
            <a:pPr marL="342900" lvl="0" indent="-342900" algn="l" rtl="0">
              <a:spcBef>
                <a:spcPts val="640"/>
              </a:spcBef>
              <a:spcAft>
                <a:spcPts val="0"/>
              </a:spcAft>
              <a:buClr>
                <a:schemeClr val="dk1"/>
              </a:buClr>
              <a:buSzPts val="3200"/>
              <a:buChar char="•"/>
            </a:pPr>
            <a:r>
              <a:rPr lang="en-US" dirty="0"/>
              <a:t> Log expands darks while compressing brights </a:t>
            </a:r>
            <a:r>
              <a:rPr lang="en-US" dirty="0" err="1"/>
              <a:t>i.e</a:t>
            </a:r>
            <a:r>
              <a:rPr lang="en-US" dirty="0"/>
              <a:t> maps a narrow range of low-intensity values in the input image to a much wider range of output levels (great for low-contrast, high-dynamic-range images)</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1034</Words>
  <Application>Microsoft Office PowerPoint</Application>
  <PresentationFormat>On-screen Show (4:3)</PresentationFormat>
  <Paragraphs>85</Paragraphs>
  <Slides>21</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Image Enhancement</vt:lpstr>
      <vt:lpstr>Image Enhancement - Spatial Domain </vt:lpstr>
      <vt:lpstr>Image Enhancement - Spatial Domain </vt:lpstr>
      <vt:lpstr>Gray-Level Transformations - Linear </vt:lpstr>
      <vt:lpstr>PowerPoint Presentation</vt:lpstr>
      <vt:lpstr>PowerPoint Presentation</vt:lpstr>
      <vt:lpstr>PowerPoint Presentation</vt:lpstr>
      <vt:lpstr>PowerPoint Presentation</vt:lpstr>
      <vt:lpstr>PowerPoint Presentation</vt:lpstr>
      <vt:lpstr>PowerPoint Presentation</vt:lpstr>
      <vt:lpstr>Gray-Level Transformations - LOGARITHMIC</vt:lpstr>
      <vt:lpstr>Gray-Level Transformations - LOGARITHMIC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Negative Vs Log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manjiri shirsat</cp:lastModifiedBy>
  <cp:revision>14</cp:revision>
  <dcterms:created xsi:type="dcterms:W3CDTF">2026-01-03T05:30:27Z</dcterms:created>
  <dcterms:modified xsi:type="dcterms:W3CDTF">2026-01-13T02:11:33Z</dcterms:modified>
</cp:coreProperties>
</file>