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57" r:id="rId7"/>
    <p:sldId id="267" r:id="rId8"/>
    <p:sldId id="258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71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99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473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40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22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60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73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20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22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4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51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C086D-476B-422C-8A76-DDAEF8D0108D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D351D-466B-472E-9057-82FAE103A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1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Eg</a:t>
            </a:r>
            <a:r>
              <a:rPr lang="en-US" dirty="0"/>
              <a:t>: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  <p:pic>
        <p:nvPicPr>
          <p:cNvPr id="1026" name="Picture 2" descr="C:\Users\Admin\Documents\Image Processing\Chapter 2\ChatGPT Image Jan 4, 2026, 06_17_18 P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577236"/>
            <a:ext cx="2977866" cy="255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dmin\Documents\Image Processing\Chapter 2\ChatGPT Image Jan 4, 2026, 06_12_06 PM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03250"/>
            <a:ext cx="3744416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12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2" y="1905794"/>
            <a:ext cx="5400675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272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Sampling and </a:t>
            </a:r>
            <a:r>
              <a:rPr lang="en-US" sz="2800" b="1" dirty="0" err="1"/>
              <a:t>Quantisation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What is Image Sampling?</a:t>
            </a:r>
          </a:p>
          <a:p>
            <a:pPr marL="400050" lvl="1" indent="0" fontAlgn="base">
              <a:buNone/>
            </a:pPr>
            <a:r>
              <a:rPr lang="en-US" dirty="0"/>
              <a:t>Image sampling is the process of converting a continuous image (analog) into a discrete image (digital) by selecting specific points from the continuous image. This involves measuring the image at regular intervals and recording the intensity (brightness) values at those points.</a:t>
            </a:r>
          </a:p>
          <a:p>
            <a:pPr marL="0" indent="0" fontAlgn="base">
              <a:buNone/>
            </a:pPr>
            <a:r>
              <a:rPr lang="en-US" b="1" dirty="0"/>
              <a:t>How Image Sampling Works?</a:t>
            </a:r>
          </a:p>
          <a:p>
            <a:pPr lvl="1" fontAlgn="base"/>
            <a:r>
              <a:rPr lang="en-US" b="1" dirty="0"/>
              <a:t>Grid Overlay: </a:t>
            </a:r>
            <a:r>
              <a:rPr lang="en-US" dirty="0"/>
              <a:t>A grid is placed over the continuous image, dividing it into small, regular sections.</a:t>
            </a:r>
          </a:p>
          <a:p>
            <a:pPr lvl="1" fontAlgn="base"/>
            <a:r>
              <a:rPr lang="en-US" b="1" dirty="0"/>
              <a:t>Pixel Selection: </a:t>
            </a:r>
            <a:r>
              <a:rPr lang="en-US" dirty="0"/>
              <a:t>At each intersection of the grid lines, a sample point (pixel) is chosen.</a:t>
            </a:r>
          </a:p>
          <a:p>
            <a:pPr lvl="2" fontAlgn="base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550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fontAlgn="base">
              <a:buNone/>
            </a:pPr>
            <a:r>
              <a:rPr lang="en-US" sz="5800" b="1" dirty="0"/>
              <a:t>Image Sampling:</a:t>
            </a:r>
          </a:p>
          <a:p>
            <a:pPr marL="400050" lvl="1" indent="0" fontAlgn="base">
              <a:buNone/>
            </a:pPr>
            <a:r>
              <a:rPr lang="en-US" sz="5800" b="1" dirty="0"/>
              <a:t>Advantages:</a:t>
            </a:r>
            <a:endParaRPr lang="en-US" sz="5800" dirty="0"/>
          </a:p>
          <a:p>
            <a:pPr marL="400050" lvl="1" indent="0" fontAlgn="base">
              <a:buNone/>
            </a:pPr>
            <a:r>
              <a:rPr lang="en-US" sz="5800" b="1" dirty="0"/>
              <a:t>Data Reduction:</a:t>
            </a:r>
            <a:r>
              <a:rPr lang="en-US" sz="5800" dirty="0"/>
              <a:t> Converts a continuous signal into a finite set of points, making storage and processing more manageable.</a:t>
            </a:r>
          </a:p>
          <a:p>
            <a:pPr marL="400050" lvl="1" indent="0" fontAlgn="base">
              <a:buNone/>
            </a:pPr>
            <a:r>
              <a:rPr lang="en-US" sz="5800" b="1" dirty="0"/>
              <a:t>Compatibility:</a:t>
            </a:r>
            <a:r>
              <a:rPr lang="en-US" sz="5800" dirty="0"/>
              <a:t> Sampled images are easily processed by digital systems and algorithms.</a:t>
            </a:r>
          </a:p>
          <a:p>
            <a:pPr marL="400050" lvl="1" indent="0" fontAlgn="base">
              <a:buNone/>
            </a:pPr>
            <a:r>
              <a:rPr lang="en-US" sz="5800" b="1" dirty="0"/>
              <a:t>Resolution Control:</a:t>
            </a:r>
            <a:r>
              <a:rPr lang="en-US" sz="5800" dirty="0"/>
              <a:t> Allows for control over image resolution by adjusting the sampling rate.</a:t>
            </a:r>
          </a:p>
          <a:p>
            <a:pPr marL="400050" lvl="1" indent="0" fontAlgn="base">
              <a:buNone/>
            </a:pPr>
            <a:endParaRPr lang="en-US" sz="5800" dirty="0"/>
          </a:p>
        </p:txBody>
      </p:sp>
    </p:spTree>
    <p:extLst>
      <p:ext uri="{BB962C8B-B14F-4D97-AF65-F5344CB8AC3E}">
        <p14:creationId xmlns:p14="http://schemas.microsoft.com/office/powerpoint/2010/main" val="3062028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400050" lvl="1" indent="0" fontAlgn="base">
              <a:buNone/>
            </a:pPr>
            <a:r>
              <a:rPr lang="en-US" sz="5800" b="1" dirty="0"/>
              <a:t>Image Sampling</a:t>
            </a:r>
          </a:p>
          <a:p>
            <a:pPr marL="400050" lvl="1" indent="0" fontAlgn="base">
              <a:buNone/>
            </a:pPr>
            <a:endParaRPr lang="en-US" sz="5800" b="1" dirty="0"/>
          </a:p>
          <a:p>
            <a:pPr marL="400050" lvl="1" indent="0" fontAlgn="base">
              <a:buNone/>
            </a:pPr>
            <a:r>
              <a:rPr lang="en-US" sz="5800" b="1" dirty="0"/>
              <a:t>Disadvantages:</a:t>
            </a:r>
            <a:endParaRPr lang="en-US" sz="5800" dirty="0"/>
          </a:p>
          <a:p>
            <a:pPr marL="400050" lvl="1" indent="0" fontAlgn="base">
              <a:buNone/>
            </a:pPr>
            <a:r>
              <a:rPr lang="en-US" sz="5800" b="1" dirty="0"/>
              <a:t>Information Loss:</a:t>
            </a:r>
            <a:r>
              <a:rPr lang="en-US" sz="5800" dirty="0"/>
              <a:t> Inevitably loses some information by approximating a continuous signal.</a:t>
            </a:r>
          </a:p>
          <a:p>
            <a:pPr marL="400050" lvl="1" indent="0" fontAlgn="base">
              <a:buNone/>
            </a:pPr>
            <a:r>
              <a:rPr lang="en-US" sz="5800" b="1" dirty="0"/>
              <a:t>Aliasing:</a:t>
            </a:r>
            <a:r>
              <a:rPr lang="en-US" sz="5800" dirty="0"/>
              <a:t> Can cause distortions and artifacts if the sampling rate is too low.</a:t>
            </a:r>
          </a:p>
          <a:p>
            <a:pPr marL="400050" lvl="1" indent="0" fontAlgn="base">
              <a:buNone/>
            </a:pPr>
            <a:r>
              <a:rPr lang="en-US" sz="5800" b="1" dirty="0"/>
              <a:t>Computationally Intensive:</a:t>
            </a:r>
            <a:r>
              <a:rPr lang="en-US" sz="5800" dirty="0"/>
              <a:t> High-resolution sampling demands significant computational resources and storage space.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97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Sampling and Quantization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sz="4100" b="1" dirty="0"/>
              <a:t>What is Image Quantization?</a:t>
            </a:r>
          </a:p>
          <a:p>
            <a:pPr marL="400050" lvl="1" indent="0" fontAlgn="base">
              <a:buNone/>
            </a:pPr>
            <a:r>
              <a:rPr lang="en-US" sz="4100" dirty="0"/>
              <a:t>Image quantization is the process of converting the continuous range of pixel values (intensities) into a limited set of discrete values.</a:t>
            </a:r>
            <a:r>
              <a:rPr lang="en-US" sz="4100" b="1" dirty="0"/>
              <a:t> </a:t>
            </a:r>
            <a:r>
              <a:rPr lang="en-US" sz="4100" dirty="0"/>
              <a:t>This step follows sampling and reduces the precision of the sampled values to a manageable level for digital representation.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35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102A-E754-D333-07E9-33DDAA0F8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15172-049B-E392-C84D-B0A7B3DE8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US" sz="4100" b="1" dirty="0"/>
              <a:t>How Image Quantization Works?</a:t>
            </a:r>
          </a:p>
          <a:p>
            <a:pPr marL="857250" lvl="1" indent="-457200" fontAlgn="base"/>
            <a:r>
              <a:rPr lang="en-US" sz="4100" b="1" dirty="0"/>
              <a:t>Value Range Definition: </a:t>
            </a:r>
            <a:r>
              <a:rPr lang="en-US" sz="4100" dirty="0"/>
              <a:t>The continuous range of pixel values is divided into a finite number of intervals or levels.</a:t>
            </a:r>
          </a:p>
          <a:p>
            <a:pPr marL="857250" lvl="1" indent="-457200" fontAlgn="base"/>
            <a:r>
              <a:rPr lang="en-US" sz="4100" b="1" dirty="0"/>
              <a:t>Mapping Intensities: </a:t>
            </a:r>
            <a:r>
              <a:rPr lang="en-US" sz="4100" dirty="0"/>
              <a:t>Each sampled pixel intensity is mapped to the nearest interval value.</a:t>
            </a:r>
          </a:p>
          <a:p>
            <a:pPr marL="857250" lvl="1" indent="-457200" fontAlgn="base"/>
            <a:r>
              <a:rPr lang="en-US" sz="4100" b="1" dirty="0"/>
              <a:t>Assigning Discrete Values: </a:t>
            </a:r>
            <a:r>
              <a:rPr lang="en-US" sz="4100" dirty="0"/>
              <a:t>The original continuous intensity values are replaced by the discrete values corresponding to the intervals.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9697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Image Quantization:</a:t>
            </a:r>
          </a:p>
          <a:p>
            <a:pPr marL="400050" lvl="1" indent="0" fontAlgn="base">
              <a:buNone/>
            </a:pPr>
            <a:r>
              <a:rPr lang="en-US" b="1" dirty="0"/>
              <a:t>Advantages:</a:t>
            </a:r>
            <a:endParaRPr lang="en-US" dirty="0"/>
          </a:p>
          <a:p>
            <a:pPr marL="400050" lvl="1" indent="0" fontAlgn="base">
              <a:buNone/>
            </a:pPr>
            <a:r>
              <a:rPr lang="en-US" b="1" dirty="0"/>
              <a:t>Data Compression:</a:t>
            </a:r>
            <a:r>
              <a:rPr lang="en-US" dirty="0"/>
              <a:t> Reduces the amount of data by limiting the number of possible values for each pixel.</a:t>
            </a:r>
          </a:p>
          <a:p>
            <a:pPr marL="400050" lvl="1" indent="0" fontAlgn="base">
              <a:buNone/>
            </a:pPr>
            <a:r>
              <a:rPr lang="en-US" b="1" dirty="0"/>
              <a:t>Simplified Processing:</a:t>
            </a:r>
            <a:r>
              <a:rPr lang="en-US" dirty="0"/>
              <a:t> Makes image processing operations simpler and faster with fewer distinct values.</a:t>
            </a:r>
          </a:p>
          <a:p>
            <a:pPr marL="400050" lvl="1" indent="0" fontAlgn="base">
              <a:buNone/>
            </a:pPr>
            <a:r>
              <a:rPr lang="en-US" b="1" dirty="0"/>
              <a:t>Noise Reduction:</a:t>
            </a:r>
            <a:r>
              <a:rPr lang="en-US" dirty="0"/>
              <a:t> Helps reduce the impact of noise by mapping small variations in intensity to the same value.</a:t>
            </a:r>
          </a:p>
          <a:p>
            <a:pPr marL="400050" lvl="1" indent="0" fontAlgn="base">
              <a:buNone/>
            </a:pPr>
            <a:endParaRPr lang="en-US" dirty="0"/>
          </a:p>
          <a:p>
            <a:pPr marL="40005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557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Image Quantization: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59438" y="2276872"/>
            <a:ext cx="761296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 indent="0" fontAlgn="base">
              <a:buNone/>
            </a:pPr>
            <a:r>
              <a:rPr lang="en-US" sz="2400" b="1" dirty="0"/>
              <a:t>Disadvantages:</a:t>
            </a:r>
            <a:endParaRPr lang="en-US" sz="2400" dirty="0"/>
          </a:p>
          <a:p>
            <a:pPr marL="400050" lvl="1" indent="0" fontAlgn="base">
              <a:buNone/>
            </a:pPr>
            <a:r>
              <a:rPr lang="en-US" sz="2400" b="1" dirty="0"/>
              <a:t>Loss of Detail:</a:t>
            </a:r>
            <a:r>
              <a:rPr lang="en-US" sz="2400" dirty="0"/>
              <a:t> Reduces the range of colors or intensity levels, leading to a loss of fine detail and potential color banding.</a:t>
            </a:r>
          </a:p>
          <a:p>
            <a:pPr marL="400050" lvl="1" indent="0" fontAlgn="base">
              <a:buNone/>
            </a:pPr>
            <a:r>
              <a:rPr lang="en-US" sz="2400" b="1" dirty="0"/>
              <a:t>Quantization Error:</a:t>
            </a:r>
            <a:r>
              <a:rPr lang="en-US" sz="2400" dirty="0"/>
              <a:t> Introduces differences between the original and quantized values, which can become noticeable.</a:t>
            </a:r>
          </a:p>
          <a:p>
            <a:pPr marL="400050" lvl="1" indent="0" fontAlgn="base">
              <a:buNone/>
            </a:pPr>
            <a:r>
              <a:rPr lang="en-US" sz="2400" b="1" dirty="0"/>
              <a:t>Reduced Image Quality:</a:t>
            </a:r>
            <a:r>
              <a:rPr lang="en-US" sz="2400" dirty="0"/>
              <a:t> Overly aggressive quantization can significantly degrade image quality, making the image appear blocky or </a:t>
            </a:r>
            <a:r>
              <a:rPr lang="en-US" sz="2400" dirty="0" err="1"/>
              <a:t>posterized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3506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6. Explain about image sampling and quantization process. | Legend Tech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20888"/>
            <a:ext cx="7776864" cy="3122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721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0835"/>
            <a:ext cx="8229600" cy="3464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4944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442</Words>
  <Application>Microsoft Office PowerPoint</Application>
  <PresentationFormat>On-screen Show (4:3)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Sampling and Quantisation</vt:lpstr>
      <vt:lpstr>PowerPoint Presentation</vt:lpstr>
      <vt:lpstr>PowerPoint Presentation</vt:lpstr>
      <vt:lpstr>Sampling and Quantization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 and Quantization</dc:title>
  <dc:creator>Admin</dc:creator>
  <cp:lastModifiedBy>manjiri shirsat</cp:lastModifiedBy>
  <cp:revision>14</cp:revision>
  <dcterms:created xsi:type="dcterms:W3CDTF">2026-01-03T10:27:27Z</dcterms:created>
  <dcterms:modified xsi:type="dcterms:W3CDTF">2026-01-10T01:22:54Z</dcterms:modified>
</cp:coreProperties>
</file>