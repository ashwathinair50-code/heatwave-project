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58" r:id="rId5"/>
    <p:sldId id="265" r:id="rId6"/>
    <p:sldId id="266" r:id="rId7"/>
    <p:sldId id="259"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varScale="1">
        <p:scale>
          <a:sx n="83" d="100"/>
          <a:sy n="83" d="100"/>
        </p:scale>
        <p:origin x="-658" y="-77"/>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D03FD8-D33C-EA25-4187-3D72C46E43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96ABF71B-0C98-8515-5AF5-9BD339981C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E3D684B8-7CEB-07A6-2A10-E7910A91FD92}"/>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5" name="Footer Placeholder 4">
            <a:extLst>
              <a:ext uri="{FF2B5EF4-FFF2-40B4-BE49-F238E27FC236}">
                <a16:creationId xmlns="" xmlns:a16="http://schemas.microsoft.com/office/drawing/2014/main" id="{F53C0E48-AB50-72CF-0037-A8E2F8FE63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4206651-24DA-83B3-9F35-3DEBF2B3B663}"/>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1288422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53C10B-52B8-8039-9551-0596B9CC5C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94F6A67-4C09-BAB5-8D2E-DF3402CF4F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EBD8B44-29D9-EE33-2247-A66AF7A91637}"/>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5" name="Footer Placeholder 4">
            <a:extLst>
              <a:ext uri="{FF2B5EF4-FFF2-40B4-BE49-F238E27FC236}">
                <a16:creationId xmlns="" xmlns:a16="http://schemas.microsoft.com/office/drawing/2014/main" id="{01E98163-7C73-993C-74A3-AA5B6F4E71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EA022C9-858E-9280-C23C-48BABEC06E09}"/>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358546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DC601D-2F5F-7BD3-962C-9CD13083E4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D754368-EA80-245E-7C75-CC61A92A64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A6B8F6E2-10EA-3CCA-4C60-0384329C4132}"/>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5" name="Footer Placeholder 4">
            <a:extLst>
              <a:ext uri="{FF2B5EF4-FFF2-40B4-BE49-F238E27FC236}">
                <a16:creationId xmlns="" xmlns:a16="http://schemas.microsoft.com/office/drawing/2014/main" id="{111F2D2C-46E6-B4BD-9AEA-C079A9385E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30E10E0-4508-BB6A-4E37-5DFD68194A4B}"/>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1828884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C1324F-380D-862E-D331-41F008EC8B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E5686E43-AF98-4138-B515-79C5D4BC78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B793838F-B9A5-4BED-D464-EC3326E7A4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7565AF3B-D541-23CB-7AF0-0060043B8732}"/>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6" name="Footer Placeholder 5">
            <a:extLst>
              <a:ext uri="{FF2B5EF4-FFF2-40B4-BE49-F238E27FC236}">
                <a16:creationId xmlns="" xmlns:a16="http://schemas.microsoft.com/office/drawing/2014/main" id="{E16D2804-559F-6256-3B0B-370A097D13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91E82CB5-CD66-9C88-7513-2121D0EE7710}"/>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2668348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B4B21B-85B3-D257-5C52-96A8D386C22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79BBF4D-DC1F-BDFD-8807-9EBC527908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0FA8734-759E-6DFA-5EB1-625FD5481F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836C1137-319C-2955-9B9C-6DC8B6CEB5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8F62C2D-80C9-4E2C-1F61-07CC57907F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0C7279C7-23B5-CE12-05AD-4BD8991A14C9}"/>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8" name="Footer Placeholder 7">
            <a:extLst>
              <a:ext uri="{FF2B5EF4-FFF2-40B4-BE49-F238E27FC236}">
                <a16:creationId xmlns="" xmlns:a16="http://schemas.microsoft.com/office/drawing/2014/main" id="{F081267D-6971-7FDA-F4F7-ED8861464C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AEA8BD30-5489-26D6-A6AD-47E7F600E979}"/>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1787063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0C413C-6C49-CC6D-F02C-CCC7EC129BD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DD7167F2-2B9B-2DD8-0092-61D1C124F509}"/>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4" name="Footer Placeholder 3">
            <a:extLst>
              <a:ext uri="{FF2B5EF4-FFF2-40B4-BE49-F238E27FC236}">
                <a16:creationId xmlns="" xmlns:a16="http://schemas.microsoft.com/office/drawing/2014/main" id="{265D9E44-47C9-AD6A-BE6D-F9396E6B8E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A86BDED5-E042-2F61-0D7C-0A72FEB6E539}"/>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1061434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38F6B4-0FD8-CFF9-B5EA-6F5BDADB72AA}"/>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3" name="Footer Placeholder 2">
            <a:extLst>
              <a:ext uri="{FF2B5EF4-FFF2-40B4-BE49-F238E27FC236}">
                <a16:creationId xmlns="" xmlns:a16="http://schemas.microsoft.com/office/drawing/2014/main" id="{3D99B396-770C-A9A5-BD26-66D7079AFB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A88C7177-DBB5-463E-0438-D9D7B456B047}"/>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3169941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B874585-FDAB-ABD3-716D-3587FFB174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9C0B7C9-FA4A-6E90-CBAD-5309DDC2C0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70559D1A-C0EC-8ABF-ECF3-CDD99A243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6A762A2-3633-1B64-F239-FD884BF503C2}"/>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6" name="Footer Placeholder 5">
            <a:extLst>
              <a:ext uri="{FF2B5EF4-FFF2-40B4-BE49-F238E27FC236}">
                <a16:creationId xmlns="" xmlns:a16="http://schemas.microsoft.com/office/drawing/2014/main" id="{9C4E29BD-7253-F05A-B144-CB8231EFAA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AEEAE109-88D0-0D6B-F875-9ABA19501BE0}"/>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2154999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5A44BC-4BA0-DC37-825A-12B5D453CF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31C3EFCC-8511-2CA3-CFFB-F54805EE20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0583851D-2D2A-F447-E3D0-C2D860B8D9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09DD6D6-6583-8B11-AC4D-892F32FE6186}"/>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6" name="Footer Placeholder 5">
            <a:extLst>
              <a:ext uri="{FF2B5EF4-FFF2-40B4-BE49-F238E27FC236}">
                <a16:creationId xmlns="" xmlns:a16="http://schemas.microsoft.com/office/drawing/2014/main" id="{4B54021B-CA62-FD71-5BA8-A5F5C93946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514ECF62-8A1D-B424-EBF1-D789233B19BD}"/>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2393230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EEA312-4650-F6E8-86DD-9A938BDB1C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65350C4F-72B1-C204-3516-690695F874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A904208-D202-FBEA-C4E7-A73DB50ECE0D}"/>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5" name="Footer Placeholder 4">
            <a:extLst>
              <a:ext uri="{FF2B5EF4-FFF2-40B4-BE49-F238E27FC236}">
                <a16:creationId xmlns="" xmlns:a16="http://schemas.microsoft.com/office/drawing/2014/main" id="{995CB8C7-E38C-733D-7352-AF8DB802A0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6B751BC-52B3-1DCC-0589-E6FBBC8736FA}"/>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3407244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650FE99D-2BAC-AE9E-306C-69864B8BA6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0D29E0D8-0B0C-D175-0F1C-E3076EA455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F2F3182-E530-2762-2D02-9592CDDB3DCE}"/>
              </a:ext>
            </a:extLst>
          </p:cNvPr>
          <p:cNvSpPr>
            <a:spLocks noGrp="1"/>
          </p:cNvSpPr>
          <p:nvPr>
            <p:ph type="dt" sz="half" idx="10"/>
          </p:nvPr>
        </p:nvSpPr>
        <p:spPr/>
        <p:txBody>
          <a:bodyPr/>
          <a:lstStyle/>
          <a:p>
            <a:fld id="{B26E67A4-7877-42B0-B744-342B69EE8700}" type="datetimeFigureOut">
              <a:rPr lang="en-IN" smtClean="0"/>
              <a:pPr/>
              <a:t>28-01-2026</a:t>
            </a:fld>
            <a:endParaRPr lang="en-IN"/>
          </a:p>
        </p:txBody>
      </p:sp>
      <p:sp>
        <p:nvSpPr>
          <p:cNvPr id="5" name="Footer Placeholder 4">
            <a:extLst>
              <a:ext uri="{FF2B5EF4-FFF2-40B4-BE49-F238E27FC236}">
                <a16:creationId xmlns="" xmlns:a16="http://schemas.microsoft.com/office/drawing/2014/main" id="{54569D06-1DE4-3269-2FFD-8B3DF49964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6E53760B-AFDD-B47C-B5DA-C337F2391A7F}"/>
              </a:ext>
            </a:extLst>
          </p:cNvPr>
          <p:cNvSpPr>
            <a:spLocks noGrp="1"/>
          </p:cNvSpPr>
          <p:nvPr>
            <p:ph type="sldNum" sz="quarter" idx="12"/>
          </p:nvPr>
        </p:nvSpPr>
        <p:spPr/>
        <p:txBody>
          <a:body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3845618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EA489D98-C166-D730-F6FC-CAA019FFF9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02F2D9D-8EBC-99C8-FDA9-95F299FA61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0CF8E2B-2C50-FF2B-ABC5-7805440660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6E67A4-7877-42B0-B744-342B69EE8700}" type="datetimeFigureOut">
              <a:rPr lang="en-IN" smtClean="0"/>
              <a:pPr/>
              <a:t>28-01-2026</a:t>
            </a:fld>
            <a:endParaRPr lang="en-IN"/>
          </a:p>
        </p:txBody>
      </p:sp>
      <p:sp>
        <p:nvSpPr>
          <p:cNvPr id="5" name="Footer Placeholder 4">
            <a:extLst>
              <a:ext uri="{FF2B5EF4-FFF2-40B4-BE49-F238E27FC236}">
                <a16:creationId xmlns="" xmlns:a16="http://schemas.microsoft.com/office/drawing/2014/main" id="{EEEF719C-12E4-713D-5EFB-199BE18F86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6DB6BDB1-167D-D0E6-35A2-2B0E23285E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D8466E-F542-48B5-804A-92AA2D9FB096}" type="slidenum">
              <a:rPr lang="en-IN" smtClean="0"/>
              <a:pPr/>
              <a:t>‹#›</a:t>
            </a:fld>
            <a:endParaRPr lang="en-IN"/>
          </a:p>
        </p:txBody>
      </p:sp>
    </p:spTree>
    <p:extLst>
      <p:ext uri="{BB962C8B-B14F-4D97-AF65-F5344CB8AC3E}">
        <p14:creationId xmlns="" xmlns:p14="http://schemas.microsoft.com/office/powerpoint/2010/main" val="1230742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55B9D4-EEFF-11E4-A6D2-D7C70C921B57}"/>
              </a:ext>
            </a:extLst>
          </p:cNvPr>
          <p:cNvSpPr>
            <a:spLocks noGrp="1"/>
          </p:cNvSpPr>
          <p:nvPr>
            <p:ph type="ctrTitle"/>
          </p:nvPr>
        </p:nvSpPr>
        <p:spPr>
          <a:xfrm>
            <a:off x="1524000" y="1122363"/>
            <a:ext cx="9144000" cy="923253"/>
          </a:xfrm>
        </p:spPr>
        <p:txBody>
          <a:bodyPr/>
          <a:lstStyle/>
          <a:p>
            <a:r>
              <a:rPr lang="en-US" dirty="0"/>
              <a:t>Huffman Coding </a:t>
            </a:r>
            <a:endParaRPr lang="en-IN" dirty="0"/>
          </a:p>
        </p:txBody>
      </p:sp>
      <p:sp>
        <p:nvSpPr>
          <p:cNvPr id="3" name="Subtitle 2">
            <a:extLst>
              <a:ext uri="{FF2B5EF4-FFF2-40B4-BE49-F238E27FC236}">
                <a16:creationId xmlns="" xmlns:a16="http://schemas.microsoft.com/office/drawing/2014/main" id="{539DF6F8-A7D6-5A38-C352-41933D584D6F}"/>
              </a:ext>
            </a:extLst>
          </p:cNvPr>
          <p:cNvSpPr>
            <a:spLocks noGrp="1"/>
          </p:cNvSpPr>
          <p:nvPr>
            <p:ph type="subTitle" idx="1"/>
          </p:nvPr>
        </p:nvSpPr>
        <p:spPr>
          <a:xfrm>
            <a:off x="1093509" y="2045615"/>
            <a:ext cx="9574491" cy="4206097"/>
          </a:xfrm>
        </p:spPr>
        <p:txBody>
          <a:bodyPr>
            <a:noAutofit/>
          </a:bodyPr>
          <a:lstStyle/>
          <a:p>
            <a:pPr algn="l"/>
            <a:r>
              <a:rPr lang="en-US" sz="2800" dirty="0"/>
              <a:t>It is one of the most popular techniques for removing coding redundancy.</a:t>
            </a:r>
          </a:p>
          <a:p>
            <a:pPr algn="l"/>
            <a:r>
              <a:rPr lang="en-US" sz="2800" dirty="0"/>
              <a:t>When coding the symbols of an information source individually, Huffman coding yields the smallest possible number of code symbols per source symbol.</a:t>
            </a:r>
          </a:p>
          <a:p>
            <a:pPr algn="l"/>
            <a:r>
              <a:rPr lang="en-US" sz="2800" b="1" dirty="0"/>
              <a:t>Variable-Length Coding:</a:t>
            </a:r>
          </a:p>
          <a:p>
            <a:pPr algn="l"/>
            <a:r>
              <a:rPr lang="en-US" sz="2800" dirty="0"/>
              <a:t> Frequent characters (e.g., 'e') get short codes (e.g., "10"), while rare ones (e.g., 'z') get long codes.</a:t>
            </a:r>
          </a:p>
          <a:p>
            <a:r>
              <a:rPr lang="en-US" sz="2800" dirty="0"/>
              <a:t/>
            </a:r>
            <a:br>
              <a:rPr lang="en-US" sz="2800" dirty="0"/>
            </a:br>
            <a:endParaRPr lang="en-US" sz="2800" dirty="0"/>
          </a:p>
          <a:p>
            <a:endParaRPr lang="en-US" sz="2800" dirty="0"/>
          </a:p>
          <a:p>
            <a:pPr algn="l"/>
            <a:endParaRPr lang="en-US" sz="2800" dirty="0"/>
          </a:p>
          <a:p>
            <a:pPr algn="l"/>
            <a:endParaRPr lang="en-US" sz="2800" dirty="0"/>
          </a:p>
          <a:p>
            <a:pPr algn="l"/>
            <a:endParaRPr lang="en-US" sz="2800" dirty="0"/>
          </a:p>
        </p:txBody>
      </p:sp>
    </p:spTree>
    <p:extLst>
      <p:ext uri="{BB962C8B-B14F-4D97-AF65-F5344CB8AC3E}">
        <p14:creationId xmlns="" xmlns:p14="http://schemas.microsoft.com/office/powerpoint/2010/main" val="753672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dirty="0" smtClean="0"/>
              <a:t>The </a:t>
            </a:r>
            <a:r>
              <a:rPr lang="en-US" b="1" dirty="0" smtClean="0"/>
              <a:t>average length </a:t>
            </a:r>
            <a:r>
              <a:rPr lang="en-US" dirty="0" smtClean="0"/>
              <a:t>of a Huffman code is the expected number of bits per symbol, calculated by summing the products of each symbol's probability </a:t>
            </a:r>
            <a:r>
              <a:rPr lang="en-US" dirty="0" smtClean="0"/>
              <a:t>(𝑃𝑖) </a:t>
            </a:r>
            <a:r>
              <a:rPr lang="en-US" dirty="0" smtClean="0"/>
              <a:t>and its codeword length </a:t>
            </a:r>
            <a:r>
              <a:rPr lang="en-US" dirty="0" smtClean="0"/>
              <a:t>(𝐿𝑖): </a:t>
            </a:r>
          </a:p>
          <a:p>
            <a:pPr>
              <a:buNone/>
            </a:pPr>
            <a:r>
              <a:rPr lang="en-US" dirty="0" smtClean="0"/>
              <a:t>					𝐿</a:t>
            </a:r>
            <a:r>
              <a:rPr lang="en-US" baseline="-25000" dirty="0" smtClean="0"/>
              <a:t>𝑎𝑣𝑔</a:t>
            </a:r>
            <a:r>
              <a:rPr lang="en-US" dirty="0" smtClean="0"/>
              <a:t>=∑</a:t>
            </a:r>
            <a:r>
              <a:rPr lang="en-US" dirty="0" err="1" smtClean="0"/>
              <a:t>P</a:t>
            </a:r>
            <a:r>
              <a:rPr lang="en-US" baseline="-25000" dirty="0" err="1" smtClean="0"/>
              <a:t>i</a:t>
            </a:r>
            <a:r>
              <a:rPr lang="en-US" dirty="0" err="1" smtClean="0"/>
              <a:t>L</a:t>
            </a:r>
            <a:r>
              <a:rPr lang="en-US" baseline="-25000" dirty="0" err="1" smtClean="0"/>
              <a:t>i</a:t>
            </a:r>
            <a:endParaRPr lang="en-US" baseline="-25000" dirty="0" smtClean="0"/>
          </a:p>
          <a:p>
            <a:pPr>
              <a:buNone/>
            </a:pPr>
            <a:endParaRPr lang="en-US" dirty="0" smtClean="0"/>
          </a:p>
          <a:p>
            <a:pPr>
              <a:buNone/>
            </a:pPr>
            <a:r>
              <a:rPr lang="en-US" dirty="0" smtClean="0"/>
              <a:t>It </a:t>
            </a:r>
            <a:r>
              <a:rPr lang="en-US" dirty="0" smtClean="0"/>
              <a:t>represents the weighted average length of the encoded symbols.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b="1" dirty="0" err="1" smtClean="0"/>
              <a:t>Entrophy</a:t>
            </a:r>
            <a:r>
              <a:rPr lang="en-US" b="1" dirty="0" smtClean="0"/>
              <a:t> </a:t>
            </a:r>
            <a:r>
              <a:rPr lang="en-US" dirty="0" smtClean="0"/>
              <a:t>𝐻(𝑆) </a:t>
            </a:r>
            <a:r>
              <a:rPr lang="en-US" dirty="0" smtClean="0"/>
              <a:t>is</a:t>
            </a:r>
            <a:r>
              <a:rPr lang="en-US" dirty="0" smtClean="0"/>
              <a:t> a theoretical measure of the minimum average number of bits required to represent symbols in a data </a:t>
            </a:r>
            <a:r>
              <a:rPr lang="en-US" dirty="0" smtClean="0"/>
              <a:t>set.</a:t>
            </a:r>
            <a:endParaRPr lang="en-US" b="1" dirty="0" smtClean="0"/>
          </a:p>
          <a:p>
            <a:pPr>
              <a:buNone/>
            </a:pPr>
            <a:r>
              <a:rPr lang="en-US" dirty="0" smtClean="0"/>
              <a:t>Entropy</a:t>
            </a:r>
            <a:r>
              <a:rPr lang="en-US" b="1" dirty="0" smtClean="0"/>
              <a:t> </a:t>
            </a:r>
            <a:r>
              <a:rPr lang="en-US" dirty="0" smtClean="0"/>
              <a:t>in </a:t>
            </a:r>
            <a:r>
              <a:rPr lang="en-US" dirty="0" smtClean="0"/>
              <a:t>Huffman coding is calculated as the negative sum of </a:t>
            </a:r>
            <a:r>
              <a:rPr lang="en-US" dirty="0" smtClean="0"/>
              <a:t>probabilities </a:t>
            </a:r>
            <a:r>
              <a:rPr lang="en-US" dirty="0" smtClean="0"/>
              <a:t>multiplied by the log (base 2) of their probabilities</a:t>
            </a:r>
            <a:r>
              <a:rPr lang="en-US" dirty="0" smtClean="0"/>
              <a:t>:</a:t>
            </a:r>
          </a:p>
          <a:p>
            <a:pPr>
              <a:buNone/>
            </a:pPr>
            <a:r>
              <a:rPr lang="en-US" b="1" dirty="0" smtClean="0"/>
              <a:t> 				H(S)=−∑𝑃</a:t>
            </a:r>
            <a:r>
              <a:rPr lang="en-US" b="1" dirty="0" smtClean="0"/>
              <a:t>(𝑘)log</a:t>
            </a:r>
            <a:r>
              <a:rPr lang="en-US" b="1" baseline="-25000" dirty="0" smtClean="0"/>
              <a:t>2</a:t>
            </a:r>
            <a:r>
              <a:rPr lang="en-US" b="1" dirty="0" smtClean="0"/>
              <a:t>(𝑃(𝑘))</a:t>
            </a:r>
          </a:p>
          <a:p>
            <a:pPr>
              <a:buNone/>
            </a:pPr>
            <a:r>
              <a:rPr lang="en-US" dirty="0" smtClean="0"/>
              <a:t>The </a:t>
            </a:r>
            <a:r>
              <a:rPr lang="en-US" dirty="0" smtClean="0"/>
              <a:t>negative sign ensures that the entropy value is positive, </a:t>
            </a:r>
            <a:r>
              <a:rPr lang="en-US" dirty="0" smtClean="0"/>
              <a:t>as </a:t>
            </a:r>
          </a:p>
          <a:p>
            <a:pPr>
              <a:buNone/>
            </a:pPr>
            <a:r>
              <a:rPr lang="en-US" dirty="0" smtClean="0"/>
              <a:t>log</a:t>
            </a:r>
            <a:r>
              <a:rPr lang="en-US" baseline="-25000" dirty="0" smtClean="0"/>
              <a:t>2</a:t>
            </a:r>
            <a:r>
              <a:rPr lang="en-US" dirty="0" smtClean="0"/>
              <a:t>(𝑃(𝑘</a:t>
            </a:r>
            <a:r>
              <a:rPr lang="en-US" dirty="0" smtClean="0"/>
              <a:t>)) is </a:t>
            </a:r>
            <a:r>
              <a:rPr lang="en-US" dirty="0" smtClean="0"/>
              <a:t>negative for </a:t>
            </a:r>
            <a:r>
              <a:rPr lang="en-US" dirty="0" smtClean="0"/>
              <a:t>probabilities 𝑃</a:t>
            </a:r>
            <a:r>
              <a:rPr lang="en-US" dirty="0" smtClean="0"/>
              <a:t>(𝑘)≤1</a:t>
            </a:r>
          </a:p>
          <a:p>
            <a:pPr>
              <a:buNone/>
            </a:pPr>
            <a:r>
              <a:rPr lang="en-US" dirty="0" smtClean="0"/>
              <a:t>.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D89CC8-43EC-6548-6D2A-A8C9CCCE425D}"/>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EAA7304B-B79A-9B4F-2A55-D291C3DB2877}"/>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b="1" dirty="0">
                <a:latin typeface="Arial" panose="020B0604020202020204" pitchFamily="34" charset="0"/>
              </a:rPr>
              <a:t>Efficiency</a:t>
            </a:r>
            <a:r>
              <a:rPr lang="en-US" altLang="en-US" dirty="0">
                <a:latin typeface="Arial" panose="020B0604020202020204" pitchFamily="34" charset="0"/>
              </a:rPr>
              <a:t> in Huffman coding measures how closely the average codeword length approaches the optimal minimum, calculated as the ratio of source entropy 𝐻(𝑆) to the average length of the Huffman code (𝐿). It represents the percentage of compression achieved compared to theoretical limits.</a:t>
            </a:r>
          </a:p>
          <a:p>
            <a:pPr marL="0" lvl="0" indent="0" eaLnBrk="0" fontAlgn="base" hangingPunct="0">
              <a:lnSpc>
                <a:spcPct val="100000"/>
              </a:lnSpc>
              <a:spcBef>
                <a:spcPct val="0"/>
              </a:spcBef>
              <a:spcAft>
                <a:spcPct val="0"/>
              </a:spcAft>
              <a:buNone/>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 				</a:t>
            </a:r>
            <a:r>
              <a:rPr lang="en-US" altLang="en-US" dirty="0">
                <a:latin typeface="Arial" panose="020B0604020202020204" pitchFamily="34" charset="0"/>
              </a:rPr>
              <a:t>𝜂=𝐻(𝑆)/𝐿×100%</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0" indent="0">
              <a:buNone/>
            </a:pPr>
            <a:endParaRPr lang="en-IN" dirty="0"/>
          </a:p>
        </p:txBody>
      </p:sp>
      <p:sp>
        <p:nvSpPr>
          <p:cNvPr id="6" name="Rectangle 9">
            <a:extLst>
              <a:ext uri="{FF2B5EF4-FFF2-40B4-BE49-F238E27FC236}">
                <a16:creationId xmlns="" xmlns:a16="http://schemas.microsoft.com/office/drawing/2014/main" id="{19A98DF3-95B6-D881-F312-C6B16B4FE3A5}"/>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3082" name="Picture 10">
            <a:extLst>
              <a:ext uri="{FF2B5EF4-FFF2-40B4-BE49-F238E27FC236}">
                <a16:creationId xmlns="" xmlns:a16="http://schemas.microsoft.com/office/drawing/2014/main" id="{478FFAAE-542C-081B-AFFB-80A88FAA2561}"/>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27000" y="-1371600"/>
            <a:ext cx="9525" cy="9525"/>
          </a:xfrm>
          <a:prstGeom prst="rect">
            <a:avLst/>
          </a:prstGeom>
          <a:noFill/>
          <a:extLst>
            <a:ext uri="{909E8E84-426E-40DD-AFC4-6F175D3DCCD1}">
              <a14:hiddenFill xmlns="" xmlns:a14="http://schemas.microsoft.com/office/drawing/2010/main">
                <a:solidFill>
                  <a:srgbClr val="FFFFFF"/>
                </a:solidFill>
              </a14:hiddenFill>
            </a:ext>
          </a:extLst>
        </p:spPr>
      </p:pic>
      <p:pic>
        <p:nvPicPr>
          <p:cNvPr id="3083" name="Picture 11">
            <a:extLst>
              <a:ext uri="{FF2B5EF4-FFF2-40B4-BE49-F238E27FC236}">
                <a16:creationId xmlns="" xmlns:a16="http://schemas.microsoft.com/office/drawing/2014/main" id="{BBD976EF-F5BA-4E7B-C843-765B0768EA6A}"/>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27000" y="-274638"/>
            <a:ext cx="9525" cy="9525"/>
          </a:xfrm>
          <a:prstGeom prst="rect">
            <a:avLst/>
          </a:prstGeom>
          <a:noFill/>
          <a:extLst>
            <a:ext uri="{909E8E84-426E-40DD-AFC4-6F175D3DCCD1}">
              <a14:hiddenFill xmlns="" xmlns:a14="http://schemas.microsoft.com/office/drawing/2010/main">
                <a:solidFill>
                  <a:srgbClr val="FFFFFF"/>
                </a:solidFill>
              </a14:hiddenFill>
            </a:ext>
          </a:extLst>
        </p:spPr>
      </p:pic>
      <p:pic>
        <p:nvPicPr>
          <p:cNvPr id="3084" name="Picture 12">
            <a:extLst>
              <a:ext uri="{FF2B5EF4-FFF2-40B4-BE49-F238E27FC236}">
                <a16:creationId xmlns="" xmlns:a16="http://schemas.microsoft.com/office/drawing/2014/main" id="{2EADA638-0C52-B2BA-7E2E-76085EFE180B}"/>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27000" y="822325"/>
            <a:ext cx="9525" cy="952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461873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The </a:t>
            </a:r>
            <a:r>
              <a:rPr lang="en-US" b="1" dirty="0" smtClean="0"/>
              <a:t>Compression Ratio(CR) </a:t>
            </a:r>
            <a:r>
              <a:rPr lang="en-US" dirty="0" smtClean="0"/>
              <a:t>in Huffman coding measures the efficiency of reducing data size, calculated as the ratio of the original, uncompressed data size to the compressed, Huffman-encoded data size. It indicates how much smaller the output is (e.g., 53% smaller) after assigning </a:t>
            </a:r>
            <a:r>
              <a:rPr lang="en-US" dirty="0" smtClean="0"/>
              <a:t>shorter </a:t>
            </a:r>
            <a:r>
              <a:rPr lang="en-US" dirty="0" smtClean="0"/>
              <a:t>binary codes to more frequent characters</a:t>
            </a:r>
            <a:r>
              <a:rPr lang="en-US" dirty="0" smtClean="0"/>
              <a:t>.</a:t>
            </a:r>
          </a:p>
          <a:p>
            <a:pPr>
              <a:buNone/>
            </a:pPr>
            <a:r>
              <a:rPr lang="en-US" dirty="0" smtClean="0"/>
              <a:t>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dirty="0" smtClean="0"/>
              <a:t>The </a:t>
            </a:r>
            <a:r>
              <a:rPr lang="en-US" b="1" dirty="0" smtClean="0"/>
              <a:t>Relative </a:t>
            </a:r>
            <a:r>
              <a:rPr lang="en-US" b="1" dirty="0" smtClean="0"/>
              <a:t>redundancy </a:t>
            </a:r>
            <a:r>
              <a:rPr lang="en-US" b="1" dirty="0" smtClean="0"/>
              <a:t>(𝑅)</a:t>
            </a:r>
            <a:r>
              <a:rPr lang="en-US" dirty="0" smtClean="0"/>
              <a:t> </a:t>
            </a:r>
            <a:r>
              <a:rPr lang="en-US" dirty="0" smtClean="0"/>
              <a:t>is a measure of how efficiently the code compresses data compared to the theoretical minimum (entropy). </a:t>
            </a:r>
            <a:endParaRPr lang="en-US" dirty="0" smtClean="0"/>
          </a:p>
          <a:p>
            <a:pPr>
              <a:buNone/>
            </a:pPr>
            <a:r>
              <a:rPr lang="en-US" dirty="0" smtClean="0"/>
              <a:t>The formula </a:t>
            </a:r>
            <a:r>
              <a:rPr lang="en-US" b="1" dirty="0" smtClean="0"/>
              <a:t>𝑅</a:t>
            </a:r>
            <a:r>
              <a:rPr lang="en-US" b="1" dirty="0" smtClean="0"/>
              <a:t>=1−</a:t>
            </a:r>
            <a:r>
              <a:rPr lang="en-US" b="1" dirty="0" smtClean="0"/>
              <a:t>1/𝐶𝑅</a:t>
            </a:r>
            <a:endParaRPr lang="en-US" b="1" dirty="0" smtClean="0"/>
          </a:p>
          <a:p>
            <a:pPr>
              <a:buNone/>
            </a:pPr>
            <a:r>
              <a:rPr lang="en-US" dirty="0" smtClean="0"/>
              <a:t>relates the redundancy of a coded source directly to its Compression Ratio </a:t>
            </a:r>
            <a:r>
              <a:rPr lang="en-US" dirty="0" smtClean="0"/>
              <a:t>(𝐶𝑅)</a:t>
            </a:r>
            <a:endParaRPr lang="en-US" dirty="0" smtClean="0"/>
          </a:p>
          <a:p>
            <a:pPr>
              <a:buNone/>
            </a:pPr>
            <a:r>
              <a:rPr lang="en-US" dirty="0" smtClean="0"/>
              <a:t>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DC3D4D-4984-19E0-80A7-97EB07D40BBB}"/>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63F5F560-E9F5-6AE5-559B-206E3994558D}"/>
              </a:ext>
            </a:extLst>
          </p:cNvPr>
          <p:cNvSpPr>
            <a:spLocks noGrp="1"/>
          </p:cNvSpPr>
          <p:nvPr>
            <p:ph idx="1"/>
          </p:nvPr>
        </p:nvSpPr>
        <p:spPr/>
        <p:txBody>
          <a:bodyPr/>
          <a:lstStyle/>
          <a:p>
            <a:r>
              <a:rPr lang="en-US" dirty="0"/>
              <a:t>In the widely used JPEG and PNG formats for lossless compression.</a:t>
            </a:r>
          </a:p>
          <a:p>
            <a:r>
              <a:rPr lang="en-US" dirty="0"/>
              <a:t> Huffman coding significantly reduces the amount of storage space and transmission bandwidth required for digital images. </a:t>
            </a:r>
          </a:p>
          <a:p>
            <a:endParaRPr lang="en-IN" dirty="0"/>
          </a:p>
        </p:txBody>
      </p:sp>
    </p:spTree>
    <p:extLst>
      <p:ext uri="{BB962C8B-B14F-4D97-AF65-F5344CB8AC3E}">
        <p14:creationId xmlns="" xmlns:p14="http://schemas.microsoft.com/office/powerpoint/2010/main" val="88753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BC4B06-8B4B-2020-DCC2-9B9F2CDEC4E3}"/>
              </a:ext>
            </a:extLst>
          </p:cNvPr>
          <p:cNvSpPr>
            <a:spLocks noGrp="1"/>
          </p:cNvSpPr>
          <p:nvPr>
            <p:ph type="ctrTitle"/>
          </p:nvPr>
        </p:nvSpPr>
        <p:spPr>
          <a:xfrm>
            <a:off x="1524000" y="1122363"/>
            <a:ext cx="9144000" cy="1074082"/>
          </a:xfrm>
        </p:spPr>
        <p:txBody>
          <a:bodyPr/>
          <a:lstStyle/>
          <a:p>
            <a:r>
              <a:rPr lang="en-IN" dirty="0"/>
              <a:t>Run-length Coding </a:t>
            </a:r>
          </a:p>
        </p:txBody>
      </p:sp>
      <p:sp>
        <p:nvSpPr>
          <p:cNvPr id="3" name="Subtitle 2">
            <a:extLst>
              <a:ext uri="{FF2B5EF4-FFF2-40B4-BE49-F238E27FC236}">
                <a16:creationId xmlns="" xmlns:a16="http://schemas.microsoft.com/office/drawing/2014/main" id="{30ED870A-6EA0-CB1E-ADFC-4967B8CBBC64}"/>
              </a:ext>
            </a:extLst>
          </p:cNvPr>
          <p:cNvSpPr>
            <a:spLocks noGrp="1"/>
          </p:cNvSpPr>
          <p:nvPr>
            <p:ph type="subTitle" idx="1"/>
          </p:nvPr>
        </p:nvSpPr>
        <p:spPr>
          <a:xfrm>
            <a:off x="1524000" y="2196445"/>
            <a:ext cx="9144000" cy="3061355"/>
          </a:xfrm>
        </p:spPr>
        <p:txBody>
          <a:bodyPr>
            <a:normAutofit fontScale="92500" lnSpcReduction="20000"/>
          </a:bodyPr>
          <a:lstStyle/>
          <a:p>
            <a:pPr algn="l"/>
            <a:r>
              <a:rPr lang="en-US" dirty="0"/>
              <a:t>It is the simplest data compression technique.</a:t>
            </a:r>
          </a:p>
          <a:p>
            <a:pPr algn="l"/>
            <a:r>
              <a:rPr lang="en-US" dirty="0"/>
              <a:t> It is specifically used to remove </a:t>
            </a:r>
            <a:r>
              <a:rPr lang="en-US" b="1" dirty="0">
                <a:effectLst/>
              </a:rPr>
              <a:t>spatial redundancy</a:t>
            </a:r>
            <a:r>
              <a:rPr lang="en-US" dirty="0"/>
              <a:t> or </a:t>
            </a:r>
            <a:r>
              <a:rPr lang="en-US" b="1" dirty="0">
                <a:effectLst/>
              </a:rPr>
              <a:t>inter-pixel redundancy</a:t>
            </a:r>
            <a:r>
              <a:rPr lang="en-US" dirty="0"/>
              <a:t>. </a:t>
            </a:r>
          </a:p>
          <a:p>
            <a:pPr algn="l"/>
            <a:r>
              <a:rPr lang="en-US" dirty="0"/>
              <a:t>It is a lossless compression method that replaces consecutive, identical pixel values with a single value and its count (e.g., "white, white, white, black" becomes W3, B1), reducing data size, especially for binary (black/white) or simple images with large uniform areas, by exploiting interpixel redundancy.</a:t>
            </a:r>
          </a:p>
          <a:p>
            <a:pPr algn="l"/>
            <a:r>
              <a:rPr lang="en-US" dirty="0"/>
              <a:t>Run-length encoding is particularly effective when compressing binary images. Because there are only two possible intensities (black and white), adjacent pixels are more likely to be identical. </a:t>
            </a:r>
          </a:p>
          <a:p>
            <a:pPr algn="l"/>
            <a:endParaRPr lang="en-IN" dirty="0"/>
          </a:p>
        </p:txBody>
      </p:sp>
    </p:spTree>
    <p:extLst>
      <p:ext uri="{BB962C8B-B14F-4D97-AF65-F5344CB8AC3E}">
        <p14:creationId xmlns="" xmlns:p14="http://schemas.microsoft.com/office/powerpoint/2010/main" val="1277134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838AD8-1CF7-6817-6121-1F61C304A6E9}"/>
              </a:ext>
            </a:extLst>
          </p:cNvPr>
          <p:cNvSpPr>
            <a:spLocks noGrp="1"/>
          </p:cNvSpPr>
          <p:nvPr>
            <p:ph type="title"/>
          </p:nvPr>
        </p:nvSpPr>
        <p:spPr/>
        <p:txBody>
          <a:bodyPr/>
          <a:lstStyle/>
          <a:p>
            <a:endParaRPr lang="en-IN"/>
          </a:p>
        </p:txBody>
      </p:sp>
      <p:sp>
        <p:nvSpPr>
          <p:cNvPr id="4" name="Rectangle 1">
            <a:extLst>
              <a:ext uri="{FF2B5EF4-FFF2-40B4-BE49-F238E27FC236}">
                <a16:creationId xmlns="" xmlns:a16="http://schemas.microsoft.com/office/drawing/2014/main" id="{E2E37080-A660-6D8C-2F30-ED0A2A021A59}"/>
              </a:ext>
            </a:extLst>
          </p:cNvPr>
          <p:cNvSpPr>
            <a:spLocks noGrp="1" noChangeArrowheads="1"/>
          </p:cNvSpPr>
          <p:nvPr>
            <p:ph idx="1"/>
          </p:nvPr>
        </p:nvSpPr>
        <p:spPr bwMode="auto">
          <a:xfrm>
            <a:off x="838201" y="1708359"/>
            <a:ext cx="10515599" cy="458587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A0A0A"/>
                </a:solidFill>
                <a:effectLst/>
              </a:rPr>
              <a:t>Disadvantages in Image Processing:</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Poor Performance on Complex Images:</a:t>
            </a:r>
            <a:r>
              <a:rPr kumimoji="0" lang="en-US" altLang="en-US" b="0" i="0" u="none" strike="noStrike" cap="none" normalizeH="0" baseline="0" dirty="0">
                <a:ln>
                  <a:noFill/>
                </a:ln>
                <a:solidFill>
                  <a:srgbClr val="0A0A0A"/>
                </a:solidFill>
                <a:effectLst/>
              </a:rPr>
              <a:t> RLE is ineffective for images with high color variance or complex textures, such as photographs.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Potential for Increased File Size:</a:t>
            </a:r>
            <a:r>
              <a:rPr kumimoji="0" lang="en-US" altLang="en-US" b="0" i="0" u="none" strike="noStrike" cap="none" normalizeH="0" baseline="0" dirty="0">
                <a:ln>
                  <a:noFill/>
                </a:ln>
                <a:solidFill>
                  <a:srgbClr val="0A0A0A"/>
                </a:solidFill>
                <a:effectLst/>
              </a:rPr>
              <a:t> If the image has little to no repetition, the encoding process can double the size of the data by replacing single pixels with two values (count + pixel).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Low Compression Ratios on Complex Data:</a:t>
            </a:r>
            <a:r>
              <a:rPr kumimoji="0" lang="en-US" altLang="en-US" b="0" i="0" u="none" strike="noStrike" cap="none" normalizeH="0" baseline="0" dirty="0">
                <a:ln>
                  <a:noFill/>
                </a:ln>
                <a:solidFill>
                  <a:srgbClr val="0A0A0A"/>
                </a:solidFill>
                <a:effectLst/>
              </a:rPr>
              <a:t> Generally, RLE offers lower compression ratios compared to more advanced techniques like JPEG.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Worst-Case Scenario:</a:t>
            </a:r>
            <a:r>
              <a:rPr kumimoji="0" lang="en-US" altLang="en-US" b="0" i="0" u="none" strike="noStrike" cap="none" normalizeH="0" baseline="0" dirty="0">
                <a:ln>
                  <a:noFill/>
                </a:ln>
                <a:solidFill>
                  <a:srgbClr val="0A0A0A"/>
                </a:solidFill>
                <a:effectLst/>
              </a:rPr>
              <a:t> If every pixel in a line is different, the file size will increase rather than decrease.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1148633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3247BC-3BA9-196B-D0FC-DEC8270B9D00}"/>
              </a:ext>
            </a:extLst>
          </p:cNvPr>
          <p:cNvSpPr>
            <a:spLocks noGrp="1"/>
          </p:cNvSpPr>
          <p:nvPr>
            <p:ph type="title"/>
          </p:nvPr>
        </p:nvSpPr>
        <p:spPr/>
        <p:txBody>
          <a:bodyPr/>
          <a:lstStyle/>
          <a:p>
            <a:endParaRPr lang="en-IN"/>
          </a:p>
        </p:txBody>
      </p:sp>
      <p:sp>
        <p:nvSpPr>
          <p:cNvPr id="4" name="Rectangle 1">
            <a:extLst>
              <a:ext uri="{FF2B5EF4-FFF2-40B4-BE49-F238E27FC236}">
                <a16:creationId xmlns="" xmlns:a16="http://schemas.microsoft.com/office/drawing/2014/main" id="{FB015FC3-4F94-875D-760C-CE0CCDC32D36}"/>
              </a:ext>
            </a:extLst>
          </p:cNvPr>
          <p:cNvSpPr>
            <a:spLocks noGrp="1" noChangeArrowheads="1"/>
          </p:cNvSpPr>
          <p:nvPr>
            <p:ph idx="1"/>
          </p:nvPr>
        </p:nvSpPr>
        <p:spPr bwMode="auto">
          <a:xfrm>
            <a:off x="838200" y="1492915"/>
            <a:ext cx="10515600" cy="501675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A0A0A"/>
                </a:solidFill>
                <a:effectLst/>
              </a:rPr>
              <a:t>Advantages in Image Processing:</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High Efficiency for Low-Complexity Images:</a:t>
            </a:r>
            <a:r>
              <a:rPr kumimoji="0" lang="en-US" altLang="en-US" b="0" i="0" u="none" strike="noStrike" cap="none" normalizeH="0" baseline="0" dirty="0">
                <a:ln>
                  <a:noFill/>
                </a:ln>
                <a:solidFill>
                  <a:srgbClr val="0A0A0A"/>
                </a:solidFill>
                <a:effectLst/>
              </a:rPr>
              <a:t> It is exceptionally effective on images with long, repeated, contiguous data, such as binary images, graphics, icons, and scanned text documents.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Lossless Compression:</a:t>
            </a:r>
            <a:r>
              <a:rPr kumimoji="0" lang="en-US" altLang="en-US" b="0" i="0" u="none" strike="noStrike" cap="none" normalizeH="0" baseline="0" dirty="0">
                <a:ln>
                  <a:noFill/>
                </a:ln>
                <a:solidFill>
                  <a:srgbClr val="0A0A0A"/>
                </a:solidFill>
                <a:effectLst/>
              </a:rPr>
              <a:t> The original image is perfectly restored without any loss of quality, which is crucial for technical drawings or medical imaging.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Simple and Fast:</a:t>
            </a:r>
            <a:r>
              <a:rPr kumimoji="0" lang="en-US" altLang="en-US" b="0" i="0" u="none" strike="noStrike" cap="none" normalizeH="0" baseline="0" dirty="0">
                <a:ln>
                  <a:noFill/>
                </a:ln>
                <a:solidFill>
                  <a:srgbClr val="0A0A0A"/>
                </a:solidFill>
                <a:effectLst/>
              </a:rPr>
              <a:t> RLE algorithms are computationally inexpensive and simple to implement, enabling fast encoding and decoding.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Reduced Storage and Bandwidth:</a:t>
            </a:r>
            <a:r>
              <a:rPr kumimoji="0" lang="en-US" altLang="en-US" b="0" i="0" u="none" strike="noStrike" cap="none" normalizeH="0" baseline="0" dirty="0">
                <a:ln>
                  <a:noFill/>
                </a:ln>
                <a:solidFill>
                  <a:srgbClr val="0A0A0A"/>
                </a:solidFill>
                <a:effectLst/>
              </a:rPr>
              <a:t> By compressing data, RLE saves storage space and reduces the time required for image transmission.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3057827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TotalTime>
  <Words>234</Words>
  <Application>Microsoft Office PowerPoint</Application>
  <PresentationFormat>Custom</PresentationFormat>
  <Paragraphs>44</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Huffman Coding </vt:lpstr>
      <vt:lpstr>Slide 2</vt:lpstr>
      <vt:lpstr>Slide 3</vt:lpstr>
      <vt:lpstr>Slide 4</vt:lpstr>
      <vt:lpstr>Slide 5</vt:lpstr>
      <vt:lpstr>Slide 6</vt:lpstr>
      <vt:lpstr>Slide 7</vt:lpstr>
      <vt:lpstr>Run-length Coding </vt:lpstr>
      <vt:lpstr>Slide 9</vt:lpstr>
      <vt:lpstr>Slide 10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Huffman Coding </dc:title>
  <dc:creator>manjiri shirsat</dc:creator>
  <cp:lastModifiedBy>Admin</cp:lastModifiedBy>
  <cp:revision>17</cp:revision>
  <dcterms:created xsi:type="dcterms:W3CDTF">2026-01-26T08:49:38Z</dcterms:created>
  <dcterms:modified xsi:type="dcterms:W3CDTF">2026-01-28T05:56:54Z</dcterms:modified>
</cp:coreProperties>
</file>