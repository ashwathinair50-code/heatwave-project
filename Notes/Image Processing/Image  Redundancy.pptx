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9" r:id="rId4"/>
    <p:sldId id="271" r:id="rId5"/>
    <p:sldId id="272" r:id="rId6"/>
    <p:sldId id="273" r:id="rId7"/>
    <p:sldId id="260" r:id="rId8"/>
    <p:sldId id="263" r:id="rId9"/>
    <p:sldId id="265" r:id="rId10"/>
    <p:sldId id="266" r:id="rId11"/>
    <p:sldId id="267" r:id="rId12"/>
    <p:sldId id="269" r:id="rId13"/>
    <p:sldId id="270" r:id="rId14"/>
    <p:sldId id="25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161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CC527C5-8075-49D9-85F5-FA1243B7E4B3}"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2203025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CC527C5-8075-49D9-85F5-FA1243B7E4B3}"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2186748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C527C5-8075-49D9-85F5-FA1243B7E4B3}"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1642670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CC527C5-8075-49D9-85F5-FA1243B7E4B3}"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2335487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CC527C5-8075-49D9-85F5-FA1243B7E4B3}" type="datetimeFigureOut">
              <a:rPr lang="en-IN" smtClean="0"/>
              <a:t>24-01-2026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150299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CC527C5-8075-49D9-85F5-FA1243B7E4B3}" type="datetimeFigureOut">
              <a:rPr lang="en-IN" smtClean="0"/>
              <a:t>24-01-2026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326368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C527C5-8075-49D9-85F5-FA1243B7E4B3}" type="datetimeFigureOut">
              <a:rPr lang="en-IN" smtClean="0"/>
              <a:t>24-01-2026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169435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C527C5-8075-49D9-85F5-FA1243B7E4B3}"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1138535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C527C5-8075-49D9-85F5-FA1243B7E4B3}"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89111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CC527C5-8075-49D9-85F5-FA1243B7E4B3}"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4248910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CC527C5-8075-49D9-85F5-FA1243B7E4B3}"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0C3CFD-2051-4873-AB0C-6ACDBD1C873C}" type="slidenum">
              <a:rPr lang="en-IN" smtClean="0"/>
              <a:t>‹#›</a:t>
            </a:fld>
            <a:endParaRPr lang="en-IN"/>
          </a:p>
        </p:txBody>
      </p:sp>
    </p:spTree>
    <p:extLst>
      <p:ext uri="{BB962C8B-B14F-4D97-AF65-F5344CB8AC3E}">
        <p14:creationId xmlns:p14="http://schemas.microsoft.com/office/powerpoint/2010/main" val="1628152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C527C5-8075-49D9-85F5-FA1243B7E4B3}" type="datetimeFigureOut">
              <a:rPr lang="en-IN" smtClean="0"/>
              <a:t>24-01-2026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0C3CFD-2051-4873-AB0C-6ACDBD1C873C}" type="slidenum">
              <a:rPr lang="en-IN" smtClean="0"/>
              <a:t>‹#›</a:t>
            </a:fld>
            <a:endParaRPr lang="en-IN"/>
          </a:p>
        </p:txBody>
      </p:sp>
    </p:spTree>
    <p:extLst>
      <p:ext uri="{BB962C8B-B14F-4D97-AF65-F5344CB8AC3E}">
        <p14:creationId xmlns:p14="http://schemas.microsoft.com/office/powerpoint/2010/main" val="2455476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Redundancy </a:t>
            </a:r>
            <a:endParaRPr lang="en-IN" sz="4000" b="1" dirty="0"/>
          </a:p>
        </p:txBody>
      </p:sp>
      <p:sp>
        <p:nvSpPr>
          <p:cNvPr id="3" name="Content Placeholder 2"/>
          <p:cNvSpPr>
            <a:spLocks noGrp="1"/>
          </p:cNvSpPr>
          <p:nvPr>
            <p:ph idx="1"/>
          </p:nvPr>
        </p:nvSpPr>
        <p:spPr/>
        <p:txBody>
          <a:bodyPr>
            <a:normAutofit/>
          </a:bodyPr>
          <a:lstStyle/>
          <a:p>
            <a:pPr marL="0" indent="0">
              <a:buNone/>
            </a:pPr>
            <a:r>
              <a:rPr lang="en-US" sz="2800" b="1" dirty="0"/>
              <a:t>Redundancy</a:t>
            </a:r>
            <a:r>
              <a:rPr lang="en-US" sz="2800" dirty="0"/>
              <a:t> in digital images refers to unnecessary or repetitive information, such as duplicated patterns, colors, or textures that don’t significantly contribute to the image’s meaning or quality.</a:t>
            </a:r>
          </a:p>
          <a:p>
            <a:pPr marL="0" indent="0">
              <a:buNone/>
            </a:pPr>
            <a:r>
              <a:rPr lang="en-US" sz="2800" dirty="0"/>
              <a:t>Detecting and reducing redundancy is vital for optimizing file sizes, efficient data transfer, and improved user experiences, especially when using web pages, where faster loading time is essential.</a:t>
            </a:r>
            <a:endParaRPr lang="en-IN" sz="2800" dirty="0"/>
          </a:p>
        </p:txBody>
      </p:sp>
    </p:spTree>
    <p:extLst>
      <p:ext uri="{BB962C8B-B14F-4D97-AF65-F5344CB8AC3E}">
        <p14:creationId xmlns:p14="http://schemas.microsoft.com/office/powerpoint/2010/main" val="49821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6633"/>
            <a:ext cx="7772400" cy="1008111"/>
          </a:xfrm>
        </p:spPr>
        <p:txBody>
          <a:bodyPr/>
          <a:lstStyle/>
          <a:p>
            <a:r>
              <a:rPr lang="en-US" dirty="0"/>
              <a:t>Image Redundancy</a:t>
            </a:r>
            <a:endParaRPr lang="en-IN" dirty="0"/>
          </a:p>
        </p:txBody>
      </p:sp>
      <p:sp>
        <p:nvSpPr>
          <p:cNvPr id="3" name="Subtitle 2"/>
          <p:cNvSpPr>
            <a:spLocks noGrp="1"/>
          </p:cNvSpPr>
          <p:nvPr>
            <p:ph type="subTitle" idx="1"/>
          </p:nvPr>
        </p:nvSpPr>
        <p:spPr>
          <a:xfrm>
            <a:off x="35496" y="1196752"/>
            <a:ext cx="9073008" cy="5472608"/>
          </a:xfrm>
        </p:spPr>
        <p:txBody>
          <a:bodyPr>
            <a:normAutofit/>
          </a:bodyPr>
          <a:lstStyle/>
          <a:p>
            <a:pPr algn="l"/>
            <a:r>
              <a:rPr lang="en-IN" sz="2800" dirty="0">
                <a:solidFill>
                  <a:schemeClr val="tx1"/>
                </a:solidFill>
              </a:rPr>
              <a:t>There are three main types of redundancy: </a:t>
            </a:r>
          </a:p>
          <a:p>
            <a:pPr marL="457200" indent="-457200" algn="l">
              <a:buFont typeface="Arial" pitchFamily="34" charset="0"/>
              <a:buChar char="•"/>
            </a:pPr>
            <a:r>
              <a:rPr lang="en-IN" sz="2800" dirty="0">
                <a:solidFill>
                  <a:schemeClr val="tx1"/>
                </a:solidFill>
                <a:effectLst/>
              </a:rPr>
              <a:t>Coding Redundancy</a:t>
            </a:r>
            <a:r>
              <a:rPr lang="en-IN" sz="2800" dirty="0">
                <a:solidFill>
                  <a:schemeClr val="tx1"/>
                </a:solidFill>
              </a:rPr>
              <a:t> </a:t>
            </a:r>
          </a:p>
          <a:p>
            <a:pPr marL="457200" indent="-457200" algn="l">
              <a:buFont typeface="Arial" pitchFamily="34" charset="0"/>
              <a:buChar char="•"/>
            </a:pPr>
            <a:r>
              <a:rPr lang="en-IN" sz="2800" dirty="0" err="1">
                <a:solidFill>
                  <a:schemeClr val="tx1"/>
                </a:solidFill>
              </a:rPr>
              <a:t>Interpixel</a:t>
            </a:r>
            <a:r>
              <a:rPr lang="en-IN" sz="2800" dirty="0">
                <a:solidFill>
                  <a:schemeClr val="tx1"/>
                </a:solidFill>
              </a:rPr>
              <a:t> Redundancy</a:t>
            </a:r>
          </a:p>
          <a:p>
            <a:pPr marL="457200" indent="-457200" algn="l">
              <a:buFont typeface="Arial" pitchFamily="34" charset="0"/>
              <a:buChar char="•"/>
            </a:pPr>
            <a:r>
              <a:rPr lang="en-IN" sz="2800" dirty="0">
                <a:solidFill>
                  <a:schemeClr val="tx1"/>
                </a:solidFill>
              </a:rPr>
              <a:t>Psychovisual Redundancy(Irrelevant Information)</a:t>
            </a:r>
          </a:p>
        </p:txBody>
      </p:sp>
    </p:spTree>
    <p:extLst>
      <p:ext uri="{BB962C8B-B14F-4D97-AF65-F5344CB8AC3E}">
        <p14:creationId xmlns:p14="http://schemas.microsoft.com/office/powerpoint/2010/main" val="1398984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US" b="1" u="sng" dirty="0"/>
              <a:t>Coding Redundancy</a:t>
            </a:r>
          </a:p>
          <a:p>
            <a:pPr marL="400050" lvl="1" indent="0">
              <a:buNone/>
            </a:pPr>
            <a:r>
              <a:rPr lang="en-US" dirty="0"/>
              <a:t>It is the unnecessary use of more bits than needed to represent pixel intensity values.</a:t>
            </a:r>
          </a:p>
          <a:p>
            <a:pPr marL="400050" lvl="1" indent="0">
              <a:buNone/>
            </a:pPr>
            <a:r>
              <a:rPr lang="en-US" dirty="0"/>
              <a:t>A  </a:t>
            </a:r>
            <a:r>
              <a:rPr lang="en-US" b="1" dirty="0"/>
              <a:t>code</a:t>
            </a:r>
            <a:r>
              <a:rPr lang="en-US" dirty="0"/>
              <a:t> is a system of rules mapping source symbols (e.g., gray levels in an image) to a sequence of bits.</a:t>
            </a:r>
          </a:p>
          <a:p>
            <a:pPr marL="400050" lvl="1" indent="0">
              <a:buNone/>
            </a:pPr>
            <a:r>
              <a:rPr lang="en-US" dirty="0"/>
              <a:t>Each piece of information or event is assigned a sequence of code symbols, called a </a:t>
            </a:r>
            <a:r>
              <a:rPr lang="en-US" b="1" dirty="0"/>
              <a:t>code word</a:t>
            </a:r>
            <a:r>
              <a:rPr lang="en-US" dirty="0"/>
              <a:t>. The number of symbols in each code word is its </a:t>
            </a:r>
            <a:r>
              <a:rPr lang="en-US" b="1" dirty="0"/>
              <a:t>length</a:t>
            </a:r>
            <a:r>
              <a:rPr lang="en-US" dirty="0"/>
              <a:t>. </a:t>
            </a:r>
          </a:p>
          <a:p>
            <a:pPr marL="400050" lvl="1" indent="0">
              <a:buNone/>
            </a:pPr>
            <a:r>
              <a:rPr lang="en-US" dirty="0"/>
              <a:t>The 8-bit codes that are used to represent the intensities in most 2-D intensity arrays contain more bits than are needed to represent the intensities.</a:t>
            </a:r>
            <a:endParaRPr lang="en-IN" dirty="0"/>
          </a:p>
        </p:txBody>
      </p:sp>
    </p:spTree>
    <p:extLst>
      <p:ext uri="{BB962C8B-B14F-4D97-AF65-F5344CB8AC3E}">
        <p14:creationId xmlns:p14="http://schemas.microsoft.com/office/powerpoint/2010/main" val="2228720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FBD0FC7-FFCD-3915-6229-5DBA798C0144}"/>
              </a:ext>
            </a:extLst>
          </p:cNvPr>
          <p:cNvPicPr>
            <a:picLocks noGrp="1" noChangeAspect="1"/>
          </p:cNvPicPr>
          <p:nvPr>
            <p:ph idx="4294967295"/>
          </p:nvPr>
        </p:nvPicPr>
        <p:blipFill>
          <a:blip r:embed="rId2"/>
          <a:stretch>
            <a:fillRect/>
          </a:stretch>
        </p:blipFill>
        <p:spPr>
          <a:xfrm>
            <a:off x="0" y="0"/>
            <a:ext cx="9144000" cy="6742113"/>
          </a:xfrm>
          <a:prstGeom prst="rect">
            <a:avLst/>
          </a:prstGeom>
        </p:spPr>
      </p:pic>
    </p:spTree>
    <p:extLst>
      <p:ext uri="{BB962C8B-B14F-4D97-AF65-F5344CB8AC3E}">
        <p14:creationId xmlns:p14="http://schemas.microsoft.com/office/powerpoint/2010/main" val="2206833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CAFA-E149-3C4B-A0BA-DBE1F1EA9FF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052BE21F-4351-C22E-407E-AD481346172E}"/>
              </a:ext>
            </a:extLst>
          </p:cNvPr>
          <p:cNvPicPr>
            <a:picLocks noGrp="1" noChangeAspect="1"/>
          </p:cNvPicPr>
          <p:nvPr>
            <p:ph idx="1"/>
          </p:nvPr>
        </p:nvPicPr>
        <p:blipFill>
          <a:blip r:embed="rId2"/>
          <a:stretch>
            <a:fillRect/>
          </a:stretch>
        </p:blipFill>
        <p:spPr>
          <a:xfrm>
            <a:off x="611561" y="1600200"/>
            <a:ext cx="7848872" cy="4525963"/>
          </a:xfrm>
          <a:prstGeom prst="rect">
            <a:avLst/>
          </a:prstGeom>
        </p:spPr>
      </p:pic>
    </p:spTree>
    <p:extLst>
      <p:ext uri="{BB962C8B-B14F-4D97-AF65-F5344CB8AC3E}">
        <p14:creationId xmlns:p14="http://schemas.microsoft.com/office/powerpoint/2010/main" val="625617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071C1-52D3-5C18-9D57-13B607CA61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D9BE51-A8A6-B7EB-FA2F-F8A581B02748}"/>
              </a:ext>
            </a:extLst>
          </p:cNvPr>
          <p:cNvSpPr>
            <a:spLocks noGrp="1"/>
          </p:cNvSpPr>
          <p:nvPr>
            <p:ph idx="1"/>
          </p:nvPr>
        </p:nvSpPr>
        <p:spPr/>
        <p:txBody>
          <a:bodyPr>
            <a:normAutofit fontScale="92500" lnSpcReduction="20000"/>
          </a:bodyPr>
          <a:lstStyle/>
          <a:p>
            <a:pPr marL="0" lvl="0" indent="0" eaLnBrk="0" fontAlgn="base" hangingPunct="0">
              <a:spcBef>
                <a:spcPct val="0"/>
              </a:spcBef>
              <a:spcAft>
                <a:spcPct val="0"/>
              </a:spcAft>
              <a:buNone/>
            </a:pPr>
            <a:r>
              <a:rPr lang="en-US" altLang="en-US" dirty="0">
                <a:latin typeface="Arial" panose="020B0604020202020204" pitchFamily="34" charset="0"/>
              </a:rPr>
              <a:t>Compression Ratio(C) measures data reduction, calculated as original data size(n1) divided by compressed size(n2).</a:t>
            </a:r>
          </a:p>
          <a:p>
            <a:pPr marL="0" lvl="0" indent="0" eaLnBrk="0" fontAlgn="base" hangingPunct="0">
              <a:spcBef>
                <a:spcPct val="0"/>
              </a:spcBef>
              <a:spcAft>
                <a:spcPct val="0"/>
              </a:spcAft>
              <a:buNone/>
            </a:pPr>
            <a:r>
              <a:rPr lang="en-US" altLang="en-US" b="1" dirty="0">
                <a:latin typeface="Arial" panose="020B0604020202020204" pitchFamily="34" charset="0"/>
              </a:rPr>
              <a:t>C= n1/n2</a:t>
            </a:r>
          </a:p>
          <a:p>
            <a:pPr marL="0" lvl="0" indent="0" eaLnBrk="0" fontAlgn="base" hangingPunct="0">
              <a:spcBef>
                <a:spcPct val="0"/>
              </a:spcBef>
              <a:spcAft>
                <a:spcPct val="0"/>
              </a:spcAft>
              <a:buNone/>
            </a:pPr>
            <a:endParaRPr lang="en-US" altLang="en-US" dirty="0">
              <a:latin typeface="Arial" panose="020B0604020202020204" pitchFamily="34" charset="0"/>
            </a:endParaRPr>
          </a:p>
          <a:p>
            <a:pPr marL="0" lvl="0" indent="0" eaLnBrk="0" fontAlgn="base" hangingPunct="0">
              <a:spcBef>
                <a:spcPct val="0"/>
              </a:spcBef>
              <a:spcAft>
                <a:spcPct val="0"/>
              </a:spcAft>
              <a:buNone/>
            </a:pPr>
            <a:r>
              <a:rPr lang="en-US" altLang="en-US" dirty="0">
                <a:latin typeface="Arial" panose="020B0604020202020204" pitchFamily="34" charset="0"/>
              </a:rPr>
              <a:t>Redundancy is measured as </a:t>
            </a:r>
          </a:p>
          <a:p>
            <a:pPr marL="0" lvl="0" indent="0" eaLnBrk="0" fontAlgn="base" hangingPunct="0">
              <a:spcBef>
                <a:spcPct val="0"/>
              </a:spcBef>
              <a:spcAft>
                <a:spcPct val="0"/>
              </a:spcAft>
              <a:buNone/>
            </a:pPr>
            <a:r>
              <a:rPr lang="en-US" altLang="en-US" b="1" dirty="0">
                <a:latin typeface="Arial" panose="020B0604020202020204" pitchFamily="34" charset="0"/>
              </a:rPr>
              <a:t>𝑅=1−(1/𝐶)</a:t>
            </a:r>
            <a:r>
              <a:rPr lang="en-US" altLang="en-US" dirty="0">
                <a:latin typeface="Arial" panose="020B0604020202020204" pitchFamily="34" charset="0"/>
              </a:rPr>
              <a:t>,</a:t>
            </a:r>
          </a:p>
          <a:p>
            <a:pPr marL="0" lvl="0" indent="0" eaLnBrk="0" fontAlgn="base" hangingPunct="0">
              <a:spcBef>
                <a:spcPct val="0"/>
              </a:spcBef>
              <a:spcAft>
                <a:spcPct val="0"/>
              </a:spcAft>
              <a:buNone/>
            </a:pPr>
            <a:r>
              <a:rPr lang="en-US" altLang="en-US" dirty="0">
                <a:latin typeface="Arial" panose="020B0604020202020204" pitchFamily="34" charset="0"/>
              </a:rPr>
              <a:t> where 𝐶 is the compression ratio. </a:t>
            </a:r>
          </a:p>
          <a:p>
            <a:pPr marL="0" lvl="0" indent="0" eaLnBrk="0" fontAlgn="base" hangingPunct="0">
              <a:spcBef>
                <a:spcPct val="0"/>
              </a:spcBef>
              <a:spcAft>
                <a:spcPct val="0"/>
              </a:spcAft>
              <a:buNone/>
            </a:pPr>
            <a:endParaRPr lang="en-US" altLang="en-US" dirty="0">
              <a:latin typeface="Arial" panose="020B0604020202020204" pitchFamily="34" charset="0"/>
            </a:endParaRPr>
          </a:p>
          <a:p>
            <a:pPr marL="0" lvl="0" indent="0" eaLnBrk="0" fontAlgn="base" hangingPunct="0">
              <a:spcBef>
                <a:spcPct val="0"/>
              </a:spcBef>
              <a:spcAft>
                <a:spcPct val="0"/>
              </a:spcAft>
              <a:buNone/>
            </a:pPr>
            <a:r>
              <a:rPr lang="en-US" altLang="en-US" dirty="0">
                <a:latin typeface="Arial" panose="020B0604020202020204" pitchFamily="34" charset="0"/>
              </a:rPr>
              <a:t>If  𝐶=1</a:t>
            </a:r>
          </a:p>
          <a:p>
            <a:pPr marL="0" lvl="0" indent="0" eaLnBrk="0" fontAlgn="base" hangingPunct="0">
              <a:spcBef>
                <a:spcPct val="0"/>
              </a:spcBef>
              <a:spcAft>
                <a:spcPct val="0"/>
              </a:spcAft>
              <a:buNone/>
            </a:pPr>
            <a:r>
              <a:rPr lang="en-US" altLang="en-US" dirty="0">
                <a:latin typeface="Arial" panose="020B0604020202020204" pitchFamily="34" charset="0"/>
              </a:rPr>
              <a:t>(i.e., 2/2 or 1/1), there is no redundancy</a:t>
            </a:r>
            <a:endParaRPr lang="en-IN" dirty="0"/>
          </a:p>
        </p:txBody>
      </p:sp>
      <p:sp>
        <p:nvSpPr>
          <p:cNvPr id="4" name="Rectangle 1">
            <a:extLst>
              <a:ext uri="{FF2B5EF4-FFF2-40B4-BE49-F238E27FC236}">
                <a16:creationId xmlns:a16="http://schemas.microsoft.com/office/drawing/2014/main" id="{3C02173F-B6FF-7DDF-7459-454A0DC15FB9}"/>
              </a:ext>
            </a:extLst>
          </p:cNvPr>
          <p:cNvSpPr>
            <a:spLocks noChangeArrowheads="1"/>
          </p:cNvSpPr>
          <p:nvPr/>
        </p:nvSpPr>
        <p:spPr bwMode="auto">
          <a:xfrm>
            <a:off x="0" y="-184666"/>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1026" name="Picture 2">
            <a:extLst>
              <a:ext uri="{FF2B5EF4-FFF2-40B4-BE49-F238E27FC236}">
                <a16:creationId xmlns:a16="http://schemas.microsoft.com/office/drawing/2014/main" id="{8B516471-2730-4D54-26CA-3DD50D4BB7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50812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E57E3519-3197-1BB2-79D5-F5A9AE1332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411163"/>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A85C56C-BB8B-DA8A-0415-5399B4E7F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685800"/>
            <a:ext cx="952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884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IN" b="1" u="sng" dirty="0" err="1"/>
              <a:t>Interpixel</a:t>
            </a:r>
            <a:r>
              <a:rPr lang="en-IN" b="1" u="sng" dirty="0"/>
              <a:t> Redundancy</a:t>
            </a:r>
          </a:p>
          <a:p>
            <a:pPr marL="400050" lvl="1" indent="0">
              <a:buNone/>
            </a:pPr>
            <a:r>
              <a:rPr lang="en-US" dirty="0"/>
              <a:t>Arises because neighboring pixels are often correlated, where adjacent pixels often share similar color or intensity values. It represents unnecessary, repetitive data within a single image, such as a large, uniform blue sky.  In such an image, a pixel at any point in the sky is almost guaranteed to have the same or very similar intensity value as the pixel directly next to it.</a:t>
            </a:r>
          </a:p>
          <a:p>
            <a:pPr marL="400050" lvl="1" indent="0">
              <a:buNone/>
            </a:pPr>
            <a:r>
              <a:rPr lang="en-US" dirty="0"/>
              <a:t>If a 100×100 pixel area is solid blue, the computer stores 10,000 individual pixels, each with the exact same color value (e.g., RGB: 0, 0, 255).</a:t>
            </a:r>
          </a:p>
          <a:p>
            <a:pPr marL="400050" lvl="1" indent="0">
              <a:buNone/>
            </a:pPr>
            <a:endParaRPr lang="en-US" dirty="0"/>
          </a:p>
          <a:p>
            <a:pPr marL="400050" lvl="1" indent="0">
              <a:buNone/>
            </a:pPr>
            <a:endParaRPr lang="en-IN" dirty="0"/>
          </a:p>
        </p:txBody>
      </p:sp>
      <p:sp>
        <p:nvSpPr>
          <p:cNvPr id="4" name="Rectangle 1"/>
          <p:cNvSpPr>
            <a:spLocks noChangeArrowheads="1"/>
          </p:cNvSpPr>
          <p:nvPr/>
        </p:nvSpPr>
        <p:spPr bwMode="auto">
          <a:xfrm>
            <a:off x="0" y="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a:ln>
                  <a:noFill/>
                </a:ln>
                <a:solidFill>
                  <a:srgbClr val="374151"/>
                </a:solidFill>
                <a:effectLst/>
                <a:latin typeface="system-ui"/>
                <a:cs typeface="Arial" pitchFamily="34" charset="0"/>
              </a:rPr>
              <a:t>It is also known as </a:t>
            </a:r>
            <a:r>
              <a:rPr kumimoji="0" lang="en-US" sz="1300" b="1" i="0" u="none" strike="noStrike" cap="none" normalizeH="0" baseline="0">
                <a:ln>
                  <a:noFill/>
                </a:ln>
                <a:solidFill>
                  <a:srgbClr val="374151"/>
                </a:solidFill>
                <a:effectLst/>
                <a:latin typeface="system-ui"/>
                <a:cs typeface="Arial" pitchFamily="34" charset="0"/>
              </a:rPr>
              <a:t>intraframe redundancy</a:t>
            </a:r>
            <a:r>
              <a:rPr kumimoji="0" lang="en-US" sz="1300" b="0" i="0" u="none" strike="noStrike" cap="none" normalizeH="0" baseline="0">
                <a:ln>
                  <a:noFill/>
                </a:ln>
                <a:solidFill>
                  <a:srgbClr val="374151"/>
                </a:solidFill>
                <a:effectLst/>
                <a:latin typeface="system-ui"/>
                <a:cs typeface="Arial" pitchFamily="34" charset="0"/>
              </a:rPr>
              <a:t> and involves repeating similar or identical pixel values within an image. This redundancy occurs when neighboring pixels or regions contain redundant information, such as uniform backgrounds or patterns.</a:t>
            </a:r>
            <a:endParaRPr kumimoji="0" lang="en-US" sz="6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system-ui"/>
                <a:cs typeface="Arial" pitchFamily="34" charset="0"/>
              </a:rPr>
              <a:t>  </a:t>
            </a:r>
            <a:r>
              <a:rPr kumimoji="0" lang="en-US" sz="1900" b="0" i="0" u="none" strike="noStrike" cap="none" normalizeH="0" baseline="0">
                <a:ln>
                  <a:noFill/>
                </a:ln>
                <a:solidFill>
                  <a:srgbClr val="000000"/>
                </a:solidFill>
                <a:effectLst/>
                <a:latin typeface="system-ui"/>
                <a:cs typeface="Arial" pitchFamily="34" charset="0"/>
              </a:rPr>
              <a:t> </a:t>
            </a:r>
            <a:r>
              <a:rPr kumimoji="0" lang="en-US" sz="1000" b="0" i="0" u="none" strike="noStrike" cap="none" normalizeH="0" baseline="0">
                <a:ln>
                  <a:noFill/>
                </a:ln>
                <a:solidFill>
                  <a:srgbClr val="000000"/>
                </a:solidFill>
                <a:effectLst/>
                <a:latin typeface="system-ui"/>
                <a:cs typeface="Arial" pitchFamily="34" charset="0"/>
              </a:rPr>
              <a:t> </a:t>
            </a:r>
            <a:endParaRPr kumimoji="0" lang="en-US" sz="600" b="0" i="0" u="none" strike="noStrike" cap="none" normalizeH="0" baseline="0">
              <a:ln>
                <a:noFill/>
              </a:ln>
              <a:solidFill>
                <a:schemeClr val="tx1"/>
              </a:solidFill>
              <a:effectLst/>
              <a:latin typeface="system-ui"/>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sz="1900" b="0" i="0" u="none" strike="noStrike" cap="none" normalizeH="0" baseline="0">
                <a:ln>
                  <a:noFill/>
                </a:ln>
                <a:solidFill>
                  <a:srgbClr val="000000"/>
                </a:solidFill>
                <a:effectLst/>
                <a:latin typeface="system-ui"/>
                <a:cs typeface="Arial" pitchFamily="34" charset="0"/>
              </a:rPr>
            </a:br>
            <a:endParaRPr kumimoji="0" lang="en-US" sz="1900" b="0" i="0" u="none" strike="noStrike" cap="none" normalizeH="0" baseline="0">
              <a:ln>
                <a:noFill/>
              </a:ln>
              <a:solidFill>
                <a:srgbClr val="000000"/>
              </a:solidFill>
              <a:effectLst/>
              <a:latin typeface="system-ui"/>
              <a:cs typeface="Arial" pitchFamily="34" charset="0"/>
            </a:endParaRPr>
          </a:p>
        </p:txBody>
      </p:sp>
      <p:sp>
        <p:nvSpPr>
          <p:cNvPr id="5" name="AutoShape 2" descr="data:image/svg+xml,%3csvg%20xmlns=%27http://www.w3.org/2000/svg%27%20version=%271.1%27%20width=%27600%27%20height=%27229.5%27/%3e"/>
          <p:cNvSpPr>
            <a:spLocks noChangeAspect="1" noChangeArrowheads="1"/>
          </p:cNvSpPr>
          <p:nvPr/>
        </p:nvSpPr>
        <p:spPr bwMode="auto">
          <a:xfrm>
            <a:off x="127000" y="-1047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3" descr="Repetition of symbols"/>
          <p:cNvSpPr>
            <a:spLocks noChangeAspect="1" noChangeArrowheads="1"/>
          </p:cNvSpPr>
          <p:nvPr/>
        </p:nvSpPr>
        <p:spPr bwMode="auto">
          <a:xfrm>
            <a:off x="228600" y="-1047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58725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pPr marL="0" indent="0">
              <a:buNone/>
            </a:pPr>
            <a:r>
              <a:rPr lang="en-IN" sz="2800" b="1" u="sng" dirty="0" err="1"/>
              <a:t>Psychovisual</a:t>
            </a:r>
            <a:r>
              <a:rPr lang="en-IN" sz="2800" b="1" u="sng" dirty="0"/>
              <a:t> Redundancy</a:t>
            </a:r>
          </a:p>
          <a:p>
            <a:pPr marL="0" indent="0">
              <a:buNone/>
            </a:pPr>
            <a:r>
              <a:rPr lang="en-US" sz="2800" dirty="0"/>
              <a:t> is the irrelevant information in images that refers to any data or elements that do not contribute meaningfully to the image’s intended message or quality. This type of redundancy exists because human perception does not involve quantitative analysis of every pixel in the image.</a:t>
            </a:r>
          </a:p>
          <a:p>
            <a:pPr marL="0" indent="0">
              <a:buNone/>
            </a:pPr>
            <a:endParaRPr lang="en-US" sz="2800" u="sng" dirty="0"/>
          </a:p>
          <a:p>
            <a:pPr marL="0" indent="0">
              <a:buNone/>
            </a:pPr>
            <a:r>
              <a:rPr lang="en-US" sz="2800" dirty="0"/>
              <a:t>The human eye is much more sensitive to changes in </a:t>
            </a:r>
            <a:r>
              <a:rPr lang="en-US" sz="2800" b="1" dirty="0"/>
              <a:t>brightness (luminance)</a:t>
            </a:r>
            <a:r>
              <a:rPr lang="en-US" sz="2800" dirty="0"/>
              <a:t> than it is to changes in </a:t>
            </a:r>
            <a:r>
              <a:rPr lang="en-US" sz="2800" b="1" dirty="0"/>
              <a:t>color (chrominance)</a:t>
            </a:r>
            <a:r>
              <a:rPr lang="en-US" sz="2800" dirty="0"/>
              <a:t>.</a:t>
            </a:r>
            <a:endParaRPr lang="en-IN" sz="2400" dirty="0"/>
          </a:p>
          <a:p>
            <a:pPr marL="0" indent="0">
              <a:buNone/>
            </a:pPr>
            <a:endParaRPr lang="en-IN" sz="2800" u="sng" dirty="0"/>
          </a:p>
          <a:p>
            <a:pPr marL="0" indent="0">
              <a:buNone/>
            </a:pPr>
            <a:endParaRPr lang="en-IN" dirty="0"/>
          </a:p>
        </p:txBody>
      </p:sp>
    </p:spTree>
    <p:extLst>
      <p:ext uri="{BB962C8B-B14F-4D97-AF65-F5344CB8AC3E}">
        <p14:creationId xmlns:p14="http://schemas.microsoft.com/office/powerpoint/2010/main" val="3540632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3875" y="2115344"/>
            <a:ext cx="8096250" cy="349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230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US" dirty="0" err="1"/>
              <a:t>Interpixel</a:t>
            </a:r>
            <a:r>
              <a:rPr lang="en-US" dirty="0"/>
              <a:t> redundancy is categorized based on the nature of the correlation within data structures: </a:t>
            </a:r>
          </a:p>
          <a:p>
            <a:r>
              <a:rPr lang="en-US" b="1" dirty="0"/>
              <a:t>Spatial Redundancy (Intra-frame):</a:t>
            </a:r>
            <a:r>
              <a:rPr lang="en-US" dirty="0"/>
              <a:t> Correlation between neighboring pixels within a single, static image, often caused by smooth color transitions or textures </a:t>
            </a:r>
            <a:r>
              <a:rPr lang="en-US" dirty="0" err="1"/>
              <a:t>i.e</a:t>
            </a:r>
            <a:r>
              <a:rPr lang="en-US" dirty="0"/>
              <a:t> it occurs when adjacent pixels in an image share similar intensity or color values, making much of the data repetitive and unnecessary.</a:t>
            </a:r>
          </a:p>
          <a:p>
            <a:pPr marL="400050" lvl="1" indent="0">
              <a:buNone/>
            </a:pPr>
            <a:r>
              <a:rPr lang="en-US" dirty="0"/>
              <a:t>A classic example is a digital photo of a clear blue sky, where thousands of neighboring pixels have almost identical color values. </a:t>
            </a:r>
            <a:endParaRPr lang="en-IN" dirty="0"/>
          </a:p>
          <a:p>
            <a:pPr marL="0" indent="0">
              <a:buNone/>
            </a:pPr>
            <a:endParaRPr lang="en-IN" dirty="0"/>
          </a:p>
        </p:txBody>
      </p:sp>
    </p:spTree>
    <p:extLst>
      <p:ext uri="{BB962C8B-B14F-4D97-AF65-F5344CB8AC3E}">
        <p14:creationId xmlns:p14="http://schemas.microsoft.com/office/powerpoint/2010/main" val="3617113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Spectral Redundancy (Inter-plane):</a:t>
            </a:r>
          </a:p>
          <a:p>
            <a:pPr marL="0" indent="0">
              <a:buNone/>
            </a:pPr>
            <a:r>
              <a:rPr lang="en-US" dirty="0"/>
              <a:t>It refers to the existence of highly correlated or identical information across different bands, channels, or frequencies within a dataset where information in one band can be predicted from another. </a:t>
            </a:r>
          </a:p>
          <a:p>
            <a:pPr marL="0" indent="0">
              <a:buNone/>
            </a:pPr>
            <a:r>
              <a:rPr lang="en-US" dirty="0"/>
              <a:t>A primary example is in RGB images, where high red intensity often correlates with high green intensity, making it redundant to store full information for all channels. </a:t>
            </a:r>
            <a:endParaRPr lang="en-IN" dirty="0"/>
          </a:p>
        </p:txBody>
      </p:sp>
    </p:spTree>
    <p:extLst>
      <p:ext uri="{BB962C8B-B14F-4D97-AF65-F5344CB8AC3E}">
        <p14:creationId xmlns:p14="http://schemas.microsoft.com/office/powerpoint/2010/main" val="130267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 Techniques like JPEG use this redundancy to reduce data size by discarding color information that is less noticeable to the human eye, without significantly degrading the image quality.</a:t>
            </a:r>
          </a:p>
          <a:p>
            <a:pPr marL="0" indent="0">
              <a:buNone/>
            </a:pPr>
            <a:endParaRPr lang="en-IN" dirty="0"/>
          </a:p>
        </p:txBody>
      </p:sp>
    </p:spTree>
    <p:extLst>
      <p:ext uri="{BB962C8B-B14F-4D97-AF65-F5344CB8AC3E}">
        <p14:creationId xmlns:p14="http://schemas.microsoft.com/office/powerpoint/2010/main" val="2406555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800" b="1" dirty="0"/>
              <a:t>Temporal Redundancy (Inter-frame):</a:t>
            </a:r>
          </a:p>
          <a:p>
            <a:pPr marL="0" indent="0">
              <a:buNone/>
            </a:pPr>
            <a:r>
              <a:rPr lang="en-US" sz="2800" dirty="0"/>
              <a:t>   Correlation between adjacent frames in a video                   sequence, where background and objects remain relatively consistent over time. </a:t>
            </a:r>
          </a:p>
          <a:p>
            <a:pPr marL="400050" lvl="1" indent="0">
              <a:buNone/>
            </a:pPr>
            <a:r>
              <a:rPr lang="en-US" dirty="0"/>
              <a:t>In a video of a car driving across a scene, the pixels representing the car move slightly in each frame, while the surrounding background stays the same.</a:t>
            </a:r>
            <a:endParaRPr lang="en-IN" dirty="0"/>
          </a:p>
        </p:txBody>
      </p:sp>
    </p:spTree>
    <p:extLst>
      <p:ext uri="{BB962C8B-B14F-4D97-AF65-F5344CB8AC3E}">
        <p14:creationId xmlns:p14="http://schemas.microsoft.com/office/powerpoint/2010/main" val="2485464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sz="2800" dirty="0"/>
              <a:t>Data Redundancy is one of the fundamental component of </a:t>
            </a:r>
            <a:r>
              <a:rPr lang="en-US" sz="2800" b="1" dirty="0"/>
              <a:t>Data Compression</a:t>
            </a:r>
            <a:r>
              <a:rPr lang="en-US" sz="2800" dirty="0"/>
              <a:t>.</a:t>
            </a:r>
          </a:p>
          <a:p>
            <a:pPr marL="0" indent="0">
              <a:buNone/>
            </a:pPr>
            <a:r>
              <a:rPr lang="en-US" sz="2800" dirty="0"/>
              <a:t>The </a:t>
            </a:r>
            <a:r>
              <a:rPr lang="en-US" sz="2800" b="1" dirty="0"/>
              <a:t>Data Compression </a:t>
            </a:r>
            <a:r>
              <a:rPr lang="en-US" sz="2800" dirty="0"/>
              <a:t>reduces file size for efficient storage and transmission by removing redundant data, using techniques like Run-Length Encoding (RLE), Huffman Coding. It involves encoding an image into fewer bits and then decoding it back.</a:t>
            </a:r>
            <a:endParaRPr lang="en-IN" sz="2800" dirty="0"/>
          </a:p>
        </p:txBody>
      </p:sp>
    </p:spTree>
    <p:extLst>
      <p:ext uri="{BB962C8B-B14F-4D97-AF65-F5344CB8AC3E}">
        <p14:creationId xmlns:p14="http://schemas.microsoft.com/office/powerpoint/2010/main" val="2448183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TotalTime>
  <Words>775</Words>
  <Application>Microsoft Office PowerPoint</Application>
  <PresentationFormat>On-screen Show (4:3)</PresentationFormat>
  <Paragraphs>45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system-ui</vt:lpstr>
      <vt:lpstr>Office Theme</vt:lpstr>
      <vt:lpstr>Redundancy </vt:lpstr>
      <vt:lpstr>Image Redundancy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Compression </dc:title>
  <dc:creator>Admin</dc:creator>
  <cp:lastModifiedBy>manjiri shirsat</cp:lastModifiedBy>
  <cp:revision>46</cp:revision>
  <dcterms:created xsi:type="dcterms:W3CDTF">2026-01-12T11:08:41Z</dcterms:created>
  <dcterms:modified xsi:type="dcterms:W3CDTF">2026-01-24T11:25:12Z</dcterms:modified>
</cp:coreProperties>
</file>