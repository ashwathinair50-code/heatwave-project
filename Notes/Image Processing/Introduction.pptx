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9" r:id="rId4"/>
    <p:sldId id="258" r:id="rId5"/>
    <p:sldId id="260" r:id="rId6"/>
    <p:sldId id="261" r:id="rId7"/>
    <p:sldId id="262" r:id="rId8"/>
    <p:sldId id="263" r:id="rId9"/>
    <p:sldId id="264" r:id="rId10"/>
    <p:sldId id="266" r:id="rId11"/>
    <p:sldId id="267"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4" r:id="rId27"/>
    <p:sldId id="283" r:id="rId28"/>
    <p:sldId id="285"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34587" autoAdjust="0"/>
    <p:restoredTop sz="94688" autoAdjust="0"/>
  </p:normalViewPr>
  <p:slideViewPr>
    <p:cSldViewPr>
      <p:cViewPr varScale="1">
        <p:scale>
          <a:sx n="110" d="100"/>
          <a:sy n="110" d="100"/>
        </p:scale>
        <p:origin x="-1644" y="-7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FD07A94-EF3D-4F9D-9F6A-212242749E73}"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1908591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FD07A94-EF3D-4F9D-9F6A-212242749E73}"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272294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D07A94-EF3D-4F9D-9F6A-212242749E73}"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7286412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FD07A94-EF3D-4F9D-9F6A-212242749E73}" type="datetimeFigureOut">
              <a:rPr lang="en-IN" smtClean="0"/>
              <a:t>01-01-2026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499461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FD07A94-EF3D-4F9D-9F6A-212242749E73}" type="datetimeFigureOut">
              <a:rPr lang="en-IN" smtClean="0"/>
              <a:t>01-01-2026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25805755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FD07A94-EF3D-4F9D-9F6A-212242749E73}" type="datetimeFigureOut">
              <a:rPr lang="en-IN" smtClean="0"/>
              <a:t>01-01-2026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1428977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D07A94-EF3D-4F9D-9F6A-212242749E73}" type="datetimeFigureOut">
              <a:rPr lang="en-IN" smtClean="0"/>
              <a:t>01-01-2026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376211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D07A94-EF3D-4F9D-9F6A-212242749E73}" type="datetimeFigureOut">
              <a:rPr lang="en-IN" smtClean="0"/>
              <a:t>01-01-2026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1175263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FD07A94-EF3D-4F9D-9F6A-212242749E73}" type="datetimeFigureOut">
              <a:rPr lang="en-IN" smtClean="0"/>
              <a:t>01-01-2026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5317399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FD07A94-EF3D-4F9D-9F6A-212242749E73}"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11839494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FD07A94-EF3D-4F9D-9F6A-212242749E73}" type="datetimeFigureOut">
              <a:rPr lang="en-IN" smtClean="0"/>
              <a:t>01-01-2026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73EB53-6A33-4E18-9048-826D2519E8E2}" type="slidenum">
              <a:rPr lang="en-IN" smtClean="0"/>
              <a:t>‹#›</a:t>
            </a:fld>
            <a:endParaRPr lang="en-IN"/>
          </a:p>
        </p:txBody>
      </p:sp>
    </p:spTree>
    <p:extLst>
      <p:ext uri="{BB962C8B-B14F-4D97-AF65-F5344CB8AC3E}">
        <p14:creationId xmlns:p14="http://schemas.microsoft.com/office/powerpoint/2010/main" val="3199094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D07A94-EF3D-4F9D-9F6A-212242749E73}" type="datetimeFigureOut">
              <a:rPr lang="en-IN" smtClean="0"/>
              <a:t>01-01-2026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73EB53-6A33-4E18-9048-826D2519E8E2}" type="slidenum">
              <a:rPr lang="en-IN" smtClean="0"/>
              <a:t>‹#›</a:t>
            </a:fld>
            <a:endParaRPr lang="en-IN"/>
          </a:p>
        </p:txBody>
      </p:sp>
    </p:spTree>
    <p:extLst>
      <p:ext uri="{BB962C8B-B14F-4D97-AF65-F5344CB8AC3E}">
        <p14:creationId xmlns:p14="http://schemas.microsoft.com/office/powerpoint/2010/main" val="78739801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google.com/search?sca_esv=80be199a896fb7f5&amp;q=Resolution&amp;sa=X&amp;ved=2ahUKEwjnt7bnpuKRAxXObWwGHQzKLNgQxccNegUI6AEQAQ&amp;mstk=AUtExfDgZJtWpEaanyvb7LjYqd4XXH4FAU32Y8Zb-3S8j6ilakjcUyAPcaTzFsCgQDWTGkKsiLO6UTCCpzH0_T59JE-aZ9NPNfkz_OojNo7cN9_ouTAIcRhdVWZPeiGyBIwjfiY&amp;csui=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76673"/>
            <a:ext cx="7772400" cy="1008111"/>
          </a:xfrm>
        </p:spPr>
        <p:txBody>
          <a:bodyPr>
            <a:normAutofit/>
          </a:bodyPr>
          <a:lstStyle/>
          <a:p>
            <a:r>
              <a:rPr lang="en-IN" sz="2800" b="1" dirty="0"/>
              <a:t>Digital </a:t>
            </a:r>
            <a:r>
              <a:rPr lang="en-IN" sz="2800" b="1" dirty="0" smtClean="0"/>
              <a:t>Images</a:t>
            </a:r>
            <a:endParaRPr lang="en-IN" sz="2800" dirty="0"/>
          </a:p>
        </p:txBody>
      </p:sp>
      <p:sp>
        <p:nvSpPr>
          <p:cNvPr id="3" name="Subtitle 2"/>
          <p:cNvSpPr>
            <a:spLocks noGrp="1"/>
          </p:cNvSpPr>
          <p:nvPr>
            <p:ph type="subTitle" idx="1"/>
          </p:nvPr>
        </p:nvSpPr>
        <p:spPr>
          <a:xfrm>
            <a:off x="683568" y="1556792"/>
            <a:ext cx="7920880" cy="4032448"/>
          </a:xfrm>
        </p:spPr>
        <p:txBody>
          <a:bodyPr>
            <a:normAutofit/>
          </a:bodyPr>
          <a:lstStyle/>
          <a:p>
            <a:pPr marL="457200" indent="-457200" algn="l">
              <a:buFont typeface="Arial" pitchFamily="34" charset="0"/>
              <a:buChar char="•"/>
            </a:pPr>
            <a:r>
              <a:rPr lang="en-IN" sz="1800" dirty="0">
                <a:solidFill>
                  <a:schemeClr val="tx1"/>
                </a:solidFill>
              </a:rPr>
              <a:t>An image is a two-dimensional rectilinear of pixels that gives a pictorial representation of something. </a:t>
            </a:r>
            <a:endParaRPr lang="en-IN" sz="1800" dirty="0" smtClean="0">
              <a:solidFill>
                <a:schemeClr val="tx1"/>
              </a:solidFill>
            </a:endParaRPr>
          </a:p>
          <a:p>
            <a:pPr marL="457200" indent="-457200" algn="l">
              <a:buFont typeface="Arial" pitchFamily="34" charset="0"/>
              <a:buChar char="•"/>
            </a:pPr>
            <a:r>
              <a:rPr lang="en-IN" sz="1800" dirty="0" smtClean="0">
                <a:solidFill>
                  <a:schemeClr val="tx1"/>
                </a:solidFill>
              </a:rPr>
              <a:t>An </a:t>
            </a:r>
            <a:r>
              <a:rPr lang="en-IN" sz="1800" dirty="0">
                <a:solidFill>
                  <a:schemeClr val="tx1"/>
                </a:solidFill>
              </a:rPr>
              <a:t>image can also be defined as a two-dimensional function f(</a:t>
            </a:r>
            <a:r>
              <a:rPr lang="en-IN" sz="1800" dirty="0" err="1">
                <a:solidFill>
                  <a:schemeClr val="tx1"/>
                </a:solidFill>
              </a:rPr>
              <a:t>x,y</a:t>
            </a:r>
            <a:r>
              <a:rPr lang="en-IN" sz="1800" dirty="0">
                <a:solidFill>
                  <a:schemeClr val="tx1"/>
                </a:solidFill>
              </a:rPr>
              <a:t>) where X and Y are spatial coordinates </a:t>
            </a:r>
            <a:r>
              <a:rPr lang="en-IN" sz="1800" dirty="0" smtClean="0">
                <a:solidFill>
                  <a:schemeClr val="tx1"/>
                </a:solidFill>
              </a:rPr>
              <a:t>used </a:t>
            </a:r>
            <a:r>
              <a:rPr lang="en-IN" sz="1800" dirty="0">
                <a:solidFill>
                  <a:schemeClr val="tx1"/>
                </a:solidFill>
              </a:rPr>
              <a:t>in a coordinate system to define the precise location of a point or object within a multi-dimensional space (2D, 3D, or more), essential for mapping, navigation, and computer graphics to accurately place things relative to each other or a fixed reference), and f at any pair of coordinates (</a:t>
            </a:r>
            <a:r>
              <a:rPr lang="en-IN" sz="1800" dirty="0" err="1">
                <a:solidFill>
                  <a:schemeClr val="tx1"/>
                </a:solidFill>
              </a:rPr>
              <a:t>x,y</a:t>
            </a:r>
            <a:r>
              <a:rPr lang="en-IN" sz="1800" dirty="0">
                <a:solidFill>
                  <a:schemeClr val="tx1"/>
                </a:solidFill>
              </a:rPr>
              <a:t>) is called the intensity. </a:t>
            </a:r>
            <a:endParaRPr lang="en-IN" sz="1800" dirty="0" smtClean="0">
              <a:solidFill>
                <a:schemeClr val="tx1"/>
              </a:solidFill>
            </a:endParaRPr>
          </a:p>
          <a:p>
            <a:pPr marL="457200" indent="-457200" algn="l">
              <a:buFont typeface="Arial" pitchFamily="34" charset="0"/>
              <a:buChar char="•"/>
            </a:pPr>
            <a:r>
              <a:rPr lang="en-IN" sz="1800" dirty="0" smtClean="0">
                <a:solidFill>
                  <a:schemeClr val="tx1"/>
                </a:solidFill>
              </a:rPr>
              <a:t>When </a:t>
            </a:r>
            <a:r>
              <a:rPr lang="en-IN" sz="1800" dirty="0">
                <a:solidFill>
                  <a:schemeClr val="tx1"/>
                </a:solidFill>
              </a:rPr>
              <a:t>the x, y, and f are all finite then the image is called a </a:t>
            </a:r>
            <a:r>
              <a:rPr lang="en-IN" sz="1800" u="sng" dirty="0">
                <a:solidFill>
                  <a:schemeClr val="tx1"/>
                </a:solidFill>
              </a:rPr>
              <a:t>digital image</a:t>
            </a:r>
            <a:r>
              <a:rPr lang="en-IN" sz="1800" dirty="0">
                <a:solidFill>
                  <a:schemeClr val="tx1"/>
                </a:solidFill>
              </a:rPr>
              <a:t>.</a:t>
            </a:r>
          </a:p>
          <a:p>
            <a:pPr algn="l"/>
            <a:endParaRPr lang="en-IN" dirty="0">
              <a:solidFill>
                <a:schemeClr val="tx1"/>
              </a:solidFill>
            </a:endParaRPr>
          </a:p>
        </p:txBody>
      </p:sp>
    </p:spTree>
    <p:extLst>
      <p:ext uri="{BB962C8B-B14F-4D97-AF65-F5344CB8AC3E}">
        <p14:creationId xmlns:p14="http://schemas.microsoft.com/office/powerpoint/2010/main" val="22851848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fontAlgn="base"/>
            <a:r>
              <a:rPr lang="en-IN" b="1" dirty="0" smtClean="0"/>
              <a:t/>
            </a:r>
            <a:br>
              <a:rPr lang="en-IN" b="1" dirty="0" smtClean="0"/>
            </a:br>
            <a:r>
              <a:rPr lang="en-IN" sz="3100" b="1" dirty="0" smtClean="0"/>
              <a:t>What </a:t>
            </a:r>
            <a:r>
              <a:rPr lang="en-IN" sz="3100" b="1" dirty="0"/>
              <a:t>is Digital Image Processing?</a:t>
            </a:r>
            <a:r>
              <a:rPr lang="en-IN" sz="3100" dirty="0"/>
              <a:t/>
            </a:r>
            <a:br>
              <a:rPr lang="en-IN" sz="3100" dirty="0"/>
            </a:br>
            <a:endParaRPr lang="en-IN" sz="3100" dirty="0"/>
          </a:p>
        </p:txBody>
      </p:sp>
      <p:sp>
        <p:nvSpPr>
          <p:cNvPr id="3" name="Content Placeholder 2"/>
          <p:cNvSpPr>
            <a:spLocks noGrp="1"/>
          </p:cNvSpPr>
          <p:nvPr>
            <p:ph idx="1"/>
          </p:nvPr>
        </p:nvSpPr>
        <p:spPr/>
        <p:txBody>
          <a:bodyPr>
            <a:normAutofit/>
          </a:bodyPr>
          <a:lstStyle/>
          <a:p>
            <a:r>
              <a:rPr lang="en-IN" sz="2000" dirty="0"/>
              <a:t>Digital Image Processing is a process of analysis and manipulation of images via digital computer to get some information. In a broader sense, one can say it is a processing of two-dimensional data</a:t>
            </a:r>
            <a:r>
              <a:rPr lang="en-IN" sz="2000" dirty="0" smtClean="0"/>
              <a:t>.</a:t>
            </a:r>
          </a:p>
          <a:p>
            <a:r>
              <a:rPr lang="en-IN" sz="2000" dirty="0" smtClean="0"/>
              <a:t> </a:t>
            </a:r>
            <a:r>
              <a:rPr lang="en-IN" sz="2000" dirty="0"/>
              <a:t>Digital Image Processing focuses on two major tasks</a:t>
            </a:r>
            <a:r>
              <a:rPr lang="en-IN" sz="2000" dirty="0" smtClean="0"/>
              <a:t>:</a:t>
            </a:r>
          </a:p>
          <a:p>
            <a:pPr marL="857250" lvl="1" indent="-457200">
              <a:buFont typeface="+mj-lt"/>
              <a:buAutoNum type="arabicPeriod"/>
            </a:pPr>
            <a:r>
              <a:rPr lang="en-IN" sz="2000" dirty="0" smtClean="0"/>
              <a:t>Improvement of pictorial representation for human interpretation </a:t>
            </a:r>
          </a:p>
          <a:p>
            <a:pPr marL="857250" lvl="1" indent="-457200">
              <a:buFont typeface="+mj-lt"/>
              <a:buAutoNum type="arabicPeriod"/>
            </a:pPr>
            <a:r>
              <a:rPr lang="en-IN" sz="2000" dirty="0" smtClean="0"/>
              <a:t>Processing </a:t>
            </a:r>
            <a:r>
              <a:rPr lang="en-IN" sz="2000" dirty="0"/>
              <a:t>of image data for storage, transmission, and representation for autonomous machine perception.</a:t>
            </a:r>
          </a:p>
          <a:p>
            <a:endParaRPr lang="en-IN" sz="2000" dirty="0"/>
          </a:p>
        </p:txBody>
      </p:sp>
    </p:spTree>
    <p:extLst>
      <p:ext uri="{BB962C8B-B14F-4D97-AF65-F5344CB8AC3E}">
        <p14:creationId xmlns:p14="http://schemas.microsoft.com/office/powerpoint/2010/main" val="278976721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What is a Pixel?</a:t>
            </a:r>
            <a:endParaRPr lang="en-IN" sz="2800" b="1" dirty="0"/>
          </a:p>
        </p:txBody>
      </p:sp>
      <p:sp>
        <p:nvSpPr>
          <p:cNvPr id="3" name="Content Placeholder 2"/>
          <p:cNvSpPr>
            <a:spLocks noGrp="1"/>
          </p:cNvSpPr>
          <p:nvPr>
            <p:ph idx="1"/>
          </p:nvPr>
        </p:nvSpPr>
        <p:spPr>
          <a:xfrm>
            <a:off x="467544" y="1340768"/>
            <a:ext cx="8280920" cy="5328592"/>
          </a:xfrm>
        </p:spPr>
        <p:txBody>
          <a:bodyPr>
            <a:normAutofit fontScale="25000" lnSpcReduction="20000"/>
          </a:bodyPr>
          <a:lstStyle/>
          <a:p>
            <a:pPr marL="0" indent="0">
              <a:buNone/>
            </a:pPr>
            <a:r>
              <a:rPr lang="en-US" dirty="0"/>
              <a:t> </a:t>
            </a:r>
            <a:endParaRPr lang="en-IN" dirty="0"/>
          </a:p>
          <a:p>
            <a:pPr marL="0" indent="0">
              <a:buNone/>
            </a:pPr>
            <a:r>
              <a:rPr lang="en-IN" sz="6400" dirty="0"/>
              <a:t>In image processing, a pixel (short for "picture element") is the smallest unit of a digital image, a single dot or square that holds a specific </a:t>
            </a:r>
            <a:r>
              <a:rPr lang="en-IN" sz="6400" dirty="0" err="1"/>
              <a:t>color</a:t>
            </a:r>
            <a:r>
              <a:rPr lang="en-IN" sz="6400" dirty="0"/>
              <a:t> and brightness value, forming a grid that creates the entire picture. Pixels are the fundamental building blocks, with more pixels (higher resolution) resulting in sharper, more detailed images, and their </a:t>
            </a:r>
            <a:r>
              <a:rPr lang="en-IN" sz="6400" dirty="0" err="1"/>
              <a:t>color</a:t>
            </a:r>
            <a:r>
              <a:rPr lang="en-IN" sz="6400" dirty="0"/>
              <a:t> information (often RGB) is crucial for manipulation tasks like filtering and contrast adjustment</a:t>
            </a:r>
            <a:r>
              <a:rPr lang="en-IN" sz="6400" dirty="0" smtClean="0"/>
              <a:t>.</a:t>
            </a:r>
          </a:p>
          <a:p>
            <a:pPr marL="0" indent="0">
              <a:buNone/>
            </a:pPr>
            <a:endParaRPr lang="en-IN" sz="6400" dirty="0"/>
          </a:p>
          <a:p>
            <a:pPr marL="0" indent="0">
              <a:buNone/>
            </a:pPr>
            <a:r>
              <a:rPr lang="en-IN" sz="6400" b="1" dirty="0"/>
              <a:t>Key Aspects of Pixels:</a:t>
            </a:r>
            <a:endParaRPr lang="en-IN" sz="6400" dirty="0"/>
          </a:p>
          <a:p>
            <a:r>
              <a:rPr lang="en-IN" sz="6400" b="1" dirty="0"/>
              <a:t>Building Blocks:</a:t>
            </a:r>
            <a:r>
              <a:rPr lang="en-IN" sz="6400" dirty="0"/>
              <a:t> </a:t>
            </a:r>
            <a:r>
              <a:rPr lang="en-IN" sz="6400" dirty="0" smtClean="0"/>
              <a:t>Each </a:t>
            </a:r>
            <a:r>
              <a:rPr lang="en-IN" sz="6400" dirty="0"/>
              <a:t>pixel has a numerical value representing its </a:t>
            </a:r>
            <a:r>
              <a:rPr lang="en-IN" sz="6400" dirty="0" err="1"/>
              <a:t>color</a:t>
            </a:r>
            <a:r>
              <a:rPr lang="en-IN" sz="6400" dirty="0"/>
              <a:t>, typically using the Red, Green, Blue (RGB) model, where each </a:t>
            </a:r>
            <a:r>
              <a:rPr lang="en-IN" sz="6400" dirty="0" err="1"/>
              <a:t>color</a:t>
            </a:r>
            <a:r>
              <a:rPr lang="en-IN" sz="6400" dirty="0"/>
              <a:t> channel gets a set number of bits (e.g., 8 bits for over 16 million </a:t>
            </a:r>
            <a:r>
              <a:rPr lang="en-IN" sz="6400" dirty="0" err="1"/>
              <a:t>colors</a:t>
            </a:r>
            <a:r>
              <a:rPr lang="en-IN" sz="6400" dirty="0"/>
              <a:t>). </a:t>
            </a:r>
          </a:p>
          <a:p>
            <a:pPr lvl="0"/>
            <a:r>
              <a:rPr lang="en-IN" sz="6400" b="1" u="sng" dirty="0">
                <a:hlinkClick r:id="rId2"/>
              </a:rPr>
              <a:t>Resolution</a:t>
            </a:r>
            <a:r>
              <a:rPr lang="en-IN" sz="6400" b="1" dirty="0"/>
              <a:t>:</a:t>
            </a:r>
            <a:r>
              <a:rPr lang="en-IN" sz="6400" dirty="0"/>
              <a:t> </a:t>
            </a:r>
          </a:p>
          <a:p>
            <a:pPr marL="0" indent="0">
              <a:buNone/>
            </a:pPr>
            <a:r>
              <a:rPr lang="en-IN" sz="6400" dirty="0" smtClean="0"/>
              <a:t>         An </a:t>
            </a:r>
            <a:r>
              <a:rPr lang="en-IN" sz="6400" dirty="0"/>
              <a:t>image's resolution is defined by the total number of pixels (e.g., 1920x1080). </a:t>
            </a:r>
          </a:p>
          <a:p>
            <a:pPr lvl="0"/>
            <a:r>
              <a:rPr lang="en-IN" sz="6400" b="1" dirty="0"/>
              <a:t>Image Processing:</a:t>
            </a:r>
            <a:r>
              <a:rPr lang="en-IN" sz="6400" dirty="0"/>
              <a:t> </a:t>
            </a:r>
          </a:p>
          <a:p>
            <a:pPr marL="0" indent="0">
              <a:buNone/>
            </a:pPr>
            <a:r>
              <a:rPr lang="en-IN" sz="6400" dirty="0" smtClean="0"/>
              <a:t>        Techniques </a:t>
            </a:r>
            <a:r>
              <a:rPr lang="en-IN" sz="6400" dirty="0"/>
              <a:t>work on these individual pixel values; for example, contrast adjustment involves </a:t>
            </a:r>
            <a:r>
              <a:rPr lang="en-IN" sz="6400" dirty="0" smtClean="0"/>
              <a:t>  mathematically </a:t>
            </a:r>
            <a:r>
              <a:rPr lang="en-IN" sz="6400" dirty="0"/>
              <a:t>changing the brightness values of pixels. </a:t>
            </a:r>
          </a:p>
          <a:p>
            <a:pPr lvl="0"/>
            <a:r>
              <a:rPr lang="en-IN" sz="6400" b="1" dirty="0"/>
              <a:t>Location:</a:t>
            </a:r>
            <a:r>
              <a:rPr lang="en-IN" sz="6400" dirty="0"/>
              <a:t> </a:t>
            </a:r>
          </a:p>
          <a:p>
            <a:pPr marL="0" indent="0">
              <a:buNone/>
            </a:pPr>
            <a:r>
              <a:rPr lang="en-IN" sz="6400" dirty="0" smtClean="0"/>
              <a:t>         Pixels </a:t>
            </a:r>
            <a:r>
              <a:rPr lang="en-IN" sz="6400" dirty="0"/>
              <a:t>are located at specific coordinates (x, y) within the image grid, starting from (0,0) at the top-left. </a:t>
            </a:r>
          </a:p>
          <a:p>
            <a:r>
              <a:rPr lang="en-IN" sz="6400" b="1" dirty="0"/>
              <a:t>In Simple Terms:</a:t>
            </a:r>
            <a:endParaRPr lang="en-IN" sz="6400" dirty="0"/>
          </a:p>
          <a:p>
            <a:pPr marL="400050" lvl="1" indent="0">
              <a:buNone/>
            </a:pPr>
            <a:r>
              <a:rPr lang="en-IN" sz="6400" dirty="0" smtClean="0"/>
              <a:t>        Imagine </a:t>
            </a:r>
            <a:r>
              <a:rPr lang="en-IN" sz="6400" dirty="0"/>
              <a:t>a mosaic made of tiny </a:t>
            </a:r>
            <a:r>
              <a:rPr lang="en-IN" sz="6400" dirty="0" err="1"/>
              <a:t>colored</a:t>
            </a:r>
            <a:r>
              <a:rPr lang="en-IN" sz="6400" dirty="0"/>
              <a:t> tiles; each tile is a pixel. In image processing, software changes the </a:t>
            </a:r>
            <a:r>
              <a:rPr lang="en-IN" sz="6400" dirty="0" smtClean="0"/>
              <a:t> </a:t>
            </a:r>
            <a:r>
              <a:rPr lang="en-IN" sz="6400" dirty="0" err="1" smtClean="0"/>
              <a:t>color</a:t>
            </a:r>
            <a:r>
              <a:rPr lang="en-IN" sz="6400" dirty="0" smtClean="0"/>
              <a:t> </a:t>
            </a:r>
            <a:r>
              <a:rPr lang="en-IN" sz="6400" dirty="0"/>
              <a:t>of these "tiles" to alter the image, making it brighter, sharper, or changing specific objects</a:t>
            </a:r>
          </a:p>
          <a:p>
            <a:pPr lvl="0"/>
            <a:r>
              <a:rPr lang="en-IN" sz="6400" dirty="0"/>
              <a:t>Millions of pixels arranged in rows and columns (a grid or bitmap) form a digital image. </a:t>
            </a:r>
          </a:p>
          <a:p>
            <a:endParaRPr lang="en-IN" dirty="0"/>
          </a:p>
        </p:txBody>
      </p:sp>
    </p:spTree>
    <p:extLst>
      <p:ext uri="{BB962C8B-B14F-4D97-AF65-F5344CB8AC3E}">
        <p14:creationId xmlns:p14="http://schemas.microsoft.com/office/powerpoint/2010/main" val="29896901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History </a:t>
            </a:r>
            <a:endParaRPr lang="en-IN" sz="2800" b="1" dirty="0"/>
          </a:p>
        </p:txBody>
      </p:sp>
      <p:sp>
        <p:nvSpPr>
          <p:cNvPr id="3" name="Content Placeholder 2"/>
          <p:cNvSpPr>
            <a:spLocks noGrp="1"/>
          </p:cNvSpPr>
          <p:nvPr>
            <p:ph idx="1"/>
          </p:nvPr>
        </p:nvSpPr>
        <p:spPr/>
        <p:txBody>
          <a:bodyPr>
            <a:normAutofit/>
          </a:bodyPr>
          <a:lstStyle/>
          <a:p>
            <a:pPr fontAlgn="base"/>
            <a:r>
              <a:rPr lang="en-IN" sz="2000" dirty="0"/>
              <a:t>The birth of the Digital Image Processing was in 1960. The first picture of the moon was taken by U.S. spacecraft Ranger 7 to Jet Propulsion Laboratory in 1964 which serves as the basis of future image processing. In the year 1970 image processing was used in medical imaging, astronomy, and remote sensing. From 1960 to today's date image processing has seen tremendous growth.</a:t>
            </a:r>
          </a:p>
          <a:p>
            <a:pPr marL="0" indent="0">
              <a:buNone/>
            </a:pPr>
            <a:r>
              <a:rPr lang="en-US" sz="2400" dirty="0"/>
              <a:t> </a:t>
            </a:r>
            <a:endParaRPr lang="en-IN" sz="2400" dirty="0"/>
          </a:p>
          <a:p>
            <a:endParaRPr lang="en-IN" sz="2200" dirty="0"/>
          </a:p>
        </p:txBody>
      </p:sp>
    </p:spTree>
    <p:extLst>
      <p:ext uri="{BB962C8B-B14F-4D97-AF65-F5344CB8AC3E}">
        <p14:creationId xmlns:p14="http://schemas.microsoft.com/office/powerpoint/2010/main" val="385280007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smtClean="0"/>
              <a:t/>
            </a:r>
            <a:br>
              <a:rPr lang="en-IN" sz="2800" b="1" dirty="0" smtClean="0"/>
            </a:br>
            <a:r>
              <a:rPr lang="en-IN" sz="2800" b="1" dirty="0" smtClean="0"/>
              <a:t>Applications </a:t>
            </a:r>
            <a:r>
              <a:rPr lang="en-IN" sz="2800" b="1" dirty="0"/>
              <a:t>of Digital Image Processing</a:t>
            </a:r>
            <a:r>
              <a:rPr lang="en-IN" sz="2800" dirty="0"/>
              <a:t/>
            </a:r>
            <a:br>
              <a:rPr lang="en-IN" sz="2800" dirty="0"/>
            </a:br>
            <a:endParaRPr lang="en-IN" sz="2800" dirty="0"/>
          </a:p>
        </p:txBody>
      </p:sp>
      <p:sp>
        <p:nvSpPr>
          <p:cNvPr id="3" name="Content Placeholder 2"/>
          <p:cNvSpPr>
            <a:spLocks noGrp="1"/>
          </p:cNvSpPr>
          <p:nvPr>
            <p:ph idx="1"/>
          </p:nvPr>
        </p:nvSpPr>
        <p:spPr/>
        <p:txBody>
          <a:bodyPr>
            <a:normAutofit/>
          </a:bodyPr>
          <a:lstStyle/>
          <a:p>
            <a:pPr marL="0" indent="0">
              <a:buNone/>
            </a:pPr>
            <a:r>
              <a:rPr lang="en-IN" sz="2000" b="1" u="sng" dirty="0"/>
              <a:t>Improve visual appeal </a:t>
            </a:r>
            <a:endParaRPr lang="en-IN" sz="2000" b="1" u="sng" dirty="0" smtClean="0"/>
          </a:p>
          <a:p>
            <a:pPr marL="400050" lvl="1" indent="0">
              <a:buNone/>
            </a:pPr>
            <a:r>
              <a:rPr lang="en-IN" sz="2000" dirty="0"/>
              <a:t>Make images more pleasing for general viewing</a:t>
            </a:r>
            <a:r>
              <a:rPr lang="en-IN" sz="2000" dirty="0" smtClean="0"/>
              <a:t>.</a:t>
            </a:r>
          </a:p>
          <a:p>
            <a:pPr marL="0" indent="0">
              <a:buNone/>
            </a:pPr>
            <a:r>
              <a:rPr lang="en-IN" sz="2000" b="1" u="sng" dirty="0"/>
              <a:t>Increase </a:t>
            </a:r>
            <a:r>
              <a:rPr lang="en-IN" sz="2000" b="1" u="sng" dirty="0" smtClean="0"/>
              <a:t>interpretability</a:t>
            </a:r>
          </a:p>
          <a:p>
            <a:pPr marL="457200" lvl="3" indent="0">
              <a:buNone/>
            </a:pPr>
            <a:r>
              <a:rPr lang="en-IN" dirty="0"/>
              <a:t>Make features easier for humans to see (e.g., medical scans, satellite imagery).</a:t>
            </a:r>
          </a:p>
          <a:p>
            <a:pPr marL="0" indent="0">
              <a:buNone/>
            </a:pPr>
            <a:r>
              <a:rPr lang="en-IN" sz="2000" b="1" u="sng" dirty="0"/>
              <a:t>Aid </a:t>
            </a:r>
            <a:r>
              <a:rPr lang="en-IN" sz="2000" b="1" u="sng" dirty="0" smtClean="0"/>
              <a:t>analysis</a:t>
            </a:r>
          </a:p>
          <a:p>
            <a:pPr marL="457200" lvl="3" indent="0">
              <a:buNone/>
            </a:pPr>
            <a:r>
              <a:rPr lang="en-IN" dirty="0"/>
              <a:t>Prepare images as better input for automated processes like object recognition. </a:t>
            </a:r>
          </a:p>
          <a:p>
            <a:pPr marL="0" indent="0">
              <a:buNone/>
            </a:pPr>
            <a:r>
              <a:rPr lang="en-IN" sz="2000" b="1" u="sng" dirty="0" smtClean="0"/>
              <a:t>Image enhancement</a:t>
            </a:r>
          </a:p>
          <a:p>
            <a:pPr marL="457200" lvl="3" indent="0">
              <a:buNone/>
            </a:pPr>
            <a:r>
              <a:rPr lang="en-IN" dirty="0"/>
              <a:t>Digital Image Processing </a:t>
            </a:r>
            <a:r>
              <a:rPr lang="en-IN" dirty="0" err="1"/>
              <a:t>analyzes</a:t>
            </a:r>
            <a:r>
              <a:rPr lang="en-IN" dirty="0"/>
              <a:t> and manipulates the image to make it more informative for human interpretation and make it more suitable for better representation of the image.</a:t>
            </a:r>
          </a:p>
          <a:p>
            <a:pPr marL="0" indent="0">
              <a:buNone/>
            </a:pPr>
            <a:endParaRPr lang="en-IN" sz="2000" b="1" u="sng" dirty="0" smtClean="0"/>
          </a:p>
          <a:p>
            <a:pPr marL="800100" lvl="2" indent="0">
              <a:buNone/>
            </a:pPr>
            <a:endParaRPr lang="en-US" dirty="0" smtClean="0"/>
          </a:p>
          <a:p>
            <a:pPr marL="800100" lvl="2" indent="0">
              <a:buNone/>
            </a:pPr>
            <a:endParaRPr lang="en-US" dirty="0"/>
          </a:p>
          <a:p>
            <a:pPr marL="800100" lvl="2" indent="0">
              <a:buNone/>
            </a:pPr>
            <a:endParaRPr lang="en-US" dirty="0" smtClean="0"/>
          </a:p>
          <a:p>
            <a:pPr marL="800100" lvl="2" indent="0">
              <a:buNone/>
            </a:pPr>
            <a:endParaRPr lang="en-US" dirty="0"/>
          </a:p>
          <a:p>
            <a:pPr marL="800100" lvl="2" indent="0">
              <a:buNone/>
            </a:pPr>
            <a:endParaRPr lang="en-IN" dirty="0"/>
          </a:p>
        </p:txBody>
      </p:sp>
    </p:spTree>
    <p:extLst>
      <p:ext uri="{BB962C8B-B14F-4D97-AF65-F5344CB8AC3E}">
        <p14:creationId xmlns:p14="http://schemas.microsoft.com/office/powerpoint/2010/main" val="274988373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2800" b="1" dirty="0" smtClean="0"/>
              <a:t/>
            </a:r>
            <a:br>
              <a:rPr lang="en-IN" sz="2800" b="1" dirty="0" smtClean="0"/>
            </a:br>
            <a:r>
              <a:rPr lang="en-IN" sz="2800" b="1" dirty="0" smtClean="0"/>
              <a:t>Applications </a:t>
            </a:r>
            <a:r>
              <a:rPr lang="en-IN" sz="2800" b="1" dirty="0"/>
              <a:t>of Digital Image Processing</a:t>
            </a:r>
            <a:r>
              <a:rPr lang="en-IN" sz="2800" dirty="0"/>
              <a:t/>
            </a:r>
            <a:br>
              <a:rPr lang="en-IN" sz="2800" dirty="0"/>
            </a:br>
            <a:endParaRPr lang="en-IN" sz="2800" dirty="0"/>
          </a:p>
        </p:txBody>
      </p:sp>
      <p:sp>
        <p:nvSpPr>
          <p:cNvPr id="3" name="Content Placeholder 2"/>
          <p:cNvSpPr>
            <a:spLocks noGrp="1"/>
          </p:cNvSpPr>
          <p:nvPr>
            <p:ph idx="1"/>
          </p:nvPr>
        </p:nvSpPr>
        <p:spPr/>
        <p:txBody>
          <a:bodyPr>
            <a:normAutofit/>
          </a:bodyPr>
          <a:lstStyle/>
          <a:p>
            <a:pPr marL="0" indent="0">
              <a:buNone/>
            </a:pPr>
            <a:r>
              <a:rPr lang="en-IN" sz="2000" b="1" u="sng" dirty="0" smtClean="0"/>
              <a:t>Automatic inspection</a:t>
            </a:r>
          </a:p>
          <a:p>
            <a:pPr marL="400050" lvl="1" indent="0">
              <a:buNone/>
            </a:pPr>
            <a:r>
              <a:rPr lang="en-IN" sz="2000" dirty="0" smtClean="0"/>
              <a:t>In a bottling plant, Digital Image Processing checks the quality of the product and detects empty or partially filled bottles. </a:t>
            </a:r>
          </a:p>
          <a:p>
            <a:pPr marL="400050" lvl="1" indent="0">
              <a:buNone/>
            </a:pPr>
            <a:r>
              <a:rPr lang="en-IN" sz="2000" dirty="0" smtClean="0"/>
              <a:t>Industries such as automotive, electronics, and pharmaceuticals, demonstrating how automated systems enhance defect detection, reduce human error, and increase production efficiency.</a:t>
            </a:r>
          </a:p>
          <a:p>
            <a:pPr marL="0" indent="0">
              <a:buNone/>
            </a:pPr>
            <a:endParaRPr lang="en-IN" dirty="0" smtClean="0"/>
          </a:p>
          <a:p>
            <a:endParaRPr lang="en-IN" dirty="0" smtClean="0"/>
          </a:p>
          <a:p>
            <a:pPr marL="0" indent="0">
              <a:buNone/>
            </a:pPr>
            <a:endParaRPr lang="en-IN" dirty="0"/>
          </a:p>
        </p:txBody>
      </p:sp>
    </p:spTree>
    <p:extLst>
      <p:ext uri="{BB962C8B-B14F-4D97-AF65-F5344CB8AC3E}">
        <p14:creationId xmlns:p14="http://schemas.microsoft.com/office/powerpoint/2010/main" val="40266659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smtClean="0"/>
              <a:t/>
            </a:r>
            <a:br>
              <a:rPr lang="en-IN" sz="2800" b="1" dirty="0" smtClean="0"/>
            </a:br>
            <a:r>
              <a:rPr lang="en-IN" sz="2800" b="1" dirty="0" smtClean="0"/>
              <a:t>Automatic </a:t>
            </a:r>
            <a:r>
              <a:rPr lang="en-IN" sz="2800" b="1" dirty="0"/>
              <a:t>inspection</a:t>
            </a:r>
            <a:br>
              <a:rPr lang="en-IN" sz="2800" b="1" dirty="0"/>
            </a:br>
            <a:endParaRPr lang="en-IN" sz="2800" dirty="0"/>
          </a:p>
        </p:txBody>
      </p:sp>
      <p:sp>
        <p:nvSpPr>
          <p:cNvPr id="3" name="Content Placeholder 2"/>
          <p:cNvSpPr>
            <a:spLocks noGrp="1"/>
          </p:cNvSpPr>
          <p:nvPr>
            <p:ph idx="1"/>
          </p:nvPr>
        </p:nvSpPr>
        <p:spPr/>
        <p:txBody>
          <a:bodyPr>
            <a:normAutofit fontScale="25000" lnSpcReduction="20000"/>
          </a:bodyPr>
          <a:lstStyle/>
          <a:p>
            <a:pPr marL="0" indent="0">
              <a:buNone/>
            </a:pPr>
            <a:r>
              <a:rPr lang="en-IN" sz="5100" b="1" dirty="0"/>
              <a:t>How It Works</a:t>
            </a:r>
            <a:endParaRPr lang="en-IN" sz="5100" dirty="0"/>
          </a:p>
          <a:p>
            <a:pPr lvl="0"/>
            <a:r>
              <a:rPr lang="en-IN" sz="5100" b="1" u="sng" dirty="0"/>
              <a:t>Image Acquisition</a:t>
            </a:r>
            <a:r>
              <a:rPr lang="en-IN" sz="5100" dirty="0"/>
              <a:t>: Cameras capture high-resolution images of products on assembly lines, sometimes using specialized lighting (IR, X-ray).</a:t>
            </a:r>
          </a:p>
          <a:p>
            <a:pPr lvl="0"/>
            <a:r>
              <a:rPr lang="en-IN" sz="5100" b="1" u="sng" dirty="0"/>
              <a:t>Image </a:t>
            </a:r>
            <a:r>
              <a:rPr lang="en-IN" sz="5100" b="1" u="sng" dirty="0" err="1"/>
              <a:t>Preprocessing</a:t>
            </a:r>
            <a:r>
              <a:rPr lang="en-IN" sz="5100" dirty="0"/>
              <a:t>: Software cleans up images (noise reduction, contrast enhancement) for better analysis.</a:t>
            </a:r>
          </a:p>
          <a:p>
            <a:pPr lvl="0"/>
            <a:r>
              <a:rPr lang="en-IN" sz="5100" b="1" u="sng" dirty="0"/>
              <a:t>Feature Extraction</a:t>
            </a:r>
            <a:r>
              <a:rPr lang="en-IN" sz="5100" dirty="0"/>
              <a:t>: Algorithms identify key features like edges, shapes, textures, and </a:t>
            </a:r>
            <a:r>
              <a:rPr lang="en-IN" sz="5100" dirty="0" err="1"/>
              <a:t>colors</a:t>
            </a:r>
            <a:r>
              <a:rPr lang="en-IN" sz="5100" dirty="0" smtClean="0"/>
              <a:t>.</a:t>
            </a:r>
          </a:p>
          <a:p>
            <a:pPr lvl="0"/>
            <a:endParaRPr lang="en-IN" sz="5100" dirty="0"/>
          </a:p>
          <a:p>
            <a:pPr marL="0" lvl="0" indent="0">
              <a:buNone/>
            </a:pPr>
            <a:r>
              <a:rPr lang="en-IN" sz="5100" dirty="0" smtClean="0"/>
              <a:t>Example  - </a:t>
            </a:r>
          </a:p>
          <a:p>
            <a:pPr marL="0" lvl="0" indent="0">
              <a:buNone/>
            </a:pPr>
            <a:r>
              <a:rPr lang="en-IN" sz="5100" dirty="0" smtClean="0"/>
              <a:t>Image </a:t>
            </a:r>
            <a:r>
              <a:rPr lang="en-IN" sz="5100" dirty="0"/>
              <a:t>Processing </a:t>
            </a:r>
            <a:r>
              <a:rPr lang="en-IN" sz="5100" dirty="0" smtClean="0"/>
              <a:t>Steps for detecting defects in a metal nail:</a:t>
            </a:r>
          </a:p>
          <a:p>
            <a:pPr marL="0" lvl="0" indent="0">
              <a:buNone/>
            </a:pPr>
            <a:r>
              <a:rPr lang="en-IN" sz="5100" dirty="0" smtClean="0"/>
              <a:t> </a:t>
            </a:r>
            <a:r>
              <a:rPr lang="en-IN" sz="5100" dirty="0"/>
              <a:t>1. </a:t>
            </a:r>
            <a:r>
              <a:rPr lang="en-IN" sz="5100" b="1" dirty="0"/>
              <a:t>Dataset Creation</a:t>
            </a:r>
            <a:r>
              <a:rPr lang="en-IN" sz="5100" dirty="0"/>
              <a:t>: A dataset was created by capturing multiple images of metal nails under different conditions. These images were then </a:t>
            </a:r>
            <a:r>
              <a:rPr lang="en-IN" sz="5100" dirty="0" smtClean="0"/>
              <a:t>labelled </a:t>
            </a:r>
            <a:r>
              <a:rPr lang="en-IN" sz="5100" dirty="0"/>
              <a:t>using </a:t>
            </a:r>
            <a:r>
              <a:rPr lang="en-IN" sz="5100" dirty="0" smtClean="0"/>
              <a:t>software </a:t>
            </a:r>
            <a:r>
              <a:rPr lang="en-IN" sz="5100" dirty="0"/>
              <a:t>to accurately classify them as defected or non-defected</a:t>
            </a:r>
            <a:r>
              <a:rPr lang="en-IN" sz="5100" dirty="0" smtClean="0"/>
              <a:t>.</a:t>
            </a:r>
          </a:p>
          <a:p>
            <a:pPr marL="0" lvl="0" indent="0">
              <a:buNone/>
            </a:pPr>
            <a:endParaRPr lang="en-IN" sz="5100" dirty="0"/>
          </a:p>
          <a:p>
            <a:pPr marL="0" lvl="0" indent="0">
              <a:buNone/>
            </a:pPr>
            <a:r>
              <a:rPr lang="en-IN" sz="5100" dirty="0" smtClean="0"/>
              <a:t> </a:t>
            </a:r>
            <a:r>
              <a:rPr lang="en-IN" sz="5100" dirty="0"/>
              <a:t>2. </a:t>
            </a:r>
            <a:r>
              <a:rPr lang="en-IN" sz="5100" b="1" dirty="0" smtClean="0"/>
              <a:t>Pre-processing</a:t>
            </a:r>
            <a:r>
              <a:rPr lang="en-IN" sz="5100" dirty="0" smtClean="0"/>
              <a:t>: </a:t>
            </a:r>
            <a:r>
              <a:rPr lang="en-IN" sz="5100" dirty="0"/>
              <a:t>The acquired images underwent several </a:t>
            </a:r>
            <a:r>
              <a:rPr lang="en-IN" sz="5100" dirty="0" smtClean="0"/>
              <a:t>pre-processing </a:t>
            </a:r>
            <a:r>
              <a:rPr lang="en-IN" sz="5100" dirty="0"/>
              <a:t>steps to improve their quality. These steps included resizing for uniform dimensions, applying noise reduction techniques to remove distortions, and adjusting contrast to enhance defect visibility. </a:t>
            </a:r>
            <a:endParaRPr lang="en-IN" sz="5100" dirty="0" smtClean="0"/>
          </a:p>
          <a:p>
            <a:pPr marL="0" lvl="0" indent="0">
              <a:buNone/>
            </a:pPr>
            <a:endParaRPr lang="en-IN" sz="5100" dirty="0"/>
          </a:p>
          <a:p>
            <a:pPr marL="0" lvl="0" indent="0">
              <a:buNone/>
            </a:pPr>
            <a:r>
              <a:rPr lang="en-IN" sz="5100" dirty="0" smtClean="0"/>
              <a:t>3</a:t>
            </a:r>
            <a:r>
              <a:rPr lang="en-IN" sz="5100" dirty="0"/>
              <a:t>. </a:t>
            </a:r>
            <a:r>
              <a:rPr lang="en-IN" sz="5100" b="1" dirty="0"/>
              <a:t>Training Model</a:t>
            </a:r>
            <a:r>
              <a:rPr lang="en-IN" sz="5100" dirty="0"/>
              <a:t>: The </a:t>
            </a:r>
            <a:r>
              <a:rPr lang="en-IN" sz="5100" dirty="0" smtClean="0"/>
              <a:t>labelled </a:t>
            </a:r>
            <a:r>
              <a:rPr lang="en-IN" sz="5100" dirty="0"/>
              <a:t>and </a:t>
            </a:r>
            <a:r>
              <a:rPr lang="en-IN" sz="5100" dirty="0" smtClean="0"/>
              <a:t>pre-processed </a:t>
            </a:r>
            <a:r>
              <a:rPr lang="en-IN" sz="5100" dirty="0"/>
              <a:t>images were used to train a machine learning model that distinguishes between defected and non-defected nails. The model was trained to recognize patterns from the dataset, ensuring high classification accuracy</a:t>
            </a:r>
            <a:r>
              <a:rPr lang="en-IN" sz="5100" dirty="0" smtClean="0"/>
              <a:t>.</a:t>
            </a:r>
          </a:p>
          <a:p>
            <a:pPr marL="0" lvl="0" indent="0">
              <a:buNone/>
            </a:pPr>
            <a:endParaRPr lang="en-IN" sz="5100" dirty="0"/>
          </a:p>
          <a:p>
            <a:pPr marL="0" lvl="0" indent="0">
              <a:buNone/>
            </a:pPr>
            <a:r>
              <a:rPr lang="en-IN" sz="5100" dirty="0" smtClean="0"/>
              <a:t> </a:t>
            </a:r>
            <a:r>
              <a:rPr lang="en-IN" sz="5100" dirty="0"/>
              <a:t>4. </a:t>
            </a:r>
            <a:r>
              <a:rPr lang="en-IN" sz="5100" b="1" dirty="0"/>
              <a:t>Implementation</a:t>
            </a:r>
            <a:r>
              <a:rPr lang="en-IN" sz="5100" dirty="0"/>
              <a:t>: The trained model was integrated into a conveyor belt system for real-time testing and validation. Although the system is still in development, it aims to automate the inspection process by </a:t>
            </a:r>
            <a:r>
              <a:rPr lang="en-IN" sz="5100" dirty="0" smtClean="0"/>
              <a:t>analysing </a:t>
            </a:r>
            <a:r>
              <a:rPr lang="en-IN" sz="5100" dirty="0"/>
              <a:t>each nail as it </a:t>
            </a:r>
            <a:r>
              <a:rPr lang="en-IN" sz="5100" dirty="0" smtClean="0"/>
              <a:t>moves</a:t>
            </a:r>
            <a:endParaRPr lang="en-IN" sz="5100" dirty="0"/>
          </a:p>
        </p:txBody>
      </p:sp>
    </p:spTree>
    <p:extLst>
      <p:ext uri="{BB962C8B-B14F-4D97-AF65-F5344CB8AC3E}">
        <p14:creationId xmlns:p14="http://schemas.microsoft.com/office/powerpoint/2010/main" val="12580591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Applications of Digital Image Processing</a:t>
            </a:r>
            <a:endParaRPr lang="en-IN" sz="2800" dirty="0"/>
          </a:p>
        </p:txBody>
      </p:sp>
      <p:sp>
        <p:nvSpPr>
          <p:cNvPr id="3" name="Content Placeholder 2"/>
          <p:cNvSpPr>
            <a:spLocks noGrp="1"/>
          </p:cNvSpPr>
          <p:nvPr>
            <p:ph idx="1"/>
          </p:nvPr>
        </p:nvSpPr>
        <p:spPr/>
        <p:txBody>
          <a:bodyPr>
            <a:normAutofit lnSpcReduction="10000"/>
          </a:bodyPr>
          <a:lstStyle/>
          <a:p>
            <a:pPr marL="0" indent="0">
              <a:buNone/>
            </a:pPr>
            <a:r>
              <a:rPr lang="en-IN" sz="2000" b="1" u="sng" dirty="0"/>
              <a:t>Video Processing</a:t>
            </a:r>
          </a:p>
          <a:p>
            <a:pPr marL="400050" lvl="1" indent="0">
              <a:buNone/>
            </a:pPr>
            <a:r>
              <a:rPr lang="en-IN" sz="2000" dirty="0"/>
              <a:t>These techniques can spot moving stuff in videos.</a:t>
            </a:r>
          </a:p>
          <a:p>
            <a:pPr lvl="0"/>
            <a:endParaRPr lang="en-IN" sz="2000" b="1" dirty="0"/>
          </a:p>
          <a:p>
            <a:pPr marL="0" lvl="0" indent="0">
              <a:buNone/>
            </a:pPr>
            <a:r>
              <a:rPr lang="en-IN" sz="2000" b="1" u="sng" dirty="0"/>
              <a:t>Remote Sensing</a:t>
            </a:r>
          </a:p>
          <a:p>
            <a:pPr marL="400050" lvl="1" indent="0">
              <a:buNone/>
            </a:pPr>
            <a:r>
              <a:rPr lang="en-IN" sz="2000" dirty="0"/>
              <a:t>Digital Image Processing is essential in remote sensing and helps to </a:t>
            </a:r>
            <a:r>
              <a:rPr lang="en-IN" sz="2000" dirty="0" err="1"/>
              <a:t>analyze</a:t>
            </a:r>
            <a:r>
              <a:rPr lang="en-IN" sz="2000" dirty="0"/>
              <a:t> satellite and aerial images which helps with agriculture, environmental monitoring, and managing disaster.</a:t>
            </a:r>
          </a:p>
          <a:p>
            <a:pPr marL="0" lvl="0" indent="0">
              <a:buNone/>
            </a:pPr>
            <a:endParaRPr lang="en-IN" sz="2000" b="1" u="sng" dirty="0" smtClean="0"/>
          </a:p>
          <a:p>
            <a:pPr marL="0" lvl="0" indent="0">
              <a:buNone/>
            </a:pPr>
            <a:r>
              <a:rPr lang="en-IN" sz="2000" b="1" u="sng" dirty="0" smtClean="0"/>
              <a:t>Analysis </a:t>
            </a:r>
            <a:r>
              <a:rPr lang="en-IN" sz="2000" b="1" u="sng" dirty="0"/>
              <a:t>&amp; Decision</a:t>
            </a:r>
            <a:r>
              <a:rPr lang="en-IN" sz="2000" u="sng" dirty="0" smtClean="0"/>
              <a:t>:</a:t>
            </a:r>
          </a:p>
          <a:p>
            <a:pPr marL="457200" lvl="1" indent="0">
              <a:buNone/>
            </a:pPr>
            <a:r>
              <a:rPr lang="en-IN" sz="2000" b="1" dirty="0" smtClean="0"/>
              <a:t>Traditional </a:t>
            </a:r>
            <a:r>
              <a:rPr lang="en-IN" sz="2000" b="1" dirty="0"/>
              <a:t>Methods</a:t>
            </a:r>
            <a:r>
              <a:rPr lang="en-IN" sz="2000" dirty="0"/>
              <a:t>: Template matching compares images to a "perfect" template.</a:t>
            </a:r>
          </a:p>
          <a:p>
            <a:pPr marL="457200" lvl="1" indent="0">
              <a:buNone/>
            </a:pPr>
            <a:r>
              <a:rPr lang="en-IN" sz="2000" b="1" dirty="0"/>
              <a:t>AI/Deep Learning</a:t>
            </a:r>
            <a:r>
              <a:rPr lang="en-IN" sz="2000" dirty="0"/>
              <a:t>: Convolutional Neural Networks (CNNs) learn from vast datasets to classify defects (e.g., scratch vs. dent) and even unseen flaws</a:t>
            </a:r>
            <a:r>
              <a:rPr lang="en-IN" sz="2000" dirty="0" smtClean="0"/>
              <a:t>.</a:t>
            </a:r>
          </a:p>
          <a:p>
            <a:pPr marL="457200" lvl="1" indent="0">
              <a:buNone/>
            </a:pPr>
            <a:endParaRPr lang="en-US" sz="2000" dirty="0"/>
          </a:p>
          <a:p>
            <a:pPr marL="457200" lvl="1" indent="0">
              <a:buNone/>
            </a:pPr>
            <a:endParaRPr lang="en-US" sz="2000" dirty="0" smtClean="0"/>
          </a:p>
          <a:p>
            <a:pPr marL="457200" lvl="1" indent="0">
              <a:buNone/>
            </a:pPr>
            <a:endParaRPr lang="en-IN" sz="2000" dirty="0"/>
          </a:p>
          <a:p>
            <a:pPr marL="0" indent="0">
              <a:buNone/>
            </a:pPr>
            <a:endParaRPr lang="en-IN" dirty="0"/>
          </a:p>
        </p:txBody>
      </p:sp>
    </p:spTree>
    <p:extLst>
      <p:ext uri="{BB962C8B-B14F-4D97-AF65-F5344CB8AC3E}">
        <p14:creationId xmlns:p14="http://schemas.microsoft.com/office/powerpoint/2010/main" val="42336540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Applications of Digital Image Processing</a:t>
            </a:r>
            <a:endParaRPr lang="en-IN" sz="2800" dirty="0"/>
          </a:p>
        </p:txBody>
      </p:sp>
      <p:sp>
        <p:nvSpPr>
          <p:cNvPr id="3" name="Content Placeholder 2"/>
          <p:cNvSpPr>
            <a:spLocks noGrp="1"/>
          </p:cNvSpPr>
          <p:nvPr>
            <p:ph idx="1"/>
          </p:nvPr>
        </p:nvSpPr>
        <p:spPr/>
        <p:txBody>
          <a:bodyPr>
            <a:normAutofit fontScale="32500" lnSpcReduction="20000"/>
          </a:bodyPr>
          <a:lstStyle/>
          <a:p>
            <a:pPr marL="0" lvl="0" indent="0">
              <a:buNone/>
            </a:pPr>
            <a:r>
              <a:rPr lang="en-IN" sz="6200" b="1" u="sng" dirty="0"/>
              <a:t>Medical </a:t>
            </a:r>
            <a:r>
              <a:rPr lang="en-IN" sz="6200" b="1" u="sng" dirty="0" smtClean="0"/>
              <a:t>visualization</a:t>
            </a:r>
            <a:endParaRPr lang="en-IN" sz="6200" u="sng" dirty="0" smtClean="0"/>
          </a:p>
          <a:p>
            <a:pPr marL="400050" lvl="1" indent="0">
              <a:buNone/>
            </a:pPr>
            <a:r>
              <a:rPr lang="en-IN" sz="4300" dirty="0" smtClean="0"/>
              <a:t>In </a:t>
            </a:r>
            <a:r>
              <a:rPr lang="en-IN" sz="4300" dirty="0"/>
              <a:t>medicine, Digital Image Processing helps to enhance the quality of images and </a:t>
            </a:r>
            <a:r>
              <a:rPr lang="en-IN" sz="4300" dirty="0" err="1"/>
              <a:t>analyze</a:t>
            </a:r>
            <a:r>
              <a:rPr lang="en-IN" sz="4300" dirty="0"/>
              <a:t> medical images such as X-rays, MRI, and CT scans. It also helps to assist in diagnosis and treatment </a:t>
            </a:r>
            <a:r>
              <a:rPr lang="en-IN" sz="4300" dirty="0" smtClean="0"/>
              <a:t>planning.</a:t>
            </a:r>
          </a:p>
          <a:p>
            <a:pPr marL="400050" lvl="1" indent="0">
              <a:buNone/>
            </a:pPr>
            <a:endParaRPr lang="en-US" sz="4300" dirty="0"/>
          </a:p>
          <a:p>
            <a:pPr marL="400050" lvl="1" indent="0">
              <a:buNone/>
            </a:pPr>
            <a:r>
              <a:rPr lang="en-US" sz="4300" b="1" dirty="0" smtClean="0"/>
              <a:t>X-Ray</a:t>
            </a:r>
          </a:p>
          <a:p>
            <a:pPr marL="400050" lvl="1" indent="0">
              <a:buNone/>
            </a:pPr>
            <a:r>
              <a:rPr lang="en-US" sz="4300" dirty="0" smtClean="0"/>
              <a:t>A heated filament (cathode) in a vacuum tube releases electrons. </a:t>
            </a:r>
            <a:r>
              <a:rPr lang="en-IN" sz="4300" dirty="0" smtClean="0"/>
              <a:t>A high voltage </a:t>
            </a:r>
            <a:r>
              <a:rPr lang="en-US" sz="4300" dirty="0" smtClean="0"/>
              <a:t>accelerates these electrons toward an anode.  When high-speed electrons strike the anode, most energy becomes heat (99%), but about 1% is converted into X-ray photons, which shoot out in a focused beam. The X-ray beam passes through the patient's body. Denser materials, like bone, absorb more X-rays, while softer tissues (muscle, fat) absorb less and let more pass through.</a:t>
            </a:r>
            <a:r>
              <a:rPr lang="en-US" sz="4300" b="1" dirty="0" smtClean="0"/>
              <a:t> </a:t>
            </a:r>
          </a:p>
          <a:p>
            <a:pPr marL="0" indent="0">
              <a:buNone/>
            </a:pPr>
            <a:r>
              <a:rPr lang="en-US" sz="4300" b="1" dirty="0" smtClean="0"/>
              <a:t>         Image </a:t>
            </a:r>
            <a:r>
              <a:rPr lang="en-US" sz="4300" b="1" dirty="0"/>
              <a:t>Processing (The Result)</a:t>
            </a:r>
          </a:p>
          <a:p>
            <a:pPr marL="0" indent="0">
              <a:buNone/>
            </a:pPr>
            <a:r>
              <a:rPr lang="en-US" sz="4300" b="1" dirty="0" smtClean="0"/>
              <a:t>          Film </a:t>
            </a:r>
            <a:r>
              <a:rPr lang="en-US" sz="4300" b="1" dirty="0"/>
              <a:t>Radiography:</a:t>
            </a:r>
            <a:r>
              <a:rPr lang="en-US" sz="4300" dirty="0"/>
              <a:t> </a:t>
            </a:r>
            <a:endParaRPr lang="en-US" sz="4300" dirty="0" smtClean="0"/>
          </a:p>
          <a:p>
            <a:pPr marL="400050" lvl="1" indent="0">
              <a:buNone/>
            </a:pPr>
            <a:r>
              <a:rPr lang="en-US" sz="4300" dirty="0" smtClean="0"/>
              <a:t>X-rays </a:t>
            </a:r>
            <a:r>
              <a:rPr lang="en-US" sz="4300" dirty="0"/>
              <a:t>cause chemical changes in </a:t>
            </a:r>
            <a:r>
              <a:rPr lang="en-US" sz="4300" dirty="0" err="1" smtClean="0"/>
              <a:t>film</a:t>
            </a:r>
            <a:r>
              <a:rPr lang="en-US" sz="4300" dirty="0" err="1"/>
              <a:t>areas</a:t>
            </a:r>
            <a:r>
              <a:rPr lang="en-US" sz="4300" dirty="0"/>
              <a:t> with more X-rays turn black, while blocked areas remain white (bones).</a:t>
            </a:r>
          </a:p>
          <a:p>
            <a:pPr marL="0" indent="0">
              <a:buNone/>
            </a:pPr>
            <a:r>
              <a:rPr lang="en-US" sz="4300" b="1" dirty="0" smtClean="0"/>
              <a:t>          Digital Radiography:</a:t>
            </a:r>
          </a:p>
          <a:p>
            <a:pPr marL="400050" lvl="1" indent="0">
              <a:buNone/>
            </a:pPr>
            <a:r>
              <a:rPr lang="en-US" sz="4300" dirty="0" smtClean="0"/>
              <a:t>Detectors </a:t>
            </a:r>
            <a:r>
              <a:rPr lang="en-US" sz="4300" dirty="0"/>
              <a:t>capture X-rays as light or electronic signals, which are then digitally processed by computers to reconstruct a high-contrast, detailed image for viewing on a screen. </a:t>
            </a:r>
            <a:endParaRPr lang="en-US" sz="4300" dirty="0" smtClean="0"/>
          </a:p>
          <a:p>
            <a:pPr marL="0" indent="0">
              <a:buNone/>
            </a:pPr>
            <a:r>
              <a:rPr lang="en-US" sz="4300" b="1" dirty="0" smtClean="0"/>
              <a:t>        </a:t>
            </a:r>
            <a:r>
              <a:rPr lang="en-US" sz="4300" b="1" dirty="0" smtClean="0"/>
              <a:t>  The </a:t>
            </a:r>
            <a:r>
              <a:rPr lang="en-US" sz="4300" b="1" dirty="0"/>
              <a:t>Final Image</a:t>
            </a:r>
          </a:p>
          <a:p>
            <a:pPr marL="0" indent="0">
              <a:buNone/>
            </a:pPr>
            <a:r>
              <a:rPr lang="en-US" sz="4300" b="1" dirty="0" smtClean="0"/>
              <a:t>            White/Light </a:t>
            </a:r>
            <a:r>
              <a:rPr lang="en-US" sz="4300" b="1" dirty="0"/>
              <a:t>Areas:</a:t>
            </a:r>
            <a:r>
              <a:rPr lang="en-US" sz="4300" dirty="0"/>
              <a:t> High absorption by dense structures (bone, metal).</a:t>
            </a:r>
          </a:p>
          <a:p>
            <a:pPr marL="0" indent="0">
              <a:buNone/>
            </a:pPr>
            <a:r>
              <a:rPr lang="en-US" sz="4300" b="1" dirty="0" smtClean="0"/>
              <a:t>            Black/Dark </a:t>
            </a:r>
            <a:r>
              <a:rPr lang="en-US" sz="4300" b="1" dirty="0"/>
              <a:t>Areas:</a:t>
            </a:r>
            <a:r>
              <a:rPr lang="en-US" sz="4300" dirty="0"/>
              <a:t> Low absorption, allowing X-rays to pass easily through soft tissues, air.</a:t>
            </a:r>
          </a:p>
          <a:p>
            <a:endParaRPr lang="en-US" dirty="0"/>
          </a:p>
          <a:p>
            <a:endParaRPr lang="en-US" dirty="0"/>
          </a:p>
          <a:p>
            <a:pPr marL="400050" lvl="1" indent="0">
              <a:buNone/>
            </a:pPr>
            <a:endParaRPr lang="en-IN" sz="2000" dirty="0"/>
          </a:p>
        </p:txBody>
      </p:sp>
    </p:spTree>
    <p:extLst>
      <p:ext uri="{BB962C8B-B14F-4D97-AF65-F5344CB8AC3E}">
        <p14:creationId xmlns:p14="http://schemas.microsoft.com/office/powerpoint/2010/main" val="20225039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Applications of Digital Image Processing</a:t>
            </a:r>
            <a:endParaRPr lang="en-IN" sz="2800" dirty="0"/>
          </a:p>
        </p:txBody>
      </p:sp>
      <p:sp>
        <p:nvSpPr>
          <p:cNvPr id="3" name="Content Placeholder 2"/>
          <p:cNvSpPr>
            <a:spLocks noGrp="1"/>
          </p:cNvSpPr>
          <p:nvPr>
            <p:ph idx="1"/>
          </p:nvPr>
        </p:nvSpPr>
        <p:spPr/>
        <p:txBody>
          <a:bodyPr>
            <a:noAutofit/>
          </a:bodyPr>
          <a:lstStyle/>
          <a:p>
            <a:pPr marL="0" indent="0">
              <a:buNone/>
            </a:pPr>
            <a:r>
              <a:rPr lang="en-IN" sz="2000" b="1" u="sng" dirty="0"/>
              <a:t>Biometrics</a:t>
            </a:r>
            <a:r>
              <a:rPr lang="en-IN" sz="2000" b="1" u="sng" dirty="0" smtClean="0"/>
              <a:t>:</a:t>
            </a:r>
          </a:p>
          <a:p>
            <a:pPr marL="0" indent="0">
              <a:buNone/>
            </a:pPr>
            <a:r>
              <a:rPr lang="en-IN" sz="2000" dirty="0" smtClean="0"/>
              <a:t>Digital image processing is used in security systems to perform tasks such as fingerprint recognition, facial recognition, and object tracking to improve security systems. Biometrics in digital image processing uses computer vision and image analysis to identify people from unique physical traits like faces, fingerprints, and irises, involving steps like image capture, pre-processing (noise reduction, enhancement), feature extraction (finding unique patterns), and matching against stored templates for secure identification, access control, and surveillance. Image processing is crucial for cleaning up raw biometric </a:t>
            </a:r>
            <a:r>
              <a:rPr lang="en-IN" sz="2000" dirty="0"/>
              <a:t>images (e.g., smoothing fingerprints, correcting facial angles) to ensure accurate feature extraction and reliable authentication.</a:t>
            </a:r>
            <a:r>
              <a:rPr lang="en-IN" sz="2400" dirty="0"/>
              <a:t> </a:t>
            </a:r>
            <a:r>
              <a:rPr lang="en-IN" sz="2400" dirty="0" smtClean="0"/>
              <a:t>	</a:t>
            </a:r>
            <a:endParaRPr lang="en-IN" sz="2400" dirty="0"/>
          </a:p>
        </p:txBody>
      </p:sp>
    </p:spTree>
    <p:extLst>
      <p:ext uri="{BB962C8B-B14F-4D97-AF65-F5344CB8AC3E}">
        <p14:creationId xmlns:p14="http://schemas.microsoft.com/office/powerpoint/2010/main" val="12996910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Applications of Digital Image Processing</a:t>
            </a:r>
            <a:endParaRPr lang="en-IN" sz="2800" dirty="0"/>
          </a:p>
        </p:txBody>
      </p:sp>
      <p:sp>
        <p:nvSpPr>
          <p:cNvPr id="3" name="Content Placeholder 2"/>
          <p:cNvSpPr>
            <a:spLocks noGrp="1"/>
          </p:cNvSpPr>
          <p:nvPr>
            <p:ph idx="1"/>
          </p:nvPr>
        </p:nvSpPr>
        <p:spPr/>
        <p:txBody>
          <a:bodyPr>
            <a:normAutofit/>
          </a:bodyPr>
          <a:lstStyle/>
          <a:p>
            <a:r>
              <a:rPr lang="en-IN" sz="2000" b="1" dirty="0"/>
              <a:t>How Image Processing Works in Biometrics:</a:t>
            </a:r>
          </a:p>
          <a:p>
            <a:pPr marL="400050" lvl="1" indent="0">
              <a:buNone/>
            </a:pPr>
            <a:r>
              <a:rPr lang="en-IN" sz="2000" b="1" dirty="0"/>
              <a:t>Capture:</a:t>
            </a:r>
            <a:r>
              <a:rPr lang="en-IN" sz="2000" dirty="0"/>
              <a:t> A sensor (camera, scanner) acquires the raw image (face, fingerprint, etc.).</a:t>
            </a:r>
          </a:p>
          <a:p>
            <a:pPr marL="400050" lvl="1" indent="0">
              <a:buNone/>
            </a:pPr>
            <a:r>
              <a:rPr lang="en-IN" sz="2000" b="1" dirty="0" smtClean="0"/>
              <a:t>Pre-processing:</a:t>
            </a:r>
            <a:r>
              <a:rPr lang="en-IN" sz="2000" dirty="0"/>
              <a:t> Techniques like filtering, smoothing, and noise reduction clean up the image to remove distortions, making features clearer.</a:t>
            </a:r>
          </a:p>
          <a:p>
            <a:pPr marL="400050" lvl="1" indent="0">
              <a:buNone/>
            </a:pPr>
            <a:r>
              <a:rPr lang="en-IN" sz="2000" b="1" dirty="0"/>
              <a:t>Feature Extraction:</a:t>
            </a:r>
            <a:r>
              <a:rPr lang="en-IN" sz="2000" dirty="0"/>
              <a:t> Algorithms identify and quantify unique points (like ridge endings in fingerprints or facial landmarks) to create a numerical template.</a:t>
            </a:r>
          </a:p>
          <a:p>
            <a:pPr marL="400050" lvl="1" indent="0">
              <a:buNone/>
            </a:pPr>
            <a:r>
              <a:rPr lang="en-IN" sz="2000" b="1" dirty="0"/>
              <a:t>Matching:</a:t>
            </a:r>
            <a:r>
              <a:rPr lang="en-IN" sz="2000" dirty="0"/>
              <a:t> The extracted template is compared to stored templates in a database to find a match for verification or identification. </a:t>
            </a:r>
          </a:p>
          <a:p>
            <a:endParaRPr lang="en-IN" dirty="0"/>
          </a:p>
        </p:txBody>
      </p:sp>
    </p:spTree>
    <p:extLst>
      <p:ext uri="{BB962C8B-B14F-4D97-AF65-F5344CB8AC3E}">
        <p14:creationId xmlns:p14="http://schemas.microsoft.com/office/powerpoint/2010/main" val="23219199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2800" b="1" dirty="0" smtClean="0"/>
              <a:t/>
            </a:r>
            <a:br>
              <a:rPr lang="en-IN" sz="2800" b="1" dirty="0" smtClean="0"/>
            </a:br>
            <a:r>
              <a:rPr lang="en-IN" sz="2800" b="1" dirty="0" smtClean="0"/>
              <a:t>Components </a:t>
            </a:r>
            <a:r>
              <a:rPr lang="en-IN" sz="2800" b="1" dirty="0"/>
              <a:t>of Digital Image Processing</a:t>
            </a:r>
            <a:br>
              <a:rPr lang="en-IN" sz="2800" b="1" dirty="0"/>
            </a:br>
            <a:endParaRPr lang="en-IN" sz="2800" dirty="0"/>
          </a:p>
        </p:txBody>
      </p:sp>
      <p:pic>
        <p:nvPicPr>
          <p:cNvPr id="4" name="Content Placeholder 3" descr="Block Diagram of Digital Image Processi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33188" y="1600200"/>
            <a:ext cx="5277624" cy="4525963"/>
          </a:xfrm>
          <a:prstGeom prst="rect">
            <a:avLst/>
          </a:prstGeom>
          <a:noFill/>
          <a:ln>
            <a:noFill/>
          </a:ln>
        </p:spPr>
      </p:pic>
    </p:spTree>
    <p:extLst>
      <p:ext uri="{BB962C8B-B14F-4D97-AF65-F5344CB8AC3E}">
        <p14:creationId xmlns:p14="http://schemas.microsoft.com/office/powerpoint/2010/main" val="34718080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Components of Digital Image Processing</a:t>
            </a:r>
            <a:endParaRPr lang="en-IN" sz="2800" dirty="0"/>
          </a:p>
        </p:txBody>
      </p:sp>
      <p:sp>
        <p:nvSpPr>
          <p:cNvPr id="3" name="Content Placeholder 2"/>
          <p:cNvSpPr>
            <a:spLocks noGrp="1"/>
          </p:cNvSpPr>
          <p:nvPr>
            <p:ph idx="1"/>
          </p:nvPr>
        </p:nvSpPr>
        <p:spPr/>
        <p:txBody>
          <a:bodyPr>
            <a:normAutofit fontScale="62500" lnSpcReduction="20000"/>
          </a:bodyPr>
          <a:lstStyle/>
          <a:p>
            <a:pPr fontAlgn="base"/>
            <a:r>
              <a:rPr lang="en-IN" sz="2900" b="1" dirty="0"/>
              <a:t>Image Sensors/sensing</a:t>
            </a:r>
            <a:r>
              <a:rPr lang="en-IN" sz="2900" dirty="0" smtClean="0"/>
              <a:t>:</a:t>
            </a:r>
            <a:endParaRPr lang="en-IN" sz="2900" dirty="0"/>
          </a:p>
          <a:p>
            <a:pPr marL="400050" lvl="1" indent="0" fontAlgn="base">
              <a:buNone/>
            </a:pPr>
            <a:r>
              <a:rPr lang="en-IN" sz="2900" dirty="0"/>
              <a:t>To get digital images two subsystems are required: The first is a physical sensor that responds to the energy radiated by the object and the second is a device used for converting the physical sensing device into a digital form called a digitizer. A digitizer converts result outputs to digital data</a:t>
            </a:r>
            <a:r>
              <a:rPr lang="en-IN" sz="2900" dirty="0" smtClean="0"/>
              <a:t>.</a:t>
            </a:r>
          </a:p>
          <a:p>
            <a:pPr marL="400050" lvl="1" indent="0" fontAlgn="base">
              <a:buNone/>
            </a:pPr>
            <a:endParaRPr lang="en-IN" sz="2900" dirty="0"/>
          </a:p>
          <a:p>
            <a:pPr fontAlgn="base"/>
            <a:r>
              <a:rPr lang="en-IN" sz="2900" b="1" dirty="0"/>
              <a:t>Specialized image processing hardware:</a:t>
            </a:r>
          </a:p>
          <a:p>
            <a:pPr marL="400050" lvl="1" indent="0" fontAlgn="base">
              <a:buNone/>
            </a:pPr>
            <a:r>
              <a:rPr lang="en-IN" sz="2900" dirty="0"/>
              <a:t>To perform arithmetic and logical operations on the entire image a digitizer and hardware are used. This hardware is also called a front-end subsystem, and its speed is the most distinguishing characteristic. Because of the requirement of fast data throughput the typical main computer cannot handle </a:t>
            </a:r>
            <a:r>
              <a:rPr lang="en-IN" sz="2900" dirty="0" smtClean="0"/>
              <a:t>it. </a:t>
            </a:r>
            <a:r>
              <a:rPr lang="en-IN" sz="2900" dirty="0" err="1" smtClean="0"/>
              <a:t>Eg</a:t>
            </a:r>
            <a:r>
              <a:rPr lang="en-IN" sz="2900" dirty="0" smtClean="0"/>
              <a:t>: </a:t>
            </a:r>
            <a:r>
              <a:rPr lang="en-US" sz="2900" b="1" dirty="0" smtClean="0"/>
              <a:t>Image </a:t>
            </a:r>
            <a:r>
              <a:rPr lang="en-US" sz="2900" b="1" dirty="0"/>
              <a:t>Signal Processor (ISP)</a:t>
            </a:r>
            <a:r>
              <a:rPr lang="en-US" sz="2900" dirty="0"/>
              <a:t>, found in smartphones and cameras, which uses dedicated circuits for tasks like noise </a:t>
            </a:r>
            <a:r>
              <a:rPr lang="en-US" sz="2900" dirty="0" smtClean="0"/>
              <a:t>reduction, image correction</a:t>
            </a:r>
            <a:r>
              <a:rPr lang="en-US" sz="2900" dirty="0" smtClean="0"/>
              <a:t>.</a:t>
            </a:r>
          </a:p>
          <a:p>
            <a:pPr marL="400050" lvl="1" indent="0" fontAlgn="base">
              <a:buNone/>
            </a:pPr>
            <a:endParaRPr lang="en-IN" sz="2900" dirty="0"/>
          </a:p>
          <a:p>
            <a:pPr fontAlgn="base"/>
            <a:r>
              <a:rPr lang="en-IN" sz="2900" b="1" dirty="0"/>
              <a:t>Computer:</a:t>
            </a:r>
          </a:p>
          <a:p>
            <a:pPr marL="400050" lvl="1" indent="0" fontAlgn="base">
              <a:buNone/>
            </a:pPr>
            <a:r>
              <a:rPr lang="en-IN" sz="2900" dirty="0"/>
              <a:t>The computer in an image processing system is a general-purpose computer that can range from a PC to a supercomputer. A well-equipped PC is beneficial for offline image processing tasks in image processing systems.</a:t>
            </a:r>
          </a:p>
          <a:p>
            <a:endParaRPr lang="en-IN" dirty="0"/>
          </a:p>
        </p:txBody>
      </p:sp>
    </p:spTree>
    <p:extLst>
      <p:ext uri="{BB962C8B-B14F-4D97-AF65-F5344CB8AC3E}">
        <p14:creationId xmlns:p14="http://schemas.microsoft.com/office/powerpoint/2010/main" val="936267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Components of Digital Image Processing</a:t>
            </a:r>
            <a:endParaRPr lang="en-IN" sz="2800" dirty="0"/>
          </a:p>
        </p:txBody>
      </p:sp>
      <p:sp>
        <p:nvSpPr>
          <p:cNvPr id="3" name="Content Placeholder 2"/>
          <p:cNvSpPr>
            <a:spLocks noGrp="1"/>
          </p:cNvSpPr>
          <p:nvPr>
            <p:ph idx="1"/>
          </p:nvPr>
        </p:nvSpPr>
        <p:spPr>
          <a:xfrm>
            <a:off x="457200" y="1600200"/>
            <a:ext cx="8147248" cy="4925144"/>
          </a:xfrm>
        </p:spPr>
        <p:txBody>
          <a:bodyPr>
            <a:normAutofit fontScale="25000" lnSpcReduction="20000"/>
          </a:bodyPr>
          <a:lstStyle/>
          <a:p>
            <a:pPr fontAlgn="base"/>
            <a:r>
              <a:rPr lang="en-IN" sz="6400" b="1" dirty="0"/>
              <a:t>Image Processing Software:</a:t>
            </a:r>
          </a:p>
          <a:p>
            <a:pPr marL="400050" lvl="1" indent="0" fontAlgn="base">
              <a:buNone/>
            </a:pPr>
            <a:r>
              <a:rPr lang="en-IN" sz="6400" dirty="0" smtClean="0"/>
              <a:t>It consists of some specialized modules that perform some specific task. A well-designed package allows users to write minimum code and utilizes the specialized module. Highly developed software packages allow the integration of those modules and software commands from at least one computer language. MATLAB is a well-known image processing toolbox that is common in image processing systems.</a:t>
            </a:r>
          </a:p>
          <a:p>
            <a:pPr marL="400050" lvl="1" indent="0" fontAlgn="base">
              <a:buNone/>
            </a:pPr>
            <a:endParaRPr lang="en-IN" sz="6400" dirty="0"/>
          </a:p>
          <a:p>
            <a:pPr fontAlgn="base"/>
            <a:r>
              <a:rPr lang="en-IN" sz="6400" b="1" dirty="0"/>
              <a:t>Mass Storage:</a:t>
            </a:r>
          </a:p>
          <a:p>
            <a:pPr marL="400050" lvl="1" indent="0" fontAlgn="base">
              <a:buNone/>
            </a:pPr>
            <a:r>
              <a:rPr lang="en-IN" sz="6400" dirty="0"/>
              <a:t>Mass storage is crucial in image processing applications when dealing with large sizes of images. An image of size 1024 × 1024 pixels requires one-megabyte storage if it is not compressed. Image processing systems face the challenge of storing thousands, or even millions, of images. Digital storage follows three principles :</a:t>
            </a:r>
          </a:p>
          <a:p>
            <a:pPr marL="400050" lvl="1" indent="0" fontAlgn="base">
              <a:buNone/>
            </a:pPr>
            <a:r>
              <a:rPr lang="en-IN" sz="6400" b="1" dirty="0"/>
              <a:t>Short-term storage </a:t>
            </a:r>
            <a:r>
              <a:rPr lang="en-IN" sz="6400" dirty="0"/>
              <a:t>for use during processing.</a:t>
            </a:r>
          </a:p>
          <a:p>
            <a:pPr marL="400050" lvl="1" indent="0" fontAlgn="base">
              <a:buNone/>
            </a:pPr>
            <a:r>
              <a:rPr lang="en-IN" sz="6400" b="1" dirty="0"/>
              <a:t>Online storage</a:t>
            </a:r>
            <a:r>
              <a:rPr lang="en-IN" sz="6400" dirty="0"/>
              <a:t> for relatively fast recall.</a:t>
            </a:r>
          </a:p>
          <a:p>
            <a:pPr marL="400050" lvl="1" indent="0" fontAlgn="base">
              <a:buNone/>
            </a:pPr>
            <a:r>
              <a:rPr lang="en-IN" sz="6400" b="1" dirty="0"/>
              <a:t>Archival storage</a:t>
            </a:r>
            <a:r>
              <a:rPr lang="en-IN" sz="6400" dirty="0"/>
              <a:t> is characterized by infrequent access.</a:t>
            </a:r>
          </a:p>
          <a:p>
            <a:pPr marL="400050" lvl="1" indent="0" fontAlgn="base">
              <a:buNone/>
            </a:pPr>
            <a:r>
              <a:rPr lang="en-IN" sz="6400" dirty="0"/>
              <a:t>Storages are measured in bytes(eight bits), Kbytes(one thousand bytes), Mbytes(one million bytes), </a:t>
            </a:r>
            <a:r>
              <a:rPr lang="en-IN" sz="6400" dirty="0" err="1"/>
              <a:t>Gbytes</a:t>
            </a:r>
            <a:r>
              <a:rPr lang="en-IN" sz="6400" dirty="0"/>
              <a:t>(Giga or one billion bytes), and </a:t>
            </a:r>
            <a:r>
              <a:rPr lang="en-IN" sz="6400" dirty="0" err="1"/>
              <a:t>Tbytes</a:t>
            </a:r>
            <a:r>
              <a:rPr lang="en-IN" sz="6400" dirty="0"/>
              <a:t>(</a:t>
            </a:r>
            <a:r>
              <a:rPr lang="en-IN" sz="6400" dirty="0" err="1"/>
              <a:t>Tera</a:t>
            </a:r>
            <a:r>
              <a:rPr lang="en-IN" sz="6400" dirty="0"/>
              <a:t> or one trillion bytes</a:t>
            </a:r>
            <a:r>
              <a:rPr lang="en-IN" sz="6400" dirty="0" smtClean="0"/>
              <a:t>).</a:t>
            </a:r>
          </a:p>
          <a:p>
            <a:pPr marL="400050" lvl="1" indent="0" fontAlgn="base">
              <a:buNone/>
            </a:pPr>
            <a:endParaRPr lang="en-IN" sz="6400" dirty="0"/>
          </a:p>
          <a:p>
            <a:pPr fontAlgn="base"/>
            <a:r>
              <a:rPr lang="en-IN" sz="6400" b="1" dirty="0"/>
              <a:t>Image Displays:</a:t>
            </a:r>
          </a:p>
          <a:p>
            <a:pPr marL="400050" lvl="1" indent="0" fontAlgn="base">
              <a:buNone/>
            </a:pPr>
            <a:r>
              <a:rPr lang="en-IN" sz="6400" dirty="0"/>
              <a:t>Image displays are mainly </a:t>
            </a:r>
            <a:r>
              <a:rPr lang="en-IN" sz="6400" dirty="0" err="1"/>
              <a:t>color</a:t>
            </a:r>
            <a:r>
              <a:rPr lang="en-IN" sz="6400" dirty="0"/>
              <a:t>, flat-screen monitors. Monitors are driven by the outputs of image and graphics display cards which play an integral part of the computer system.</a:t>
            </a:r>
          </a:p>
          <a:p>
            <a:endParaRPr lang="en-IN" dirty="0"/>
          </a:p>
        </p:txBody>
      </p:sp>
    </p:spTree>
    <p:extLst>
      <p:ext uri="{BB962C8B-B14F-4D97-AF65-F5344CB8AC3E}">
        <p14:creationId xmlns:p14="http://schemas.microsoft.com/office/powerpoint/2010/main" val="35561056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t>Components of Digital Image Processing</a:t>
            </a:r>
            <a:endParaRPr lang="en-IN" sz="2800" dirty="0"/>
          </a:p>
        </p:txBody>
      </p:sp>
      <p:sp>
        <p:nvSpPr>
          <p:cNvPr id="3" name="Content Placeholder 2"/>
          <p:cNvSpPr>
            <a:spLocks noGrp="1"/>
          </p:cNvSpPr>
          <p:nvPr>
            <p:ph idx="1"/>
          </p:nvPr>
        </p:nvSpPr>
        <p:spPr/>
        <p:txBody>
          <a:bodyPr>
            <a:normAutofit lnSpcReduction="10000"/>
          </a:bodyPr>
          <a:lstStyle/>
          <a:p>
            <a:pPr fontAlgn="base"/>
            <a:r>
              <a:rPr lang="en-IN" sz="1800" b="1" dirty="0" smtClean="0"/>
              <a:t>Hardcopy:</a:t>
            </a:r>
          </a:p>
          <a:p>
            <a:pPr marL="400050" lvl="1" indent="0" fontAlgn="base">
              <a:buNone/>
            </a:pPr>
            <a:r>
              <a:rPr lang="en-IN" sz="1800" dirty="0" smtClean="0"/>
              <a:t>Hardcopy devices are used for recording images which include laser printers, film cameras, heat sensitive devices, ink-jet units, and digital units, such as optical and CD-ROM disks. The film is responsible for providing the highest resolution, but paper is the obvious medium for written material. Images are in a digital medium if image projection equipment is used. The final approach is to gain acceptance as the standard for image presentations</a:t>
            </a:r>
            <a:r>
              <a:rPr lang="en-IN" sz="1800" dirty="0" smtClean="0"/>
              <a:t>.</a:t>
            </a:r>
          </a:p>
          <a:p>
            <a:pPr marL="400050" lvl="1" indent="0" fontAlgn="base">
              <a:buNone/>
            </a:pPr>
            <a:endParaRPr lang="en-IN" sz="1800" dirty="0" smtClean="0"/>
          </a:p>
          <a:p>
            <a:pPr fontAlgn="base"/>
            <a:r>
              <a:rPr lang="en-IN" sz="1800" b="1" dirty="0" smtClean="0"/>
              <a:t>Networking and Cloud:</a:t>
            </a:r>
          </a:p>
          <a:p>
            <a:pPr marL="400050" lvl="1" indent="0" fontAlgn="base">
              <a:buNone/>
            </a:pPr>
            <a:r>
              <a:rPr lang="en-IN" sz="1800" dirty="0" smtClean="0"/>
              <a:t>Networking and cloud communication are mostly used functions in today's era. Because of the large amount of data built-in in image processing applications, the key consideration in image transmission is bandwidth. When communicating with remote sites via the internet is not always as efficient, so to tackle this situation optical fibre and other broadband technologies are used. Image data compression plays a major role in the transmission of large amounts of image data.</a:t>
            </a:r>
          </a:p>
          <a:p>
            <a:endParaRPr lang="en-IN" dirty="0"/>
          </a:p>
        </p:txBody>
      </p:sp>
    </p:spTree>
    <p:extLst>
      <p:ext uri="{BB962C8B-B14F-4D97-AF65-F5344CB8AC3E}">
        <p14:creationId xmlns:p14="http://schemas.microsoft.com/office/powerpoint/2010/main" val="17965095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smtClean="0"/>
              <a:t/>
            </a:r>
            <a:br>
              <a:rPr lang="en-US" sz="2800" dirty="0" smtClean="0"/>
            </a:br>
            <a:r>
              <a:rPr lang="en-US" sz="2800" b="1" dirty="0" smtClean="0"/>
              <a:t>Types </a:t>
            </a:r>
            <a:r>
              <a:rPr lang="en-US" sz="2800" b="1" dirty="0"/>
              <a:t>of Images</a:t>
            </a:r>
            <a:r>
              <a:rPr lang="en-IN" sz="2800" dirty="0"/>
              <a:t/>
            </a:r>
            <a:br>
              <a:rPr lang="en-IN" sz="2800" dirty="0"/>
            </a:br>
            <a:endParaRPr lang="en-IN" sz="2800" dirty="0"/>
          </a:p>
        </p:txBody>
      </p:sp>
      <p:sp>
        <p:nvSpPr>
          <p:cNvPr id="3" name="Content Placeholder 2"/>
          <p:cNvSpPr>
            <a:spLocks noGrp="1"/>
          </p:cNvSpPr>
          <p:nvPr>
            <p:ph idx="1"/>
          </p:nvPr>
        </p:nvSpPr>
        <p:spPr/>
        <p:txBody>
          <a:bodyPr>
            <a:normAutofit fontScale="77500" lnSpcReduction="20000"/>
          </a:bodyPr>
          <a:lstStyle/>
          <a:p>
            <a:pPr marL="0" lvl="0" indent="0">
              <a:buNone/>
            </a:pPr>
            <a:r>
              <a:rPr lang="en-IN" sz="3100" b="1" dirty="0" smtClean="0"/>
              <a:t> </a:t>
            </a:r>
            <a:r>
              <a:rPr lang="en-IN" sz="2300" b="1" dirty="0" smtClean="0"/>
              <a:t>Binary </a:t>
            </a:r>
            <a:r>
              <a:rPr lang="en-IN" sz="2300" b="1" dirty="0"/>
              <a:t>Images (Monochrome/1-bit):</a:t>
            </a:r>
            <a:r>
              <a:rPr lang="en-IN" sz="2300" dirty="0"/>
              <a:t> </a:t>
            </a:r>
          </a:p>
          <a:p>
            <a:pPr marL="914400" lvl="1" indent="-514350">
              <a:buFont typeface="+mj-lt"/>
              <a:buAutoNum type="arabicPeriod"/>
            </a:pPr>
            <a:r>
              <a:rPr lang="en-IN" sz="2300" dirty="0"/>
              <a:t>Simplest form, only two values (0 for black, 1 for white</a:t>
            </a:r>
            <a:r>
              <a:rPr lang="en-IN" sz="2300" dirty="0" smtClean="0"/>
              <a:t>).</a:t>
            </a:r>
          </a:p>
          <a:p>
            <a:pPr marL="914400" lvl="1" indent="-514350">
              <a:buFont typeface="+mj-lt"/>
              <a:buAutoNum type="arabicPeriod"/>
            </a:pPr>
            <a:r>
              <a:rPr lang="en-IN" sz="2300" dirty="0" smtClean="0"/>
              <a:t>Ideal </a:t>
            </a:r>
            <a:r>
              <a:rPr lang="en-IN" sz="2300" dirty="0"/>
              <a:t>for OCR, line drawings, or simple </a:t>
            </a:r>
            <a:r>
              <a:rPr lang="en-IN" sz="2300" dirty="0" smtClean="0"/>
              <a:t>silhouettes, Optical </a:t>
            </a:r>
            <a:r>
              <a:rPr lang="en-IN" sz="2300" dirty="0"/>
              <a:t>Character Recognition (OCR), simple icons, document </a:t>
            </a:r>
            <a:r>
              <a:rPr lang="en-IN" sz="2300" dirty="0" smtClean="0"/>
              <a:t>scanning.</a:t>
            </a:r>
          </a:p>
          <a:p>
            <a:pPr marL="400050" lvl="1" indent="0">
              <a:buNone/>
            </a:pPr>
            <a:endParaRPr lang="en-IN" sz="2300" dirty="0" smtClean="0"/>
          </a:p>
          <a:p>
            <a:pPr marL="400050" lvl="1" indent="0">
              <a:buNone/>
            </a:pPr>
            <a:endParaRPr lang="en-IN" sz="2300" dirty="0"/>
          </a:p>
          <a:p>
            <a:pPr marL="0" lvl="0" indent="0">
              <a:buNone/>
            </a:pPr>
            <a:r>
              <a:rPr lang="en-IN" sz="2300" b="1" dirty="0" err="1" smtClean="0"/>
              <a:t>Grayscale</a:t>
            </a:r>
            <a:r>
              <a:rPr lang="en-IN" sz="2300" b="1" dirty="0" smtClean="0"/>
              <a:t> </a:t>
            </a:r>
            <a:r>
              <a:rPr lang="en-IN" sz="2300" b="1" dirty="0"/>
              <a:t>Images:</a:t>
            </a:r>
            <a:r>
              <a:rPr lang="en-IN" sz="2300" dirty="0"/>
              <a:t> </a:t>
            </a:r>
          </a:p>
          <a:p>
            <a:pPr marL="857250" lvl="1" indent="-457200">
              <a:buFont typeface="+mj-lt"/>
              <a:buAutoNum type="arabicPeriod"/>
            </a:pPr>
            <a:r>
              <a:rPr lang="en-IN" sz="2300" dirty="0" smtClean="0"/>
              <a:t>Represent </a:t>
            </a:r>
            <a:r>
              <a:rPr lang="en-IN" sz="2300" dirty="0"/>
              <a:t>intensity from black (0) to white (255) using 8 bits per </a:t>
            </a:r>
            <a:r>
              <a:rPr lang="en-IN" sz="2300" dirty="0" smtClean="0"/>
              <a:t>pixel </a:t>
            </a:r>
            <a:r>
              <a:rPr lang="en-IN" sz="2300" dirty="0" err="1" smtClean="0"/>
              <a:t>ie</a:t>
            </a:r>
            <a:r>
              <a:rPr lang="en-IN" sz="2300" dirty="0" smtClean="0"/>
              <a:t> 256 levels where 0=black and 255=white and the rest are shades of grey.</a:t>
            </a:r>
            <a:r>
              <a:rPr lang="en-IN" sz="2300" dirty="0"/>
              <a:t> </a:t>
            </a:r>
            <a:endParaRPr lang="en-IN" sz="2300" dirty="0" smtClean="0"/>
          </a:p>
          <a:p>
            <a:pPr marL="914400" lvl="1" indent="-457200">
              <a:buFont typeface="+mj-lt"/>
              <a:buAutoNum type="arabicPeriod"/>
            </a:pPr>
            <a:r>
              <a:rPr lang="en-IN" sz="2300" dirty="0" smtClean="0"/>
              <a:t>Shows </a:t>
            </a:r>
            <a:r>
              <a:rPr lang="en-IN" sz="2300" dirty="0"/>
              <a:t>various shades of </a:t>
            </a:r>
            <a:r>
              <a:rPr lang="en-IN" sz="2300" dirty="0" smtClean="0"/>
              <a:t>grey.</a:t>
            </a:r>
            <a:r>
              <a:rPr lang="en-IN" sz="2300" dirty="0"/>
              <a:t> </a:t>
            </a:r>
            <a:endParaRPr lang="en-IN" sz="2300" dirty="0" smtClean="0"/>
          </a:p>
          <a:p>
            <a:pPr marL="914400" lvl="1" indent="-457200">
              <a:buFont typeface="+mj-lt"/>
              <a:buAutoNum type="arabicPeriod"/>
            </a:pPr>
            <a:r>
              <a:rPr lang="en-IN" sz="2300" dirty="0" err="1" smtClean="0"/>
              <a:t>Grayscale</a:t>
            </a:r>
            <a:r>
              <a:rPr lang="en-IN" sz="2300" dirty="0" smtClean="0"/>
              <a:t> </a:t>
            </a:r>
            <a:r>
              <a:rPr lang="en-IN" sz="2300" dirty="0"/>
              <a:t>images are used in </a:t>
            </a:r>
            <a:r>
              <a:rPr lang="en-IN" sz="2300" b="1" dirty="0"/>
              <a:t>medical imaging</a:t>
            </a:r>
            <a:r>
              <a:rPr lang="en-IN" sz="2300" dirty="0"/>
              <a:t> (X-rays, CTs), </a:t>
            </a:r>
            <a:r>
              <a:rPr lang="en-IN" sz="2300" b="1" dirty="0"/>
              <a:t>computer vision/AI</a:t>
            </a:r>
            <a:r>
              <a:rPr lang="en-IN" sz="2300" dirty="0"/>
              <a:t> (object detection, feature extraction), </a:t>
            </a:r>
            <a:r>
              <a:rPr lang="en-IN" sz="2300" b="1" dirty="0"/>
              <a:t>digital photography/art</a:t>
            </a:r>
            <a:r>
              <a:rPr lang="en-IN" sz="2300" dirty="0"/>
              <a:t> (emphasizing texture, mood), </a:t>
            </a:r>
            <a:r>
              <a:rPr lang="en-IN" sz="2300" b="1" dirty="0"/>
              <a:t>printing/publishing</a:t>
            </a:r>
            <a:r>
              <a:rPr lang="en-IN" sz="2300" dirty="0"/>
              <a:t> (</a:t>
            </a:r>
            <a:r>
              <a:rPr lang="en-IN" sz="2300" dirty="0" smtClean="0"/>
              <a:t>cost </a:t>
            </a:r>
            <a:r>
              <a:rPr lang="en-IN" sz="2300" dirty="0"/>
              <a:t>reduction in newspapers, books), and </a:t>
            </a:r>
            <a:r>
              <a:rPr lang="en-IN" sz="2300" b="1" dirty="0"/>
              <a:t>tech/UI</a:t>
            </a:r>
            <a:r>
              <a:rPr lang="en-IN" sz="2300" dirty="0"/>
              <a:t> (reducing eye strain, low-power modes) because they simplify data, focus on intensity/shape, and lower processing needs. </a:t>
            </a:r>
          </a:p>
        </p:txBody>
      </p:sp>
    </p:spTree>
    <p:extLst>
      <p:ext uri="{BB962C8B-B14F-4D97-AF65-F5344CB8AC3E}">
        <p14:creationId xmlns:p14="http://schemas.microsoft.com/office/powerpoint/2010/main" val="353991646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800" b="1" dirty="0" smtClean="0"/>
              <a:t/>
            </a:r>
            <a:br>
              <a:rPr lang="en-US" sz="2800" b="1" dirty="0" smtClean="0"/>
            </a:br>
            <a:r>
              <a:rPr lang="en-US" sz="2800" b="1" dirty="0" smtClean="0"/>
              <a:t>Types </a:t>
            </a:r>
            <a:r>
              <a:rPr lang="en-US" sz="2800" b="1" dirty="0"/>
              <a:t>of Images</a:t>
            </a:r>
            <a:r>
              <a:rPr lang="en-IN" sz="2800" dirty="0"/>
              <a:t/>
            </a:r>
            <a:br>
              <a:rPr lang="en-IN" sz="2800" dirty="0"/>
            </a:br>
            <a:endParaRPr lang="en-IN" sz="2800" dirty="0"/>
          </a:p>
        </p:txBody>
      </p:sp>
      <p:sp>
        <p:nvSpPr>
          <p:cNvPr id="3" name="Content Placeholder 2"/>
          <p:cNvSpPr>
            <a:spLocks noGrp="1"/>
          </p:cNvSpPr>
          <p:nvPr>
            <p:ph idx="1"/>
          </p:nvPr>
        </p:nvSpPr>
        <p:spPr/>
        <p:txBody>
          <a:bodyPr/>
          <a:lstStyle/>
          <a:p>
            <a:pPr lvl="0"/>
            <a:r>
              <a:rPr lang="en-IN" sz="2000" b="1" u="sng" dirty="0" smtClean="0"/>
              <a:t>Colour </a:t>
            </a:r>
            <a:r>
              <a:rPr lang="en-IN" sz="2000" b="1" u="sng" dirty="0"/>
              <a:t>Images (</a:t>
            </a:r>
            <a:r>
              <a:rPr lang="en-IN" sz="2000" b="1" u="sng" dirty="0" err="1"/>
              <a:t>Truecolor</a:t>
            </a:r>
            <a:r>
              <a:rPr lang="en-IN" sz="2000" b="1" u="sng" dirty="0"/>
              <a:t>/RGB</a:t>
            </a:r>
            <a:r>
              <a:rPr lang="en-IN" sz="2000" b="1" dirty="0"/>
              <a:t>):</a:t>
            </a:r>
            <a:r>
              <a:rPr lang="en-IN" sz="2000" dirty="0"/>
              <a:t> </a:t>
            </a:r>
          </a:p>
          <a:p>
            <a:pPr marL="400050" lvl="1" indent="0">
              <a:buNone/>
            </a:pPr>
            <a:r>
              <a:rPr lang="en-IN" sz="2000" dirty="0" smtClean="0"/>
              <a:t>Different </a:t>
            </a:r>
            <a:r>
              <a:rPr lang="en-IN" sz="2000" dirty="0" err="1" smtClean="0"/>
              <a:t>colors</a:t>
            </a:r>
            <a:r>
              <a:rPr lang="en-IN" sz="2000" dirty="0" smtClean="0"/>
              <a:t> are formed by mixing shades. Uses different models.</a:t>
            </a:r>
          </a:p>
          <a:p>
            <a:pPr marL="400050" lvl="1" indent="0">
              <a:buNone/>
            </a:pPr>
            <a:r>
              <a:rPr lang="en-IN" sz="2000" dirty="0" smtClean="0"/>
              <a:t>The primary is RGB(Red</a:t>
            </a:r>
            <a:r>
              <a:rPr lang="en-IN" sz="2000" dirty="0"/>
              <a:t>, Green, Blue) to create millions of </a:t>
            </a:r>
            <a:r>
              <a:rPr lang="en-IN" sz="2000" dirty="0" err="1"/>
              <a:t>colors</a:t>
            </a:r>
            <a:r>
              <a:rPr lang="en-IN" sz="2000" dirty="0"/>
              <a:t>, common for photos (e.g., JPEG, PNG). </a:t>
            </a:r>
            <a:endParaRPr lang="en-IN" sz="2000" dirty="0" smtClean="0"/>
          </a:p>
          <a:p>
            <a:pPr marL="400050" lvl="1" indent="0">
              <a:buNone/>
            </a:pPr>
            <a:r>
              <a:rPr lang="en-US" sz="2000" dirty="0" smtClean="0"/>
              <a:t>R occupies 8 bits, G occupies 8 bits, Blue occupies 8 bits.</a:t>
            </a:r>
          </a:p>
          <a:p>
            <a:pPr marL="400050" lvl="1" indent="0">
              <a:buNone/>
            </a:pPr>
            <a:r>
              <a:rPr lang="en-US" sz="2000" dirty="0" smtClean="0"/>
              <a:t>RGB occupies 24 bits.</a:t>
            </a:r>
            <a:endParaRPr lang="en-IN" sz="2000" dirty="0" smtClean="0"/>
          </a:p>
          <a:p>
            <a:pPr marL="400050" lvl="1" indent="0">
              <a:buNone/>
            </a:pPr>
            <a:r>
              <a:rPr lang="en-IN" sz="2000" dirty="0" smtClean="0"/>
              <a:t>Photography</a:t>
            </a:r>
            <a:r>
              <a:rPr lang="en-IN" sz="2000" dirty="0"/>
              <a:t>, web graphics, most visual applications</a:t>
            </a:r>
            <a:r>
              <a:rPr lang="en-IN" sz="2000" dirty="0" smtClean="0"/>
              <a:t>.</a:t>
            </a:r>
          </a:p>
          <a:p>
            <a:pPr marL="400050" lvl="1" indent="0">
              <a:buNone/>
            </a:pPr>
            <a:endParaRPr lang="en-IN" sz="2000" dirty="0" smtClean="0"/>
          </a:p>
          <a:p>
            <a:pPr lvl="0"/>
            <a:r>
              <a:rPr lang="en-IN" sz="2000" b="1" u="sng" dirty="0"/>
              <a:t>HDR (High Dynamic Range) Images</a:t>
            </a:r>
            <a:r>
              <a:rPr lang="en-IN" sz="2000" b="1" dirty="0"/>
              <a:t>:</a:t>
            </a:r>
            <a:r>
              <a:rPr lang="en-IN" sz="2000" dirty="0"/>
              <a:t> </a:t>
            </a:r>
          </a:p>
          <a:p>
            <a:pPr marL="400050" lvl="1" indent="0">
              <a:buNone/>
            </a:pPr>
            <a:r>
              <a:rPr lang="en-IN" sz="2000" dirty="0"/>
              <a:t>Contain a wider range of luminosity than standard images, capturing more detail in very bright and dark</a:t>
            </a:r>
          </a:p>
          <a:p>
            <a:pPr marL="400050" lvl="1" indent="0">
              <a:buNone/>
            </a:pPr>
            <a:endParaRPr lang="en-IN" sz="2000" dirty="0"/>
          </a:p>
          <a:p>
            <a:endParaRPr lang="en-IN" dirty="0"/>
          </a:p>
        </p:txBody>
      </p:sp>
    </p:spTree>
    <p:extLst>
      <p:ext uri="{BB962C8B-B14F-4D97-AF65-F5344CB8AC3E}">
        <p14:creationId xmlns:p14="http://schemas.microsoft.com/office/powerpoint/2010/main" val="118752932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100" b="1" dirty="0" smtClean="0"/>
              <a:t/>
            </a:r>
            <a:br>
              <a:rPr lang="en-US" sz="3100" b="1" dirty="0" smtClean="0"/>
            </a:br>
            <a:r>
              <a:rPr lang="en-US" sz="3100" b="1" dirty="0" smtClean="0"/>
              <a:t>Types of Images</a:t>
            </a:r>
            <a:r>
              <a:rPr lang="en-IN" dirty="0"/>
              <a:t/>
            </a:r>
            <a:br>
              <a:rPr lang="en-IN" dirty="0"/>
            </a:br>
            <a:endParaRPr lang="en-IN" dirty="0"/>
          </a:p>
        </p:txBody>
      </p:sp>
      <p:sp>
        <p:nvSpPr>
          <p:cNvPr id="3" name="Content Placeholder 2"/>
          <p:cNvSpPr>
            <a:spLocks noGrp="1"/>
          </p:cNvSpPr>
          <p:nvPr>
            <p:ph idx="1"/>
          </p:nvPr>
        </p:nvSpPr>
        <p:spPr/>
        <p:txBody>
          <a:bodyPr>
            <a:normAutofit lnSpcReduction="10000"/>
          </a:bodyPr>
          <a:lstStyle/>
          <a:p>
            <a:pPr lvl="0"/>
            <a:r>
              <a:rPr lang="en-IN" sz="1900" b="1" dirty="0"/>
              <a:t>Indexed Images:</a:t>
            </a:r>
            <a:r>
              <a:rPr lang="en-IN" sz="1900" dirty="0"/>
              <a:t> </a:t>
            </a:r>
          </a:p>
          <a:p>
            <a:pPr marL="400050" lvl="1" indent="0">
              <a:buNone/>
            </a:pPr>
            <a:r>
              <a:rPr lang="en-IN" sz="1900" dirty="0"/>
              <a:t>Use a limited </a:t>
            </a:r>
            <a:r>
              <a:rPr lang="en-IN" sz="1900" dirty="0" err="1"/>
              <a:t>color</a:t>
            </a:r>
            <a:r>
              <a:rPr lang="en-IN" sz="1900" dirty="0"/>
              <a:t> palette (e.g., 256 </a:t>
            </a:r>
            <a:r>
              <a:rPr lang="en-IN" sz="1900" dirty="0" err="1"/>
              <a:t>colors</a:t>
            </a:r>
            <a:r>
              <a:rPr lang="en-IN" sz="1900" dirty="0"/>
              <a:t> for GIF) with pixel values acting as indices to a separate </a:t>
            </a:r>
            <a:r>
              <a:rPr lang="en-IN" sz="1900" dirty="0" err="1"/>
              <a:t>color</a:t>
            </a:r>
            <a:r>
              <a:rPr lang="en-IN" sz="1900" dirty="0"/>
              <a:t> map</a:t>
            </a:r>
            <a:r>
              <a:rPr lang="en-IN" sz="1900" dirty="0" smtClean="0"/>
              <a:t>.</a:t>
            </a:r>
          </a:p>
          <a:p>
            <a:pPr marL="400050" lvl="1" indent="0">
              <a:buNone/>
            </a:pPr>
            <a:r>
              <a:rPr lang="en-IN" sz="1900" dirty="0" smtClean="0"/>
              <a:t>Indexed </a:t>
            </a:r>
            <a:r>
              <a:rPr lang="en-IN" sz="1900" dirty="0"/>
              <a:t>images are used in memory-efficient graphics (GIF, PNG), scientific visualization (remote sensing, medical imaging), and computer graphics for fast </a:t>
            </a:r>
            <a:r>
              <a:rPr lang="en-IN" sz="1900" dirty="0" err="1"/>
              <a:t>color</a:t>
            </a:r>
            <a:r>
              <a:rPr lang="en-IN" sz="1900" dirty="0"/>
              <a:t> lookups, leveraging a limited </a:t>
            </a:r>
            <a:r>
              <a:rPr lang="en-IN" sz="1900" dirty="0" err="1"/>
              <a:t>color</a:t>
            </a:r>
            <a:r>
              <a:rPr lang="en-IN" sz="1900" dirty="0"/>
              <a:t> palette to reduce file size and speed up processing, allowing easy </a:t>
            </a:r>
            <a:r>
              <a:rPr lang="en-IN" sz="1900" dirty="0" err="1"/>
              <a:t>color</a:t>
            </a:r>
            <a:r>
              <a:rPr lang="en-IN" sz="1900" dirty="0"/>
              <a:t> changes by just editing the palette</a:t>
            </a:r>
            <a:r>
              <a:rPr lang="en-IN" sz="1900" dirty="0" smtClean="0"/>
              <a:t>.</a:t>
            </a:r>
          </a:p>
          <a:p>
            <a:pPr marL="400050" lvl="1" indent="0">
              <a:buNone/>
            </a:pPr>
            <a:r>
              <a:rPr lang="en-IN" sz="1900" dirty="0" smtClean="0"/>
              <a:t> </a:t>
            </a:r>
            <a:r>
              <a:rPr lang="en-IN" sz="1900" dirty="0"/>
              <a:t>They're perfect for images with few distinct </a:t>
            </a:r>
            <a:r>
              <a:rPr lang="en-IN" sz="1900" dirty="0" err="1"/>
              <a:t>colors</a:t>
            </a:r>
            <a:r>
              <a:rPr lang="en-IN" sz="1900" dirty="0"/>
              <a:t>, like icons, logos, or simple diagrams, saving space by storing indices instead of full </a:t>
            </a:r>
            <a:r>
              <a:rPr lang="en-IN" sz="1900" dirty="0" err="1"/>
              <a:t>color</a:t>
            </a:r>
            <a:r>
              <a:rPr lang="en-IN" sz="1900" dirty="0"/>
              <a:t> data for every pixel, as seen in formats like GIF, </a:t>
            </a:r>
            <a:r>
              <a:rPr lang="en-IN" sz="1900" dirty="0" smtClean="0"/>
              <a:t>PNG.</a:t>
            </a:r>
            <a:endParaRPr lang="en-IN" sz="1900" dirty="0"/>
          </a:p>
          <a:p>
            <a:pPr marL="400050" lvl="1" indent="0">
              <a:buNone/>
            </a:pPr>
            <a:r>
              <a:rPr lang="en-IN" sz="1900" dirty="0"/>
              <a:t>Instead of storing RGB (Red, Green, Blue) values for </a:t>
            </a:r>
            <a:r>
              <a:rPr lang="en-IN" sz="1900" i="1" dirty="0"/>
              <a:t>every</a:t>
            </a:r>
            <a:r>
              <a:rPr lang="en-IN" sz="1900" dirty="0"/>
              <a:t> pixel, an indexed image stores a small number (an index) for each pixel, pointing to a specific </a:t>
            </a:r>
            <a:r>
              <a:rPr lang="en-IN" sz="1900" dirty="0" err="1"/>
              <a:t>color</a:t>
            </a:r>
            <a:r>
              <a:rPr lang="en-IN" sz="1900" dirty="0"/>
              <a:t> in a separate </a:t>
            </a:r>
            <a:r>
              <a:rPr lang="en-IN" sz="1900" dirty="0" err="1"/>
              <a:t>color</a:t>
            </a:r>
            <a:r>
              <a:rPr lang="en-IN" sz="1900" dirty="0"/>
              <a:t> palette. This significantly cuts down file size and processing time for images with a limited </a:t>
            </a:r>
            <a:r>
              <a:rPr lang="en-IN" sz="1900" dirty="0" err="1"/>
              <a:t>color</a:t>
            </a:r>
            <a:r>
              <a:rPr lang="en-IN" sz="1900" dirty="0"/>
              <a:t> range (up to 256 </a:t>
            </a:r>
            <a:r>
              <a:rPr lang="en-IN" sz="1900" dirty="0" err="1"/>
              <a:t>colors</a:t>
            </a:r>
            <a:r>
              <a:rPr lang="en-IN" sz="1900" dirty="0"/>
              <a:t> for 8-bit). </a:t>
            </a:r>
          </a:p>
          <a:p>
            <a:endParaRPr lang="en-IN" dirty="0"/>
          </a:p>
        </p:txBody>
      </p:sp>
    </p:spTree>
    <p:extLst>
      <p:ext uri="{BB962C8B-B14F-4D97-AF65-F5344CB8AC3E}">
        <p14:creationId xmlns:p14="http://schemas.microsoft.com/office/powerpoint/2010/main" val="4243265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100" b="1" dirty="0" smtClean="0"/>
              <a:t>Types </a:t>
            </a:r>
            <a:r>
              <a:rPr lang="en-US" sz="3100" b="1" dirty="0"/>
              <a:t>of Images</a:t>
            </a:r>
            <a:r>
              <a:rPr lang="en-IN" dirty="0"/>
              <a:t/>
            </a:r>
            <a:br>
              <a:rPr lang="en-IN" dirty="0"/>
            </a:br>
            <a:endParaRPr lang="en-IN" dirty="0"/>
          </a:p>
        </p:txBody>
      </p:sp>
      <p:sp>
        <p:nvSpPr>
          <p:cNvPr id="3" name="Content Placeholder 2"/>
          <p:cNvSpPr>
            <a:spLocks noGrp="1"/>
          </p:cNvSpPr>
          <p:nvPr>
            <p:ph idx="1"/>
          </p:nvPr>
        </p:nvSpPr>
        <p:spPr/>
        <p:txBody>
          <a:bodyPr>
            <a:normAutofit/>
          </a:bodyPr>
          <a:lstStyle/>
          <a:p>
            <a:pPr lvl="0"/>
            <a:r>
              <a:rPr lang="en-IN" sz="1800" b="1" dirty="0"/>
              <a:t>Multispectral/</a:t>
            </a:r>
            <a:r>
              <a:rPr lang="en-IN" sz="1800" b="1" dirty="0" err="1"/>
              <a:t>Hyperspectral</a:t>
            </a:r>
            <a:r>
              <a:rPr lang="en-IN" sz="1800" b="1" dirty="0"/>
              <a:t> Images:</a:t>
            </a:r>
            <a:r>
              <a:rPr lang="en-IN" sz="1800" dirty="0"/>
              <a:t> </a:t>
            </a:r>
          </a:p>
          <a:p>
            <a:pPr marL="400050" lvl="1" indent="0">
              <a:buNone/>
            </a:pPr>
            <a:r>
              <a:rPr lang="en-IN" sz="1800" dirty="0"/>
              <a:t>Capture data across many specific spectral bands (e.g., infrared, UV) for remote sensing and scientific analysis, often visualized by mapping bands to RGB. </a:t>
            </a:r>
          </a:p>
          <a:p>
            <a:pPr marL="400050" lvl="1" indent="0">
              <a:buNone/>
            </a:pPr>
            <a:r>
              <a:rPr lang="en-IN" sz="1800" dirty="0"/>
              <a:t>A multispectral image may be composed by several bands. For example, the </a:t>
            </a:r>
            <a:r>
              <a:rPr lang="en-IN" sz="1800" dirty="0" err="1"/>
              <a:t>Lansat</a:t>
            </a:r>
            <a:r>
              <a:rPr lang="en-IN" sz="1800" dirty="0"/>
              <a:t> 5 satellite produces 7 band images, with the wavelength of the bands being between 450 and 1250 nm</a:t>
            </a:r>
            <a:r>
              <a:rPr lang="en-IN" sz="1800" dirty="0" smtClean="0"/>
              <a:t>.</a:t>
            </a:r>
          </a:p>
          <a:p>
            <a:pPr marL="400050" lvl="1" indent="0">
              <a:buNone/>
            </a:pPr>
            <a:r>
              <a:rPr lang="en-IN" sz="1800" i="1" dirty="0" smtClean="0"/>
              <a:t> </a:t>
            </a:r>
            <a:r>
              <a:rPr lang="en-IN" sz="1800" b="1" dirty="0" err="1"/>
              <a:t>Hyperspectral</a:t>
            </a:r>
            <a:r>
              <a:rPr lang="en-IN" sz="1800" b="1" dirty="0"/>
              <a:t> imaging (HSI</a:t>
            </a:r>
            <a:r>
              <a:rPr lang="en-IN" sz="1800" dirty="0"/>
              <a:t>) is a method for capturing images that contain information from a broader portion of the electromagnetic spectrum</a:t>
            </a:r>
          </a:p>
          <a:p>
            <a:pPr marL="400050" lvl="1" indent="0">
              <a:buNone/>
            </a:pPr>
            <a:r>
              <a:rPr lang="en-IN" sz="1800" dirty="0"/>
              <a:t>Satellite imagery, environmental monitoring, </a:t>
            </a:r>
            <a:r>
              <a:rPr lang="en-IN" sz="1800" dirty="0" smtClean="0"/>
              <a:t>astronomy.</a:t>
            </a:r>
            <a:endParaRPr lang="en-IN" sz="1800" dirty="0"/>
          </a:p>
        </p:txBody>
      </p:sp>
    </p:spTree>
    <p:extLst>
      <p:ext uri="{BB962C8B-B14F-4D97-AF65-F5344CB8AC3E}">
        <p14:creationId xmlns:p14="http://schemas.microsoft.com/office/powerpoint/2010/main" val="224084265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3100" b="1" dirty="0" smtClean="0"/>
              <a:t>Types </a:t>
            </a:r>
            <a:r>
              <a:rPr lang="en-US" sz="3100" b="1" dirty="0"/>
              <a:t>of Images</a:t>
            </a:r>
            <a:r>
              <a:rPr lang="en-IN" dirty="0"/>
              <a:t/>
            </a:r>
            <a:br>
              <a:rPr lang="en-IN" dirty="0"/>
            </a:br>
            <a:endParaRPr lang="en-IN" dirty="0"/>
          </a:p>
        </p:txBody>
      </p:sp>
      <p:sp>
        <p:nvSpPr>
          <p:cNvPr id="3" name="Content Placeholder 2"/>
          <p:cNvSpPr>
            <a:spLocks noGrp="1"/>
          </p:cNvSpPr>
          <p:nvPr>
            <p:ph idx="1"/>
          </p:nvPr>
        </p:nvSpPr>
        <p:spPr/>
        <p:txBody>
          <a:bodyPr>
            <a:normAutofit/>
          </a:bodyPr>
          <a:lstStyle/>
          <a:p>
            <a:pPr lvl="0"/>
            <a:r>
              <a:rPr lang="en-IN" sz="1800" b="1" u="sng" dirty="0"/>
              <a:t>Alpha Channel (RGBA):</a:t>
            </a:r>
            <a:r>
              <a:rPr lang="en-IN" sz="1800" dirty="0"/>
              <a:t> </a:t>
            </a:r>
          </a:p>
          <a:p>
            <a:pPr marL="400050" lvl="1" indent="0">
              <a:buNone/>
            </a:pPr>
            <a:r>
              <a:rPr lang="en-IN" sz="1800" dirty="0" err="1"/>
              <a:t>Color</a:t>
            </a:r>
            <a:r>
              <a:rPr lang="en-IN" sz="1800" dirty="0"/>
              <a:t> images with an added channel for transparency (Red, Green, Blue, Alpha). </a:t>
            </a:r>
          </a:p>
          <a:p>
            <a:pPr marL="400050" lvl="1" indent="0">
              <a:buNone/>
            </a:pPr>
            <a:r>
              <a:rPr lang="en-IN" sz="1800" dirty="0"/>
              <a:t>Alpha indicates how opaque each pixel is and allows an image to be combined over others using alpha compositing, with transparent areas and anti-aliasing of the edges of opaque regions. </a:t>
            </a:r>
            <a:endParaRPr lang="en-IN" sz="1800" dirty="0" smtClean="0"/>
          </a:p>
          <a:p>
            <a:pPr marL="400050" lvl="1" indent="0">
              <a:buNone/>
            </a:pPr>
            <a:r>
              <a:rPr lang="en-IN" sz="1800" dirty="0" smtClean="0"/>
              <a:t>Example </a:t>
            </a:r>
            <a:r>
              <a:rPr lang="en-IN" sz="1800" dirty="0"/>
              <a:t>of an RGBA image composited over a checkerboard </a:t>
            </a:r>
            <a:r>
              <a:rPr lang="en-IN" sz="1800" dirty="0" smtClean="0"/>
              <a:t>background that </a:t>
            </a:r>
            <a:r>
              <a:rPr lang="en-IN" sz="1800" dirty="0"/>
              <a:t>stores transparency information, defining how opaque or see-through each pixel is, crucial for layering images in graphics and video editing.</a:t>
            </a:r>
          </a:p>
          <a:p>
            <a:endParaRPr lang="en-IN" dirty="0"/>
          </a:p>
        </p:txBody>
      </p:sp>
    </p:spTree>
    <p:extLst>
      <p:ext uri="{BB962C8B-B14F-4D97-AF65-F5344CB8AC3E}">
        <p14:creationId xmlns:p14="http://schemas.microsoft.com/office/powerpoint/2010/main" val="42737622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b="1" dirty="0"/>
              <a:t>Fundamental Steps in Digital Image Processing</a:t>
            </a:r>
            <a:r>
              <a:rPr lang="en-IN" b="1" dirty="0"/>
              <a:t/>
            </a:r>
            <a:br>
              <a:rPr lang="en-IN" b="1" dirty="0"/>
            </a:br>
            <a:endParaRPr lang="en-IN" dirty="0"/>
          </a:p>
        </p:txBody>
      </p:sp>
      <p:sp>
        <p:nvSpPr>
          <p:cNvPr id="3" name="Content Placeholder 2"/>
          <p:cNvSpPr>
            <a:spLocks noGrp="1"/>
          </p:cNvSpPr>
          <p:nvPr>
            <p:ph idx="1"/>
          </p:nvPr>
        </p:nvSpPr>
        <p:spPr/>
        <p:txBody>
          <a:bodyPr>
            <a:normAutofit fontScale="55000" lnSpcReduction="20000"/>
          </a:bodyPr>
          <a:lstStyle/>
          <a:p>
            <a:pPr marL="0" indent="0">
              <a:buNone/>
            </a:pPr>
            <a:r>
              <a:rPr lang="en-IN" dirty="0"/>
              <a:t>We can categorise the steps in digital image processing as three types of computerised processing, namely low level, mid level and high level processing.</a:t>
            </a:r>
          </a:p>
          <a:p>
            <a:pPr fontAlgn="base"/>
            <a:r>
              <a:rPr lang="en-IN" b="1" i="1" dirty="0"/>
              <a:t>Low Level Processing</a:t>
            </a:r>
          </a:p>
          <a:p>
            <a:pPr marL="400050" lvl="1" indent="0" fontAlgn="base">
              <a:buNone/>
            </a:pPr>
            <a:r>
              <a:rPr lang="en-IN" dirty="0"/>
              <a:t>Low level processing involves basic operations such as image </a:t>
            </a:r>
            <a:r>
              <a:rPr lang="en-IN" dirty="0" smtClean="0"/>
              <a:t>pre-processing, </a:t>
            </a:r>
            <a:r>
              <a:rPr lang="en-IN" dirty="0"/>
              <a:t>image enhancement, image restoration, image sharpening, etc. The main characteristic of low level processing is that both its inputs and outputs are images</a:t>
            </a:r>
            <a:r>
              <a:rPr lang="en-IN" dirty="0" smtClean="0"/>
              <a:t>.</a:t>
            </a:r>
          </a:p>
          <a:p>
            <a:pPr marL="400050" lvl="1" indent="0" fontAlgn="base">
              <a:buNone/>
            </a:pPr>
            <a:r>
              <a:rPr lang="en-US" dirty="0" err="1" smtClean="0"/>
              <a:t>Eg</a:t>
            </a:r>
            <a:r>
              <a:rPr lang="en-US" dirty="0" smtClean="0"/>
              <a:t>: Noise reduction, </a:t>
            </a:r>
            <a:r>
              <a:rPr lang="en-US" dirty="0"/>
              <a:t>contrast adjustment, sharpening, blurring </a:t>
            </a:r>
            <a:r>
              <a:rPr lang="en-US" dirty="0" smtClean="0"/>
              <a:t>and </a:t>
            </a:r>
            <a:r>
              <a:rPr lang="en-US" dirty="0"/>
              <a:t>color correction.</a:t>
            </a:r>
            <a:endParaRPr lang="en-IN" dirty="0"/>
          </a:p>
          <a:p>
            <a:pPr fontAlgn="base"/>
            <a:r>
              <a:rPr lang="en-IN" b="1" i="1" dirty="0"/>
              <a:t>Mid Level Processing</a:t>
            </a:r>
          </a:p>
          <a:p>
            <a:pPr marL="400050" lvl="1" indent="0" fontAlgn="base">
              <a:buNone/>
            </a:pPr>
            <a:r>
              <a:rPr lang="en-IN" dirty="0"/>
              <a:t>Mid level processing involves tasks like image classification, object identification, image segmentation, etc. The main characteristic of </a:t>
            </a:r>
            <a:r>
              <a:rPr lang="en-IN" dirty="0" smtClean="0"/>
              <a:t>mid level </a:t>
            </a:r>
            <a:r>
              <a:rPr lang="en-IN" dirty="0"/>
              <a:t>processing is that its inputs are generally images whereas its outputs are attributes associated with image which are extracted from it</a:t>
            </a:r>
            <a:r>
              <a:rPr lang="en-IN" dirty="0" smtClean="0"/>
              <a:t>. </a:t>
            </a:r>
          </a:p>
          <a:p>
            <a:pPr marL="400050" lvl="1" indent="0" fontAlgn="base">
              <a:buNone/>
            </a:pPr>
            <a:r>
              <a:rPr lang="en-IN" dirty="0" err="1" smtClean="0"/>
              <a:t>Eg</a:t>
            </a:r>
            <a:r>
              <a:rPr lang="en-IN" dirty="0" smtClean="0"/>
              <a:t>: </a:t>
            </a:r>
            <a:r>
              <a:rPr lang="en-US" dirty="0" smtClean="0"/>
              <a:t>Image </a:t>
            </a:r>
            <a:r>
              <a:rPr lang="en-US" dirty="0"/>
              <a:t>Segmentation (grouping pixels into objects/regions), Edge/Contour Detection (finding boundaries), Object Recognition (identifying shapes/features like curves or corners), and Shape Description (creating symbolic representations like skeletons or outlines for analysis).</a:t>
            </a:r>
            <a:endParaRPr lang="en-IN" dirty="0"/>
          </a:p>
          <a:p>
            <a:pPr fontAlgn="base"/>
            <a:r>
              <a:rPr lang="en-IN" b="1" i="1" dirty="0"/>
              <a:t>High Level Processing</a:t>
            </a:r>
          </a:p>
          <a:p>
            <a:pPr marL="400050" lvl="1" indent="0" fontAlgn="base">
              <a:buNone/>
            </a:pPr>
            <a:r>
              <a:rPr lang="en-IN" dirty="0"/>
              <a:t>High level processing involves making sense of ensemble of recognised object and cognitive tasks associated with computer vision</a:t>
            </a:r>
            <a:r>
              <a:rPr lang="en-IN" dirty="0" smtClean="0"/>
              <a:t>. </a:t>
            </a:r>
            <a:r>
              <a:rPr lang="en-IN" dirty="0" err="1" smtClean="0"/>
              <a:t>Eg</a:t>
            </a:r>
            <a:r>
              <a:rPr lang="en-IN" dirty="0" smtClean="0"/>
              <a:t>: </a:t>
            </a:r>
            <a:r>
              <a:rPr lang="en-US" dirty="0"/>
              <a:t>Face Recognition in Security, </a:t>
            </a:r>
            <a:r>
              <a:rPr lang="en-US" dirty="0" smtClean="0"/>
              <a:t>Medical </a:t>
            </a:r>
            <a:r>
              <a:rPr lang="en-US" dirty="0"/>
              <a:t>Diagnosis from </a:t>
            </a:r>
            <a:r>
              <a:rPr lang="en-US" dirty="0" smtClean="0"/>
              <a:t>Scans. </a:t>
            </a:r>
            <a:endParaRPr lang="en-IN" dirty="0"/>
          </a:p>
        </p:txBody>
      </p:sp>
    </p:spTree>
    <p:extLst>
      <p:ext uri="{BB962C8B-B14F-4D97-AF65-F5344CB8AC3E}">
        <p14:creationId xmlns:p14="http://schemas.microsoft.com/office/powerpoint/2010/main" val="14566661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t>Fundamental Steps in Digital Image Processing</a:t>
            </a:r>
            <a:br>
              <a:rPr lang="en-IN" sz="3200" b="1" dirty="0"/>
            </a:br>
            <a:endParaRPr lang="en-IN" sz="3200" dirty="0"/>
          </a:p>
        </p:txBody>
      </p:sp>
      <p:pic>
        <p:nvPicPr>
          <p:cNvPr id="4" name="Content Placeholder 3" descr="Fundamental-Steps-in-DIP"/>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66719" y="1600200"/>
            <a:ext cx="5210562" cy="4525963"/>
          </a:xfrm>
          <a:prstGeom prst="rect">
            <a:avLst/>
          </a:prstGeom>
          <a:noFill/>
          <a:ln>
            <a:noFill/>
          </a:ln>
        </p:spPr>
      </p:pic>
    </p:spTree>
    <p:extLst>
      <p:ext uri="{BB962C8B-B14F-4D97-AF65-F5344CB8AC3E}">
        <p14:creationId xmlns:p14="http://schemas.microsoft.com/office/powerpoint/2010/main" val="7331399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a:t>Fundamental Steps in Digital Image Processing</a:t>
            </a:r>
            <a:r>
              <a:rPr lang="en-IN" b="1" dirty="0"/>
              <a:t/>
            </a:r>
            <a:br>
              <a:rPr lang="en-IN" b="1" dirty="0"/>
            </a:br>
            <a:endParaRPr lang="en-IN" dirty="0"/>
          </a:p>
        </p:txBody>
      </p:sp>
      <p:sp>
        <p:nvSpPr>
          <p:cNvPr id="3" name="Content Placeholder 2"/>
          <p:cNvSpPr>
            <a:spLocks noGrp="1"/>
          </p:cNvSpPr>
          <p:nvPr>
            <p:ph idx="1"/>
          </p:nvPr>
        </p:nvSpPr>
        <p:spPr/>
        <p:txBody>
          <a:bodyPr>
            <a:noAutofit/>
          </a:bodyPr>
          <a:lstStyle/>
          <a:p>
            <a:r>
              <a:rPr lang="en-US" sz="1200" b="1" dirty="0"/>
              <a:t>Image Acquisition</a:t>
            </a:r>
            <a:r>
              <a:rPr lang="en-US" sz="1200" dirty="0"/>
              <a:t>: </a:t>
            </a:r>
            <a:endParaRPr lang="en-US" sz="1200" dirty="0" smtClean="0"/>
          </a:p>
          <a:p>
            <a:pPr marL="400050" lvl="1" indent="0">
              <a:buNone/>
            </a:pPr>
            <a:r>
              <a:rPr lang="en-US" sz="1200" dirty="0" smtClean="0"/>
              <a:t>Capturing </a:t>
            </a:r>
            <a:r>
              <a:rPr lang="en-US" sz="1200" dirty="0"/>
              <a:t>the raw image from a sensor (like a camera) and converting it into digital form (pixels).</a:t>
            </a:r>
          </a:p>
          <a:p>
            <a:r>
              <a:rPr lang="en-US" sz="1200" b="1" dirty="0"/>
              <a:t>Image Enhancement</a:t>
            </a:r>
            <a:r>
              <a:rPr lang="en-US" sz="1200" dirty="0" smtClean="0"/>
              <a:t>:</a:t>
            </a:r>
          </a:p>
          <a:p>
            <a:pPr marL="400050" lvl="1" indent="0">
              <a:buNone/>
            </a:pPr>
            <a:r>
              <a:rPr lang="en-US" sz="1200" dirty="0" smtClean="0"/>
              <a:t> </a:t>
            </a:r>
            <a:r>
              <a:rPr lang="en-US" sz="1200" dirty="0"/>
              <a:t>Improving visual quality or highlighting features, e.g., adjusting brightness, contrast, or sharpening.</a:t>
            </a:r>
          </a:p>
          <a:p>
            <a:r>
              <a:rPr lang="en-US" sz="1200" b="1" dirty="0"/>
              <a:t>Image Restoration</a:t>
            </a:r>
            <a:r>
              <a:rPr lang="en-US" sz="1200" dirty="0" smtClean="0"/>
              <a:t>:</a:t>
            </a:r>
          </a:p>
          <a:p>
            <a:pPr marL="400050" lvl="1" indent="0">
              <a:buNone/>
            </a:pPr>
            <a:r>
              <a:rPr lang="en-US" sz="1200" dirty="0" smtClean="0"/>
              <a:t> Recovering a degraded image by removing noise or artifacts, aiming to restore its original appearance objectively.</a:t>
            </a:r>
          </a:p>
          <a:p>
            <a:r>
              <a:rPr lang="en-US" sz="1200" b="1" dirty="0" smtClean="0"/>
              <a:t>Color </a:t>
            </a:r>
            <a:r>
              <a:rPr lang="en-US" sz="1200" b="1" dirty="0"/>
              <a:t>Image Processing</a:t>
            </a:r>
            <a:r>
              <a:rPr lang="en-US" sz="1200" dirty="0" smtClean="0"/>
              <a:t>:</a:t>
            </a:r>
          </a:p>
          <a:p>
            <a:pPr marL="400050" lvl="1" indent="0">
              <a:buNone/>
            </a:pPr>
            <a:r>
              <a:rPr lang="en-US" sz="1200" dirty="0" smtClean="0"/>
              <a:t> </a:t>
            </a:r>
            <a:r>
              <a:rPr lang="en-US" sz="1200" dirty="0"/>
              <a:t>Handling color images, including color modeling and transformations</a:t>
            </a:r>
            <a:r>
              <a:rPr lang="en-US" sz="1200" dirty="0" smtClean="0"/>
              <a:t>.</a:t>
            </a:r>
          </a:p>
          <a:p>
            <a:r>
              <a:rPr lang="en-US" sz="1200" b="1" dirty="0" smtClean="0"/>
              <a:t>Wavelets</a:t>
            </a:r>
            <a:r>
              <a:rPr lang="en-US" sz="1200" dirty="0" smtClean="0"/>
              <a:t>:</a:t>
            </a:r>
          </a:p>
          <a:p>
            <a:pPr marL="400050" lvl="1" indent="0">
              <a:buNone/>
            </a:pPr>
            <a:r>
              <a:rPr lang="en-US" sz="1200" dirty="0" smtClean="0"/>
              <a:t> Analyzing images at different scales or resolutions.</a:t>
            </a:r>
          </a:p>
          <a:p>
            <a:r>
              <a:rPr lang="en-US" sz="1200" b="1" dirty="0" smtClean="0"/>
              <a:t>Image </a:t>
            </a:r>
            <a:r>
              <a:rPr lang="en-US" sz="1200" b="1" dirty="0"/>
              <a:t>Compression</a:t>
            </a:r>
            <a:r>
              <a:rPr lang="en-US" sz="1200" dirty="0"/>
              <a:t>: </a:t>
            </a:r>
            <a:endParaRPr lang="en-US" sz="1200" dirty="0" smtClean="0"/>
          </a:p>
          <a:p>
            <a:pPr marL="400050" lvl="1" indent="0">
              <a:buNone/>
            </a:pPr>
            <a:r>
              <a:rPr lang="en-US" sz="1200" dirty="0" smtClean="0"/>
              <a:t>Reducing </a:t>
            </a:r>
            <a:r>
              <a:rPr lang="en-US" sz="1200" dirty="0"/>
              <a:t>file size for storage and transmission, crucial for efficiency</a:t>
            </a:r>
            <a:r>
              <a:rPr lang="en-US" sz="1200" dirty="0" smtClean="0"/>
              <a:t>.</a:t>
            </a:r>
          </a:p>
          <a:p>
            <a:r>
              <a:rPr lang="en-US" sz="1200" b="1" dirty="0" smtClean="0"/>
              <a:t>Morphological </a:t>
            </a:r>
            <a:r>
              <a:rPr lang="en-US" sz="1200" b="1" dirty="0"/>
              <a:t>Processing</a:t>
            </a:r>
            <a:r>
              <a:rPr lang="en-US" sz="1200" dirty="0" smtClean="0"/>
              <a:t>:</a:t>
            </a:r>
          </a:p>
          <a:p>
            <a:pPr marL="400050" lvl="1" indent="0">
              <a:buNone/>
            </a:pPr>
            <a:r>
              <a:rPr lang="en-US" sz="1200" dirty="0" smtClean="0"/>
              <a:t> </a:t>
            </a:r>
            <a:r>
              <a:rPr lang="en-US" sz="1200" dirty="0"/>
              <a:t>Refining shapes and structures using operations like erosion and dilation to extract features</a:t>
            </a:r>
            <a:r>
              <a:rPr lang="en-US" sz="1200" dirty="0" smtClean="0"/>
              <a:t>. </a:t>
            </a:r>
            <a:r>
              <a:rPr lang="en-US" sz="1200" dirty="0" err="1" smtClean="0"/>
              <a:t>Eg</a:t>
            </a:r>
            <a:r>
              <a:rPr lang="en-US" sz="1200" dirty="0" smtClean="0"/>
              <a:t>: Fingerprint recognition</a:t>
            </a:r>
          </a:p>
          <a:p>
            <a:r>
              <a:rPr lang="en-US" sz="1200" b="1" dirty="0" smtClean="0"/>
              <a:t>Image </a:t>
            </a:r>
            <a:r>
              <a:rPr lang="en-US" sz="1200" b="1" dirty="0"/>
              <a:t>Segmentation</a:t>
            </a:r>
            <a:r>
              <a:rPr lang="en-US" sz="1200" dirty="0" smtClean="0"/>
              <a:t>:</a:t>
            </a:r>
          </a:p>
          <a:p>
            <a:pPr marL="400050" lvl="1" indent="0">
              <a:buNone/>
            </a:pPr>
            <a:r>
              <a:rPr lang="en-US" sz="1200" dirty="0" smtClean="0"/>
              <a:t> </a:t>
            </a:r>
            <a:r>
              <a:rPr lang="en-US" sz="1200" dirty="0"/>
              <a:t>Dividing the image into meaningful regions or objects and their boundaries</a:t>
            </a:r>
            <a:r>
              <a:rPr lang="en-US" sz="1200" dirty="0" smtClean="0"/>
              <a:t>.</a:t>
            </a:r>
          </a:p>
          <a:p>
            <a:r>
              <a:rPr lang="en-US" sz="1200" b="1" dirty="0" smtClean="0"/>
              <a:t>Representation </a:t>
            </a:r>
            <a:r>
              <a:rPr lang="en-US" sz="1200" b="1" dirty="0"/>
              <a:t>&amp; Description</a:t>
            </a:r>
            <a:r>
              <a:rPr lang="en-US" sz="1200" dirty="0" smtClean="0"/>
              <a:t>:</a:t>
            </a:r>
          </a:p>
          <a:p>
            <a:pPr marL="0" indent="0">
              <a:buNone/>
            </a:pPr>
            <a:r>
              <a:rPr lang="en-US" sz="1200" dirty="0" smtClean="0"/>
              <a:t>          Converting segmented data into a format suitable for computer processing, focusing on boundaries or regions.</a:t>
            </a:r>
          </a:p>
        </p:txBody>
      </p:sp>
    </p:spTree>
    <p:extLst>
      <p:ext uri="{BB962C8B-B14F-4D97-AF65-F5344CB8AC3E}">
        <p14:creationId xmlns:p14="http://schemas.microsoft.com/office/powerpoint/2010/main" val="295613760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100" b="1" dirty="0"/>
              <a:t>Fundamental Steps in Digital Image Processing</a:t>
            </a:r>
            <a:r>
              <a:rPr lang="en-IN" b="1" dirty="0"/>
              <a:t/>
            </a:r>
            <a:br>
              <a:rPr lang="en-IN" b="1" dirty="0"/>
            </a:br>
            <a:endParaRPr lang="en-IN" dirty="0"/>
          </a:p>
        </p:txBody>
      </p:sp>
      <p:sp>
        <p:nvSpPr>
          <p:cNvPr id="3" name="Content Placeholder 2"/>
          <p:cNvSpPr>
            <a:spLocks noGrp="1"/>
          </p:cNvSpPr>
          <p:nvPr>
            <p:ph idx="1"/>
          </p:nvPr>
        </p:nvSpPr>
        <p:spPr/>
        <p:txBody>
          <a:bodyPr/>
          <a:lstStyle/>
          <a:p>
            <a:r>
              <a:rPr lang="en-US" sz="1200" b="1" dirty="0"/>
              <a:t>Object Recognition</a:t>
            </a:r>
            <a:r>
              <a:rPr lang="en-US" sz="1200" dirty="0"/>
              <a:t>: </a:t>
            </a:r>
          </a:p>
          <a:p>
            <a:pPr marL="400050" lvl="1" indent="0">
              <a:buNone/>
            </a:pPr>
            <a:r>
              <a:rPr lang="en-US" sz="1200" dirty="0"/>
              <a:t>Assigning labels or identifying objects based on their extracted features.</a:t>
            </a:r>
          </a:p>
          <a:p>
            <a:r>
              <a:rPr lang="en-US" sz="1200" b="1" dirty="0"/>
              <a:t>Knowledge Base</a:t>
            </a:r>
            <a:r>
              <a:rPr lang="en-US" sz="1200" dirty="0"/>
              <a:t>: </a:t>
            </a:r>
          </a:p>
          <a:p>
            <a:pPr marL="400050" lvl="1" indent="0">
              <a:buNone/>
            </a:pPr>
            <a:r>
              <a:rPr lang="en-US" sz="1200" dirty="0"/>
              <a:t>A structured repository of expert information, rules (like IF-THEN), and domain-specific data (features, patterns, noise types) that guides automated systems to interpret, analyze, and understand images for specific applications</a:t>
            </a:r>
          </a:p>
          <a:p>
            <a:endParaRPr lang="en-IN" dirty="0"/>
          </a:p>
        </p:txBody>
      </p:sp>
    </p:spTree>
    <p:extLst>
      <p:ext uri="{BB962C8B-B14F-4D97-AF65-F5344CB8AC3E}">
        <p14:creationId xmlns:p14="http://schemas.microsoft.com/office/powerpoint/2010/main" val="2824971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Distance Measure</a:t>
            </a:r>
            <a:endParaRPr lang="en-IN" sz="2800" b="1" dirty="0"/>
          </a:p>
        </p:txBody>
      </p:sp>
      <p:sp>
        <p:nvSpPr>
          <p:cNvPr id="3" name="Content Placeholder 2"/>
          <p:cNvSpPr>
            <a:spLocks noGrp="1"/>
          </p:cNvSpPr>
          <p:nvPr>
            <p:ph idx="1"/>
          </p:nvPr>
        </p:nvSpPr>
        <p:spPr/>
        <p:txBody>
          <a:bodyPr>
            <a:normAutofit fontScale="77500" lnSpcReduction="20000"/>
          </a:bodyPr>
          <a:lstStyle/>
          <a:p>
            <a:pPr marL="0" indent="0">
              <a:buNone/>
            </a:pPr>
            <a:r>
              <a:rPr lang="en-US" sz="2600" dirty="0"/>
              <a:t>A mathematical function calculating the separation or likeness between points in an image, often pixel coordinates or feature vectors</a:t>
            </a:r>
            <a:r>
              <a:rPr lang="en-US" sz="2600" dirty="0" smtClean="0"/>
              <a:t>.</a:t>
            </a:r>
          </a:p>
          <a:p>
            <a:r>
              <a:rPr lang="en-IN" sz="2600" b="1" dirty="0"/>
              <a:t>Euclidean (L2):</a:t>
            </a:r>
            <a:r>
              <a:rPr lang="en-IN" sz="2600" dirty="0"/>
              <a:t> </a:t>
            </a:r>
            <a:endParaRPr lang="en-IN" sz="2600" dirty="0" smtClean="0"/>
          </a:p>
          <a:p>
            <a:pPr marL="400050" lvl="1" indent="0">
              <a:buNone/>
            </a:pPr>
            <a:r>
              <a:rPr lang="en-IN" sz="2600" dirty="0" smtClean="0"/>
              <a:t>Straight-line </a:t>
            </a:r>
            <a:r>
              <a:rPr lang="en-IN" sz="2600" dirty="0"/>
              <a:t>distance, great for general comparison</a:t>
            </a:r>
            <a:r>
              <a:rPr lang="en-IN" sz="2600" dirty="0" smtClean="0"/>
              <a:t>.</a:t>
            </a:r>
          </a:p>
          <a:p>
            <a:endParaRPr lang="en-IN" sz="2600" b="1" dirty="0" smtClean="0"/>
          </a:p>
          <a:p>
            <a:endParaRPr lang="en-IN" sz="2600" b="1" dirty="0" smtClean="0"/>
          </a:p>
          <a:p>
            <a:r>
              <a:rPr lang="en-IN" sz="2600" b="1" dirty="0" smtClean="0"/>
              <a:t>Manhattan </a:t>
            </a:r>
            <a:r>
              <a:rPr lang="en-IN" sz="2600" b="1" dirty="0"/>
              <a:t>(City Block):</a:t>
            </a:r>
            <a:r>
              <a:rPr lang="en-IN" sz="2600" dirty="0"/>
              <a:t> </a:t>
            </a:r>
            <a:r>
              <a:rPr lang="en-IN" sz="2400" dirty="0"/>
              <a:t>(4-connectivity)</a:t>
            </a:r>
            <a:endParaRPr lang="en-IN" sz="2600" dirty="0" smtClean="0"/>
          </a:p>
          <a:p>
            <a:pPr marL="400050" lvl="1" indent="0">
              <a:buNone/>
            </a:pPr>
            <a:r>
              <a:rPr lang="en-IN" sz="2600" dirty="0" smtClean="0"/>
              <a:t>Sum </a:t>
            </a:r>
            <a:r>
              <a:rPr lang="en-IN" sz="2600" dirty="0"/>
              <a:t>of absolute differences in coordinates, good for grid-like movements</a:t>
            </a:r>
            <a:r>
              <a:rPr lang="en-IN" sz="2600" dirty="0" smtClean="0"/>
              <a:t>.</a:t>
            </a:r>
          </a:p>
          <a:p>
            <a:pPr marL="400050" lvl="1" indent="0">
              <a:buNone/>
            </a:pPr>
            <a:r>
              <a:rPr lang="en-IN" sz="2400" dirty="0"/>
              <a:t> </a:t>
            </a:r>
            <a:r>
              <a:rPr lang="en-IN" sz="2400" dirty="0" smtClean="0"/>
              <a:t>d4(</a:t>
            </a:r>
            <a:r>
              <a:rPr lang="en-IN" sz="2400" dirty="0" err="1" smtClean="0"/>
              <a:t>p,q</a:t>
            </a:r>
            <a:r>
              <a:rPr lang="en-IN" sz="2400" dirty="0" smtClean="0"/>
              <a:t>) = ∣</a:t>
            </a:r>
            <a:r>
              <a:rPr lang="en-IN" sz="2400" dirty="0"/>
              <a:t>x1−x2∣+∣y1−</a:t>
            </a:r>
            <a:r>
              <a:rPr lang="en-IN" sz="2400" dirty="0" smtClean="0"/>
              <a:t>y2​∣</a:t>
            </a:r>
            <a:endParaRPr lang="en-IN" sz="2400" dirty="0"/>
          </a:p>
          <a:p>
            <a:pPr marL="400050" lvl="1" indent="0">
              <a:buNone/>
            </a:pPr>
            <a:endParaRPr lang="en-IN" sz="2600" dirty="0"/>
          </a:p>
          <a:p>
            <a:r>
              <a:rPr lang="en-IN" sz="2600" b="1" dirty="0"/>
              <a:t>Chessboard (</a:t>
            </a:r>
            <a:r>
              <a:rPr lang="en-IN" sz="2600" b="1" dirty="0" err="1"/>
              <a:t>Chebyshev</a:t>
            </a:r>
            <a:r>
              <a:rPr lang="en-IN" sz="2600" b="1" dirty="0"/>
              <a:t>):</a:t>
            </a:r>
            <a:r>
              <a:rPr lang="en-IN" sz="2600" dirty="0"/>
              <a:t> </a:t>
            </a:r>
            <a:r>
              <a:rPr lang="en-IN" sz="2400" dirty="0"/>
              <a:t>(8-connectivity)</a:t>
            </a:r>
            <a:endParaRPr lang="en-IN" sz="2600" dirty="0" smtClean="0"/>
          </a:p>
          <a:p>
            <a:pPr marL="400050" lvl="1" indent="0">
              <a:buNone/>
            </a:pPr>
            <a:r>
              <a:rPr lang="en-IN" sz="2600" dirty="0" smtClean="0"/>
              <a:t>Maximum </a:t>
            </a:r>
            <a:r>
              <a:rPr lang="en-IN" sz="2600" dirty="0"/>
              <a:t>absolute difference in coordinates, ideal for diagonal steps</a:t>
            </a:r>
            <a:r>
              <a:rPr lang="en-IN" sz="2600" dirty="0" smtClean="0"/>
              <a:t>.</a:t>
            </a:r>
          </a:p>
          <a:p>
            <a:pPr marL="400050" lvl="1" indent="0">
              <a:buNone/>
            </a:pPr>
            <a:r>
              <a:rPr lang="en-IN" sz="2000" dirty="0" smtClean="0"/>
              <a:t>d8(</a:t>
            </a:r>
            <a:r>
              <a:rPr lang="en-IN" sz="2000" dirty="0" err="1" smtClean="0"/>
              <a:t>p,q</a:t>
            </a:r>
            <a:r>
              <a:rPr lang="en-IN" sz="2000" dirty="0"/>
              <a:t>) = </a:t>
            </a:r>
            <a:r>
              <a:rPr lang="en-IN" sz="2000" dirty="0" smtClean="0"/>
              <a:t>max(∣</a:t>
            </a:r>
            <a:r>
              <a:rPr lang="en-IN" sz="2000" dirty="0"/>
              <a:t>x1−x2</a:t>
            </a:r>
            <a:r>
              <a:rPr lang="en-IN" sz="2000" dirty="0" smtClean="0"/>
              <a:t>∣,∣</a:t>
            </a:r>
            <a:r>
              <a:rPr lang="en-IN" sz="2000" dirty="0"/>
              <a:t>y1−y2</a:t>
            </a:r>
            <a:r>
              <a:rPr lang="en-IN" sz="2000" dirty="0" smtClean="0"/>
              <a:t>​∣)</a:t>
            </a:r>
          </a:p>
          <a:p>
            <a:pPr marL="400050" lvl="1" indent="0">
              <a:buNone/>
            </a:pPr>
            <a:endParaRPr lang="en-IN" sz="2600" dirty="0" smtClean="0"/>
          </a:p>
          <a:p>
            <a:pPr marL="400050" lvl="1" indent="0">
              <a:buNone/>
            </a:pPr>
            <a:endParaRPr lang="en-IN" sz="2600" dirty="0"/>
          </a:p>
          <a:p>
            <a:endParaRPr lang="en-US" dirty="0"/>
          </a:p>
        </p:txBody>
      </p:sp>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07704" y="2467014"/>
            <a:ext cx="3528392" cy="797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221128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Distance Measure </a:t>
            </a:r>
            <a:endParaRPr lang="en-IN" sz="2800" b="1" dirty="0"/>
          </a:p>
        </p:txBody>
      </p:sp>
      <p:sp>
        <p:nvSpPr>
          <p:cNvPr id="3" name="Content Placeholder 2"/>
          <p:cNvSpPr>
            <a:spLocks noGrp="1"/>
          </p:cNvSpPr>
          <p:nvPr>
            <p:ph idx="1"/>
          </p:nvPr>
        </p:nvSpPr>
        <p:spPr/>
        <p:txBody>
          <a:bodyPr>
            <a:normAutofit/>
          </a:bodyPr>
          <a:lstStyle/>
          <a:p>
            <a:r>
              <a:rPr lang="en-US" sz="2400" b="1" dirty="0" err="1"/>
              <a:t>Dm</a:t>
            </a:r>
            <a:r>
              <a:rPr lang="en-US" sz="2400" b="1" dirty="0"/>
              <a:t> distance (or m-distance)</a:t>
            </a:r>
            <a:r>
              <a:rPr lang="en-US" sz="2400" dirty="0"/>
              <a:t> defines the shortest path between pixels, but </a:t>
            </a:r>
            <a:r>
              <a:rPr lang="en-US" sz="2400" i="1" dirty="0"/>
              <a:t>only</a:t>
            </a:r>
            <a:r>
              <a:rPr lang="en-US" sz="2400" dirty="0"/>
              <a:t> through pixels that are neighbors (4- or 8-connected) and belong to a specified intensity value set </a:t>
            </a:r>
            <a:r>
              <a:rPr lang="en-US" sz="2400" dirty="0" smtClean="0"/>
              <a:t>'v'.</a:t>
            </a:r>
            <a:r>
              <a:rPr lang="en-US" sz="2400" dirty="0"/>
              <a:t> </a:t>
            </a:r>
            <a:endParaRPr lang="en-IN" sz="2400" dirty="0"/>
          </a:p>
        </p:txBody>
      </p:sp>
    </p:spTree>
    <p:extLst>
      <p:ext uri="{BB962C8B-B14F-4D97-AF65-F5344CB8AC3E}">
        <p14:creationId xmlns:p14="http://schemas.microsoft.com/office/powerpoint/2010/main" val="694793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smtClean="0"/>
              <a:t>Distance Measure</a:t>
            </a:r>
            <a:endParaRPr lang="en-IN" sz="2800" b="1" dirty="0"/>
          </a:p>
        </p:txBody>
      </p:sp>
      <p:sp>
        <p:nvSpPr>
          <p:cNvPr id="3" name="Content Placeholder 2"/>
          <p:cNvSpPr>
            <a:spLocks noGrp="1"/>
          </p:cNvSpPr>
          <p:nvPr>
            <p:ph idx="1"/>
          </p:nvPr>
        </p:nvSpPr>
        <p:spPr/>
        <p:txBody>
          <a:bodyPr>
            <a:normAutofit/>
          </a:bodyPr>
          <a:lstStyle/>
          <a:p>
            <a:r>
              <a:rPr lang="en-US" sz="1800" b="1" dirty="0"/>
              <a:t>Feature Comparison:</a:t>
            </a:r>
            <a:r>
              <a:rPr lang="en-US" sz="1800" dirty="0"/>
              <a:t> Determines how "close" or similar visual features are, forming the basis for matching and retrieval.</a:t>
            </a:r>
          </a:p>
          <a:p>
            <a:r>
              <a:rPr lang="en-US" sz="1800" b="1" dirty="0"/>
              <a:t>Image Segmentation &amp; Clustering:</a:t>
            </a:r>
            <a:r>
              <a:rPr lang="en-US" sz="1800" dirty="0"/>
              <a:t> Groups similar pixels or objects, defining boundaries and </a:t>
            </a:r>
            <a:r>
              <a:rPr lang="en-US" sz="1800" dirty="0" smtClean="0"/>
              <a:t>regions.</a:t>
            </a:r>
            <a:endParaRPr lang="en-US" sz="1800" dirty="0"/>
          </a:p>
          <a:p>
            <a:r>
              <a:rPr lang="en-US" sz="1800" b="1" dirty="0"/>
              <a:t>Shape Analysis:</a:t>
            </a:r>
            <a:r>
              <a:rPr lang="en-US" sz="1800" dirty="0"/>
              <a:t> Helps understand object shapes and sizes by measuring distances between foreground pixels.</a:t>
            </a:r>
          </a:p>
          <a:p>
            <a:r>
              <a:rPr lang="en-US" sz="1800" b="1" dirty="0"/>
              <a:t>Pattern Recognition:</a:t>
            </a:r>
            <a:r>
              <a:rPr lang="en-US" sz="1800" dirty="0"/>
              <a:t> Essential for classifying patterns by comparing test samples to known ones.</a:t>
            </a:r>
          </a:p>
          <a:p>
            <a:r>
              <a:rPr lang="en-US" sz="1800" b="1" dirty="0"/>
              <a:t>Computer Vision Applications:</a:t>
            </a:r>
            <a:r>
              <a:rPr lang="en-US" sz="1800" dirty="0"/>
              <a:t> Powers tasks like object detection in autonomous vehicles, content-based image retrieval, and medical imaging analysis.</a:t>
            </a:r>
          </a:p>
          <a:p>
            <a:pPr marL="0" indent="0">
              <a:buNone/>
            </a:pPr>
            <a:r>
              <a:rPr lang="en-US" dirty="0"/>
              <a:t> </a:t>
            </a:r>
          </a:p>
          <a:p>
            <a:endParaRPr lang="en-IN" dirty="0"/>
          </a:p>
        </p:txBody>
      </p:sp>
    </p:spTree>
    <p:extLst>
      <p:ext uri="{BB962C8B-B14F-4D97-AF65-F5344CB8AC3E}">
        <p14:creationId xmlns:p14="http://schemas.microsoft.com/office/powerpoint/2010/main" val="3000809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smtClean="0"/>
              <a:t>Textbook reference –</a:t>
            </a:r>
          </a:p>
          <a:p>
            <a:pPr marL="400050" lvl="1" indent="0">
              <a:buNone/>
            </a:pPr>
            <a:r>
              <a:rPr lang="en-US" dirty="0" smtClean="0"/>
              <a:t> </a:t>
            </a:r>
            <a:r>
              <a:rPr lang="en-US" sz="2000" dirty="0"/>
              <a:t>Digital Image Processing</a:t>
            </a:r>
          </a:p>
          <a:p>
            <a:pPr marL="400050" lvl="1" indent="0">
              <a:buNone/>
            </a:pPr>
            <a:r>
              <a:rPr lang="en-US" sz="2000" smtClean="0"/>
              <a:t> Textbook </a:t>
            </a:r>
            <a:r>
              <a:rPr lang="en-US" sz="2000" dirty="0"/>
              <a:t>by Rafael C. Gonzalez and Richard E. Woods</a:t>
            </a:r>
          </a:p>
          <a:p>
            <a:pPr marL="400050" lvl="1" indent="0">
              <a:buNone/>
            </a:pPr>
            <a:r>
              <a:rPr lang="en-US" dirty="0"/>
              <a:t/>
            </a:r>
            <a:br>
              <a:rPr lang="en-US" dirty="0"/>
            </a:br>
            <a:endParaRPr lang="en-IN" dirty="0"/>
          </a:p>
        </p:txBody>
      </p:sp>
    </p:spTree>
    <p:extLst>
      <p:ext uri="{BB962C8B-B14F-4D97-AF65-F5344CB8AC3E}">
        <p14:creationId xmlns:p14="http://schemas.microsoft.com/office/powerpoint/2010/main" val="3322549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440</TotalTime>
  <Words>1789</Words>
  <Application>Microsoft Office PowerPoint</Application>
  <PresentationFormat>On-screen Show (4:3)</PresentationFormat>
  <Paragraphs>224</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Office Theme</vt:lpstr>
      <vt:lpstr>Digital Images</vt:lpstr>
      <vt:lpstr> What is Digital Image Processing? </vt:lpstr>
      <vt:lpstr>What is a Pixel?</vt:lpstr>
      <vt:lpstr>History </vt:lpstr>
      <vt:lpstr> Applications of Digital Image Processing </vt:lpstr>
      <vt:lpstr> Applications of Digital Image Processing </vt:lpstr>
      <vt:lpstr> Automatic inspection </vt:lpstr>
      <vt:lpstr>Applications of Digital Image Processing</vt:lpstr>
      <vt:lpstr>Applications of Digital Image Processing</vt:lpstr>
      <vt:lpstr>Applications of Digital Image Processing</vt:lpstr>
      <vt:lpstr>Applications of Digital Image Processing</vt:lpstr>
      <vt:lpstr> Components of Digital Image Processing </vt:lpstr>
      <vt:lpstr>Components of Digital Image Processing</vt:lpstr>
      <vt:lpstr>Components of Digital Image Processing</vt:lpstr>
      <vt:lpstr>Components of Digital Image Processing</vt:lpstr>
      <vt:lpstr> Types of Images </vt:lpstr>
      <vt:lpstr> Types of Images </vt:lpstr>
      <vt:lpstr> Types of Images </vt:lpstr>
      <vt:lpstr> Types of Images </vt:lpstr>
      <vt:lpstr> Types of Images </vt:lpstr>
      <vt:lpstr>Fundamental Steps in Digital Image Processing </vt:lpstr>
      <vt:lpstr>Fundamental Steps in Digital Image Processing </vt:lpstr>
      <vt:lpstr>Fundamental Steps in Digital Image Processing </vt:lpstr>
      <vt:lpstr>Fundamental Steps in Digital Image Processing </vt:lpstr>
      <vt:lpstr>Distance Measure</vt:lpstr>
      <vt:lpstr>Distance Measure </vt:lpstr>
      <vt:lpstr>Distance Measure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Images</dc:title>
  <dc:creator>polytech</dc:creator>
  <cp:lastModifiedBy>polytech</cp:lastModifiedBy>
  <cp:revision>105</cp:revision>
  <dcterms:created xsi:type="dcterms:W3CDTF">2025-12-29T09:09:06Z</dcterms:created>
  <dcterms:modified xsi:type="dcterms:W3CDTF">2026-01-01T10:10:39Z</dcterms:modified>
</cp:coreProperties>
</file>