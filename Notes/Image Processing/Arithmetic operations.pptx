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3" r:id="rId7"/>
    <p:sldId id="264"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17" d="100"/>
          <a:sy n="117" d="100"/>
        </p:scale>
        <p:origin x="-1464" y="19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75B03A6-84BE-4CBD-BA23-F68889A5EF7C}"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1263021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5B03A6-84BE-4CBD-BA23-F68889A5EF7C}"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1246057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75B03A6-84BE-4CBD-BA23-F68889A5EF7C}"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4148939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875B03A6-84BE-4CBD-BA23-F68889A5EF7C}"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38173637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875B03A6-84BE-4CBD-BA23-F68889A5EF7C}" type="datetimeFigureOut">
              <a:rPr lang="en-IN" smtClean="0"/>
              <a:t>03-01-2026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4160063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75B03A6-84BE-4CBD-BA23-F68889A5EF7C}" type="datetimeFigureOut">
              <a:rPr lang="en-IN" smtClean="0"/>
              <a:t>03-01-2026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4263785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5B03A6-84BE-4CBD-BA23-F68889A5EF7C}" type="datetimeFigureOut">
              <a:rPr lang="en-IN" smtClean="0"/>
              <a:t>03-01-2026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32697150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5B03A6-84BE-4CBD-BA23-F68889A5EF7C}"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38293348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75B03A6-84BE-4CBD-BA23-F68889A5EF7C}" type="datetimeFigureOut">
              <a:rPr lang="en-IN" smtClean="0"/>
              <a:t>03-01-2026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1433884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5B03A6-84BE-4CBD-BA23-F68889A5EF7C}"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1097055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875B03A6-84BE-4CBD-BA23-F68889A5EF7C}" type="datetimeFigureOut">
              <a:rPr lang="en-IN" smtClean="0"/>
              <a:t>03-01-2026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A2CDFD-CA8E-4E7D-92E5-ADDB8D1A7EA3}" type="slidenum">
              <a:rPr lang="en-IN" smtClean="0"/>
              <a:t>‹#›</a:t>
            </a:fld>
            <a:endParaRPr lang="en-IN"/>
          </a:p>
        </p:txBody>
      </p:sp>
    </p:spTree>
    <p:extLst>
      <p:ext uri="{BB962C8B-B14F-4D97-AF65-F5344CB8AC3E}">
        <p14:creationId xmlns:p14="http://schemas.microsoft.com/office/powerpoint/2010/main" val="34900378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5B03A6-84BE-4CBD-BA23-F68889A5EF7C}" type="datetimeFigureOut">
              <a:rPr lang="en-IN" smtClean="0"/>
              <a:t>03-01-2026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A2CDFD-CA8E-4E7D-92E5-ADDB8D1A7EA3}" type="slidenum">
              <a:rPr lang="en-IN" smtClean="0"/>
              <a:t>‹#›</a:t>
            </a:fld>
            <a:endParaRPr lang="en-IN"/>
          </a:p>
        </p:txBody>
      </p:sp>
    </p:spTree>
    <p:extLst>
      <p:ext uri="{BB962C8B-B14F-4D97-AF65-F5344CB8AC3E}">
        <p14:creationId xmlns:p14="http://schemas.microsoft.com/office/powerpoint/2010/main" val="62387967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0649"/>
            <a:ext cx="7772400" cy="720079"/>
          </a:xfrm>
        </p:spPr>
        <p:txBody>
          <a:bodyPr>
            <a:normAutofit fontScale="90000"/>
          </a:bodyPr>
          <a:lstStyle/>
          <a:p>
            <a:r>
              <a:rPr lang="en-US" dirty="0" smtClean="0"/>
              <a:t>Operations on Images</a:t>
            </a:r>
            <a:endParaRPr lang="en-IN" dirty="0"/>
          </a:p>
        </p:txBody>
      </p:sp>
      <p:sp>
        <p:nvSpPr>
          <p:cNvPr id="3" name="Subtitle 2"/>
          <p:cNvSpPr>
            <a:spLocks noGrp="1"/>
          </p:cNvSpPr>
          <p:nvPr>
            <p:ph type="subTitle" idx="1"/>
          </p:nvPr>
        </p:nvSpPr>
        <p:spPr>
          <a:xfrm>
            <a:off x="755576" y="1124744"/>
            <a:ext cx="7704856" cy="5112568"/>
          </a:xfrm>
        </p:spPr>
        <p:txBody>
          <a:bodyPr>
            <a:normAutofit fontScale="25000" lnSpcReduction="20000"/>
          </a:bodyPr>
          <a:lstStyle/>
          <a:p>
            <a:pPr algn="l"/>
            <a:r>
              <a:rPr lang="en-US" sz="9600" b="1" u="sng" dirty="0">
                <a:solidFill>
                  <a:schemeClr val="tx1"/>
                </a:solidFill>
              </a:rPr>
              <a:t>Key Arithmetic </a:t>
            </a:r>
            <a:r>
              <a:rPr lang="en-US" sz="9600" b="1" u="sng" dirty="0" smtClean="0">
                <a:solidFill>
                  <a:schemeClr val="tx1"/>
                </a:solidFill>
              </a:rPr>
              <a:t>Operations</a:t>
            </a:r>
          </a:p>
          <a:p>
            <a:pPr algn="l"/>
            <a:endParaRPr lang="en-US" sz="6400" b="1" dirty="0" smtClean="0">
              <a:solidFill>
                <a:schemeClr val="tx1"/>
              </a:solidFill>
            </a:endParaRPr>
          </a:p>
          <a:p>
            <a:pPr algn="l"/>
            <a:r>
              <a:rPr lang="en-US" sz="6400" b="1" dirty="0" smtClean="0">
                <a:solidFill>
                  <a:schemeClr val="tx1"/>
                </a:solidFill>
              </a:rPr>
              <a:t>Image </a:t>
            </a:r>
            <a:r>
              <a:rPr lang="en-US" sz="6400" b="1" dirty="0">
                <a:solidFill>
                  <a:schemeClr val="tx1"/>
                </a:solidFill>
              </a:rPr>
              <a:t>Addition (Blending/Brightening):</a:t>
            </a:r>
            <a:r>
              <a:rPr lang="en-US" sz="6400" dirty="0">
                <a:solidFill>
                  <a:schemeClr val="tx1"/>
                </a:solidFill>
              </a:rPr>
              <a:t> </a:t>
            </a:r>
            <a:endParaRPr lang="en-US" sz="6400" dirty="0" smtClean="0">
              <a:solidFill>
                <a:schemeClr val="tx1"/>
              </a:solidFill>
            </a:endParaRPr>
          </a:p>
          <a:p>
            <a:pPr algn="l"/>
            <a:r>
              <a:rPr lang="en-US" sz="6400" dirty="0">
                <a:solidFill>
                  <a:schemeClr val="tx1"/>
                </a:solidFill>
              </a:rPr>
              <a:t>Adds pixel values from two images (e.g., </a:t>
            </a:r>
            <a:r>
              <a:rPr lang="en-US" sz="6400" dirty="0">
                <a:solidFill>
                  <a:schemeClr val="tx1"/>
                </a:solidFill>
              </a:rPr>
              <a:t>img1 + img2</a:t>
            </a:r>
            <a:r>
              <a:rPr lang="en-US" sz="6400" dirty="0" smtClean="0">
                <a:solidFill>
                  <a:schemeClr val="tx1"/>
                </a:solidFill>
              </a:rPr>
              <a:t>) by f(</a:t>
            </a:r>
            <a:r>
              <a:rPr lang="en-US" sz="6400" dirty="0" err="1" smtClean="0">
                <a:solidFill>
                  <a:schemeClr val="tx1"/>
                </a:solidFill>
              </a:rPr>
              <a:t>m,n</a:t>
            </a:r>
            <a:r>
              <a:rPr lang="en-US" sz="6400" dirty="0">
                <a:solidFill>
                  <a:schemeClr val="tx1"/>
                </a:solidFill>
              </a:rPr>
              <a:t>) + g(</a:t>
            </a:r>
            <a:r>
              <a:rPr lang="en-US" sz="6400" dirty="0" err="1">
                <a:solidFill>
                  <a:schemeClr val="tx1"/>
                </a:solidFill>
              </a:rPr>
              <a:t>m,n</a:t>
            </a:r>
            <a:r>
              <a:rPr lang="en-US" sz="6400" dirty="0" smtClean="0">
                <a:solidFill>
                  <a:schemeClr val="tx1"/>
                </a:solidFill>
              </a:rPr>
              <a:t>)</a:t>
            </a:r>
          </a:p>
          <a:p>
            <a:pPr algn="l"/>
            <a:r>
              <a:rPr lang="en-US" sz="6400" dirty="0" smtClean="0">
                <a:solidFill>
                  <a:schemeClr val="tx1"/>
                </a:solidFill>
              </a:rPr>
              <a:t>or </a:t>
            </a:r>
            <a:r>
              <a:rPr lang="en-US" sz="6400" dirty="0">
                <a:solidFill>
                  <a:schemeClr val="tx1"/>
                </a:solidFill>
              </a:rPr>
              <a:t>adds a constant to all pixels (e.g., </a:t>
            </a:r>
            <a:r>
              <a:rPr lang="en-US" sz="6400" dirty="0" err="1">
                <a:solidFill>
                  <a:schemeClr val="tx1"/>
                </a:solidFill>
              </a:rPr>
              <a:t>img</a:t>
            </a:r>
            <a:r>
              <a:rPr lang="en-US" sz="6400" dirty="0">
                <a:solidFill>
                  <a:schemeClr val="tx1"/>
                </a:solidFill>
              </a:rPr>
              <a:t> + 50</a:t>
            </a:r>
            <a:r>
              <a:rPr lang="en-US" sz="6400" dirty="0">
                <a:solidFill>
                  <a:schemeClr val="tx1"/>
                </a:solidFill>
              </a:rPr>
              <a:t>) to lighten an </a:t>
            </a:r>
            <a:r>
              <a:rPr lang="en-US" sz="6400" dirty="0" smtClean="0">
                <a:solidFill>
                  <a:schemeClr val="tx1"/>
                </a:solidFill>
              </a:rPr>
              <a:t>image.</a:t>
            </a:r>
          </a:p>
          <a:p>
            <a:pPr algn="l"/>
            <a:r>
              <a:rPr lang="en-US" sz="6400" b="1" dirty="0" smtClean="0">
                <a:solidFill>
                  <a:schemeClr val="tx1"/>
                </a:solidFill>
              </a:rPr>
              <a:t>Use</a:t>
            </a:r>
            <a:r>
              <a:rPr lang="en-US" sz="6400" b="1" dirty="0">
                <a:solidFill>
                  <a:schemeClr val="tx1"/>
                </a:solidFill>
              </a:rPr>
              <a:t>:</a:t>
            </a:r>
            <a:r>
              <a:rPr lang="en-US" sz="6400" dirty="0">
                <a:solidFill>
                  <a:schemeClr val="tx1"/>
                </a:solidFill>
              </a:rPr>
              <a:t> </a:t>
            </a:r>
            <a:r>
              <a:rPr lang="en-US" sz="6400" dirty="0">
                <a:solidFill>
                  <a:schemeClr val="tx1"/>
                </a:solidFill>
              </a:rPr>
              <a:t>Creating faded effects, merging elements, or increasing overall brightness</a:t>
            </a:r>
            <a:r>
              <a:rPr lang="en-US" sz="6400" dirty="0" smtClean="0">
                <a:solidFill>
                  <a:schemeClr val="tx1"/>
                </a:solidFill>
              </a:rPr>
              <a:t>.</a:t>
            </a:r>
          </a:p>
          <a:p>
            <a:pPr algn="l"/>
            <a:endParaRPr lang="en-US" sz="6400" dirty="0">
              <a:solidFill>
                <a:schemeClr val="tx1"/>
              </a:solidFill>
            </a:endParaRPr>
          </a:p>
          <a:p>
            <a:pPr algn="l"/>
            <a:r>
              <a:rPr lang="en-IN" sz="6400" b="1" dirty="0">
                <a:solidFill>
                  <a:schemeClr val="tx1"/>
                </a:solidFill>
              </a:rPr>
              <a:t>Image Subtraction (Change Detection</a:t>
            </a:r>
            <a:r>
              <a:rPr lang="en-IN" sz="6400" b="1" dirty="0" smtClean="0">
                <a:solidFill>
                  <a:schemeClr val="tx1"/>
                </a:solidFill>
              </a:rPr>
              <a:t>):</a:t>
            </a:r>
            <a:r>
              <a:rPr lang="en-US" sz="6400" dirty="0">
                <a:solidFill>
                  <a:schemeClr val="tx1"/>
                </a:solidFill>
              </a:rPr>
              <a:t> </a:t>
            </a:r>
            <a:r>
              <a:rPr lang="en-US" sz="6400" dirty="0" smtClean="0">
                <a:solidFill>
                  <a:schemeClr val="tx1"/>
                </a:solidFill>
              </a:rPr>
              <a:t>f(</a:t>
            </a:r>
            <a:r>
              <a:rPr lang="en-US" sz="6400" dirty="0" err="1" smtClean="0">
                <a:solidFill>
                  <a:schemeClr val="tx1"/>
                </a:solidFill>
              </a:rPr>
              <a:t>m,n</a:t>
            </a:r>
            <a:r>
              <a:rPr lang="en-US" sz="6400" dirty="0" smtClean="0">
                <a:solidFill>
                  <a:schemeClr val="tx1"/>
                </a:solidFill>
              </a:rPr>
              <a:t>) - g(</a:t>
            </a:r>
            <a:r>
              <a:rPr lang="en-US" sz="6400" dirty="0" err="1" smtClean="0">
                <a:solidFill>
                  <a:schemeClr val="tx1"/>
                </a:solidFill>
              </a:rPr>
              <a:t>m,n</a:t>
            </a:r>
            <a:r>
              <a:rPr lang="en-US" sz="6400" dirty="0" smtClean="0">
                <a:solidFill>
                  <a:schemeClr val="tx1"/>
                </a:solidFill>
              </a:rPr>
              <a:t>).</a:t>
            </a:r>
          </a:p>
          <a:p>
            <a:pPr algn="l"/>
            <a:r>
              <a:rPr lang="en-US" sz="6400" dirty="0">
                <a:solidFill>
                  <a:schemeClr val="tx1"/>
                </a:solidFill>
              </a:rPr>
              <a:t>Subtracts pixel values of one image from another (e.g., </a:t>
            </a:r>
            <a:r>
              <a:rPr lang="en-US" sz="6400" dirty="0">
                <a:solidFill>
                  <a:schemeClr val="tx1"/>
                </a:solidFill>
              </a:rPr>
              <a:t>img1 - img2</a:t>
            </a:r>
            <a:r>
              <a:rPr lang="en-US" sz="6400" dirty="0" smtClean="0">
                <a:solidFill>
                  <a:schemeClr val="tx1"/>
                </a:solidFill>
              </a:rPr>
              <a:t>)</a:t>
            </a:r>
            <a:endParaRPr lang="en-US" sz="6400" dirty="0" smtClean="0">
              <a:solidFill>
                <a:schemeClr val="tx1"/>
              </a:solidFill>
            </a:endParaRPr>
          </a:p>
          <a:p>
            <a:pPr algn="l"/>
            <a:r>
              <a:rPr lang="en-US" sz="6400" b="1" dirty="0" smtClean="0">
                <a:solidFill>
                  <a:schemeClr val="tx1"/>
                </a:solidFill>
              </a:rPr>
              <a:t>Use</a:t>
            </a:r>
            <a:r>
              <a:rPr lang="en-US" sz="6400" b="1" dirty="0">
                <a:solidFill>
                  <a:schemeClr val="tx1"/>
                </a:solidFill>
              </a:rPr>
              <a:t>:</a:t>
            </a:r>
            <a:r>
              <a:rPr lang="en-US" sz="6400" dirty="0">
                <a:solidFill>
                  <a:schemeClr val="tx1"/>
                </a:solidFill>
              </a:rPr>
              <a:t> Detecting differences, motion </a:t>
            </a:r>
            <a:r>
              <a:rPr lang="en-US" sz="6400" dirty="0" smtClean="0">
                <a:solidFill>
                  <a:schemeClr val="tx1"/>
                </a:solidFill>
              </a:rPr>
              <a:t>detection</a:t>
            </a:r>
            <a:r>
              <a:rPr lang="en-US" sz="6400" dirty="0"/>
              <a:t> </a:t>
            </a:r>
            <a:r>
              <a:rPr lang="en-US" sz="6400" dirty="0" smtClean="0">
                <a:solidFill>
                  <a:schemeClr val="tx1"/>
                </a:solidFill>
              </a:rPr>
              <a:t>(taking </a:t>
            </a:r>
            <a:r>
              <a:rPr lang="en-US" sz="6400" dirty="0">
                <a:solidFill>
                  <a:schemeClr val="tx1"/>
                </a:solidFill>
              </a:rPr>
              <a:t>the absolute difference between two frames of a video to highlight moving objects </a:t>
            </a:r>
            <a:r>
              <a:rPr lang="en-US" sz="6400" dirty="0" smtClean="0">
                <a:solidFill>
                  <a:schemeClr val="tx1"/>
                </a:solidFill>
              </a:rPr>
              <a:t>like </a:t>
            </a:r>
            <a:r>
              <a:rPr lang="en-US" sz="6400" dirty="0">
                <a:solidFill>
                  <a:schemeClr val="tx1"/>
                </a:solidFill>
              </a:rPr>
              <a:t>a person </a:t>
            </a:r>
            <a:r>
              <a:rPr lang="en-US" sz="6400" dirty="0" smtClean="0">
                <a:solidFill>
                  <a:schemeClr val="tx1"/>
                </a:solidFill>
              </a:rPr>
              <a:t>walking),</a:t>
            </a:r>
            <a:r>
              <a:rPr lang="en-US" sz="6400" dirty="0" smtClean="0">
                <a:solidFill>
                  <a:schemeClr val="tx1"/>
                </a:solidFill>
              </a:rPr>
              <a:t> </a:t>
            </a:r>
            <a:r>
              <a:rPr lang="en-US" sz="6400" dirty="0">
                <a:solidFill>
                  <a:schemeClr val="tx1"/>
                </a:solidFill>
              </a:rPr>
              <a:t>or removing backgrounds (background subtraction</a:t>
            </a:r>
            <a:r>
              <a:rPr lang="en-US" sz="6400" dirty="0" smtClean="0">
                <a:solidFill>
                  <a:schemeClr val="tx1"/>
                </a:solidFill>
              </a:rPr>
              <a:t>).</a:t>
            </a:r>
          </a:p>
          <a:p>
            <a:pPr algn="l"/>
            <a:endParaRPr lang="en-US" sz="6400" dirty="0">
              <a:solidFill>
                <a:schemeClr val="tx1"/>
              </a:solidFill>
            </a:endParaRPr>
          </a:p>
          <a:p>
            <a:pPr algn="l"/>
            <a:r>
              <a:rPr lang="en-US" sz="6400" b="1" dirty="0">
                <a:solidFill>
                  <a:schemeClr val="tx1"/>
                </a:solidFill>
              </a:rPr>
              <a:t>Multiplication:</a:t>
            </a:r>
            <a:r>
              <a:rPr lang="en-US" sz="6400" dirty="0">
                <a:solidFill>
                  <a:schemeClr val="tx1"/>
                </a:solidFill>
              </a:rPr>
              <a:t> f(</a:t>
            </a:r>
            <a:r>
              <a:rPr lang="en-US" sz="6400" dirty="0" err="1">
                <a:solidFill>
                  <a:schemeClr val="tx1"/>
                </a:solidFill>
              </a:rPr>
              <a:t>m,n</a:t>
            </a:r>
            <a:r>
              <a:rPr lang="en-US" sz="6400" dirty="0">
                <a:solidFill>
                  <a:schemeClr val="tx1"/>
                </a:solidFill>
              </a:rPr>
              <a:t>) * g(</a:t>
            </a:r>
            <a:r>
              <a:rPr lang="en-US" sz="6400" dirty="0" err="1">
                <a:solidFill>
                  <a:schemeClr val="tx1"/>
                </a:solidFill>
              </a:rPr>
              <a:t>m,n</a:t>
            </a:r>
            <a:r>
              <a:rPr lang="en-US" sz="6400" dirty="0">
                <a:solidFill>
                  <a:schemeClr val="tx1"/>
                </a:solidFill>
              </a:rPr>
              <a:t>) </a:t>
            </a:r>
            <a:r>
              <a:rPr lang="en-US" sz="6400" dirty="0" smtClean="0">
                <a:solidFill>
                  <a:schemeClr val="tx1"/>
                </a:solidFill>
              </a:rPr>
              <a:t>.</a:t>
            </a:r>
          </a:p>
          <a:p>
            <a:pPr algn="l"/>
            <a:r>
              <a:rPr lang="en-US" sz="6400" b="1" dirty="0" smtClean="0">
                <a:solidFill>
                  <a:schemeClr val="tx1"/>
                </a:solidFill>
              </a:rPr>
              <a:t>Use</a:t>
            </a:r>
            <a:r>
              <a:rPr lang="en-US" sz="6400" b="1" dirty="0">
                <a:solidFill>
                  <a:schemeClr val="tx1"/>
                </a:solidFill>
              </a:rPr>
              <a:t>:</a:t>
            </a:r>
            <a:r>
              <a:rPr lang="en-US" sz="6400" dirty="0">
                <a:solidFill>
                  <a:schemeClr val="tx1"/>
                </a:solidFill>
              </a:rPr>
              <a:t> Adjusting </a:t>
            </a:r>
            <a:r>
              <a:rPr lang="en-US" sz="6400" dirty="0" smtClean="0">
                <a:solidFill>
                  <a:schemeClr val="tx1"/>
                </a:solidFill>
              </a:rPr>
              <a:t>contrast or </a:t>
            </a:r>
            <a:r>
              <a:rPr lang="en-US" sz="6400" dirty="0">
                <a:solidFill>
                  <a:schemeClr val="tx1"/>
                </a:solidFill>
              </a:rPr>
              <a:t>creating masks</a:t>
            </a:r>
            <a:r>
              <a:rPr lang="en-US" sz="6400" dirty="0" smtClean="0">
                <a:solidFill>
                  <a:schemeClr val="tx1"/>
                </a:solidFill>
              </a:rPr>
              <a:t>. </a:t>
            </a:r>
            <a:r>
              <a:rPr lang="en-US" sz="6400" dirty="0">
                <a:solidFill>
                  <a:schemeClr val="tx1"/>
                </a:solidFill>
              </a:rPr>
              <a:t>Multiplying by a small constant can darken an image</a:t>
            </a:r>
            <a:endParaRPr lang="en-US" sz="6400" dirty="0" smtClean="0">
              <a:solidFill>
                <a:schemeClr val="tx1"/>
              </a:solidFill>
            </a:endParaRPr>
          </a:p>
          <a:p>
            <a:pPr algn="l"/>
            <a:endParaRPr lang="en-US" sz="6400" dirty="0">
              <a:solidFill>
                <a:schemeClr val="tx1"/>
              </a:solidFill>
            </a:endParaRPr>
          </a:p>
          <a:p>
            <a:pPr algn="l"/>
            <a:r>
              <a:rPr lang="en-US" sz="6400" b="1" dirty="0">
                <a:solidFill>
                  <a:schemeClr val="tx1"/>
                </a:solidFill>
              </a:rPr>
              <a:t>Division:</a:t>
            </a:r>
            <a:r>
              <a:rPr lang="en-US" sz="6400" dirty="0">
                <a:solidFill>
                  <a:schemeClr val="tx1"/>
                </a:solidFill>
              </a:rPr>
              <a:t> f(</a:t>
            </a:r>
            <a:r>
              <a:rPr lang="en-US" sz="6400" dirty="0" err="1">
                <a:solidFill>
                  <a:schemeClr val="tx1"/>
                </a:solidFill>
              </a:rPr>
              <a:t>m,n</a:t>
            </a:r>
            <a:r>
              <a:rPr lang="en-US" sz="6400" dirty="0">
                <a:solidFill>
                  <a:schemeClr val="tx1"/>
                </a:solidFill>
              </a:rPr>
              <a:t>) / g(</a:t>
            </a:r>
            <a:r>
              <a:rPr lang="en-US" sz="6400" dirty="0" err="1">
                <a:solidFill>
                  <a:schemeClr val="tx1"/>
                </a:solidFill>
              </a:rPr>
              <a:t>m,n</a:t>
            </a:r>
            <a:r>
              <a:rPr lang="en-US" sz="6400" dirty="0" smtClean="0">
                <a:solidFill>
                  <a:schemeClr val="tx1"/>
                </a:solidFill>
              </a:rPr>
              <a:t>).</a:t>
            </a:r>
          </a:p>
          <a:p>
            <a:pPr algn="l"/>
            <a:r>
              <a:rPr lang="en-US" sz="6400" b="1" dirty="0" smtClean="0">
                <a:solidFill>
                  <a:schemeClr val="tx1"/>
                </a:solidFill>
              </a:rPr>
              <a:t>Use</a:t>
            </a:r>
            <a:r>
              <a:rPr lang="en-US" sz="6400" b="1" dirty="0">
                <a:solidFill>
                  <a:schemeClr val="tx1"/>
                </a:solidFill>
              </a:rPr>
              <a:t>:</a:t>
            </a:r>
            <a:r>
              <a:rPr lang="en-US" sz="6400" dirty="0">
                <a:solidFill>
                  <a:schemeClr val="tx1"/>
                </a:solidFill>
              </a:rPr>
              <a:t> Correcting non-uniform illumination (shading correction) or reducing </a:t>
            </a:r>
            <a:r>
              <a:rPr lang="en-US" sz="6400" dirty="0" smtClean="0">
                <a:solidFill>
                  <a:schemeClr val="tx1"/>
                </a:solidFill>
              </a:rPr>
              <a:t>contrast </a:t>
            </a:r>
            <a:r>
              <a:rPr lang="en-US" sz="6400" dirty="0">
                <a:solidFill>
                  <a:schemeClr val="tx1"/>
                </a:solidFill>
              </a:rPr>
              <a:t> </a:t>
            </a:r>
            <a:r>
              <a:rPr lang="en-US" sz="6400" dirty="0" smtClean="0">
                <a:solidFill>
                  <a:schemeClr val="tx1"/>
                </a:solidFill>
              </a:rPr>
              <a:t>as dividing </a:t>
            </a:r>
            <a:r>
              <a:rPr lang="en-US" sz="6400" dirty="0">
                <a:solidFill>
                  <a:schemeClr val="tx1"/>
                </a:solidFill>
              </a:rPr>
              <a:t>by a constant can brighten it</a:t>
            </a:r>
            <a:r>
              <a:rPr lang="en-US" sz="6400" dirty="0" smtClean="0">
                <a:solidFill>
                  <a:schemeClr val="tx1"/>
                </a:solidFill>
              </a:rPr>
              <a:t>.</a:t>
            </a:r>
            <a:r>
              <a:rPr lang="en-US" sz="6400" dirty="0">
                <a:solidFill>
                  <a:schemeClr val="tx1"/>
                </a:solidFill>
              </a:rPr>
              <a:t> </a:t>
            </a:r>
          </a:p>
          <a:p>
            <a:pPr algn="l"/>
            <a:r>
              <a:rPr lang="en-US" sz="6400" dirty="0" smtClean="0"/>
              <a:t>  </a:t>
            </a:r>
            <a:endParaRPr lang="en-IN" sz="6400" dirty="0"/>
          </a:p>
        </p:txBody>
      </p:sp>
    </p:spTree>
    <p:extLst>
      <p:ext uri="{BB962C8B-B14F-4D97-AF65-F5344CB8AC3E}">
        <p14:creationId xmlns:p14="http://schemas.microsoft.com/office/powerpoint/2010/main" val="3648118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94122"/>
          </a:xfrm>
        </p:spPr>
        <p:txBody>
          <a:bodyPr>
            <a:normAutofit/>
          </a:bodyPr>
          <a:lstStyle/>
          <a:p>
            <a:r>
              <a:rPr lang="en-US" sz="4000" dirty="0" smtClean="0"/>
              <a:t>Operations on Images</a:t>
            </a:r>
            <a:endParaRPr lang="en-IN" sz="4000" dirty="0"/>
          </a:p>
        </p:txBody>
      </p:sp>
      <p:sp>
        <p:nvSpPr>
          <p:cNvPr id="3" name="Content Placeholder 2"/>
          <p:cNvSpPr>
            <a:spLocks noGrp="1"/>
          </p:cNvSpPr>
          <p:nvPr>
            <p:ph idx="1"/>
          </p:nvPr>
        </p:nvSpPr>
        <p:spPr>
          <a:xfrm>
            <a:off x="457200" y="1340768"/>
            <a:ext cx="8363272" cy="5102696"/>
          </a:xfrm>
        </p:spPr>
        <p:txBody>
          <a:bodyPr>
            <a:normAutofit/>
          </a:bodyPr>
          <a:lstStyle/>
          <a:p>
            <a:pPr marL="0" indent="0">
              <a:buNone/>
            </a:pPr>
            <a:r>
              <a:rPr lang="en-US" sz="1600" b="1" u="sng" dirty="0" smtClean="0"/>
              <a:t>Logical operations </a:t>
            </a:r>
          </a:p>
          <a:p>
            <a:pPr marL="400050" lvl="1" indent="0">
              <a:buNone/>
            </a:pPr>
            <a:r>
              <a:rPr lang="en-US" sz="1600" dirty="0"/>
              <a:t>Logical operations are fundamental tools in image processing, primarily used for </a:t>
            </a:r>
            <a:r>
              <a:rPr lang="en-US" sz="1600" b="1" dirty="0"/>
              <a:t>masking regions of interest, feature detection, and shape analysis</a:t>
            </a:r>
            <a:r>
              <a:rPr lang="en-US" sz="1600" dirty="0"/>
              <a:t>, especially with binary images</a:t>
            </a:r>
            <a:r>
              <a:rPr lang="en-US" sz="1600" dirty="0"/>
              <a:t>. They manipulate images on a pixel-by-pixel basis, allowing for precise control over image content</a:t>
            </a:r>
            <a:r>
              <a:rPr lang="en-US" sz="1600" dirty="0" smtClean="0"/>
              <a:t>.</a:t>
            </a:r>
          </a:p>
          <a:p>
            <a:r>
              <a:rPr lang="en-US" sz="1600" dirty="0"/>
              <a:t>AND – True if both pixels are greater than zero</a:t>
            </a:r>
          </a:p>
          <a:p>
            <a:r>
              <a:rPr lang="en-US" sz="1600" dirty="0"/>
              <a:t>OR – True if either of the two pixels are greater than zero</a:t>
            </a:r>
          </a:p>
          <a:p>
            <a:r>
              <a:rPr lang="en-US" sz="1600" dirty="0"/>
              <a:t>XOR – True if either of the two pixels are greater than zero, but not both</a:t>
            </a:r>
          </a:p>
          <a:p>
            <a:r>
              <a:rPr lang="en-US" sz="1600" dirty="0"/>
              <a:t>NOT – Invert pixel values</a:t>
            </a:r>
          </a:p>
          <a:p>
            <a:pPr marL="400050" lvl="1" indent="0">
              <a:buNone/>
            </a:pPr>
            <a:endParaRPr lang="en-US" sz="1600" dirty="0" smtClean="0"/>
          </a:p>
          <a:p>
            <a:pPr marL="400050" lvl="1" indent="0">
              <a:buNone/>
            </a:pPr>
            <a:endParaRPr lang="en-US" sz="1600"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4005064"/>
            <a:ext cx="7272808" cy="243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98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r>
              <a:rPr lang="en-US" sz="1600" dirty="0"/>
              <a:t>Bitwise operations are applied on </a:t>
            </a:r>
            <a:r>
              <a:rPr lang="en-US" sz="1600" dirty="0" err="1"/>
              <a:t>grayscale</a:t>
            </a:r>
            <a:r>
              <a:rPr lang="en-US" sz="1600" dirty="0"/>
              <a:t> images. First of all, they convert a </a:t>
            </a:r>
            <a:r>
              <a:rPr lang="en-US" sz="1600" dirty="0" err="1"/>
              <a:t>grayscale</a:t>
            </a:r>
            <a:r>
              <a:rPr lang="en-US" sz="1600" dirty="0"/>
              <a:t> into a binary images as you can see in a following example. The rule for conversion is the </a:t>
            </a:r>
            <a:r>
              <a:rPr lang="en-US" sz="1600" dirty="0" err="1"/>
              <a:t>folowing</a:t>
            </a:r>
            <a:r>
              <a:rPr lang="en-US" sz="1600" dirty="0"/>
              <a:t>: any given pixel larger then zero will become one, and zeros will remain zeros. In another words, any given pixel with value “0” is represented with number zero (pixel is turned “off”), and any pixel with value greater than “0” is represented with number one (pixel is turned “on”).  </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140968"/>
            <a:ext cx="7315200" cy="3456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25644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3608" y="2060848"/>
            <a:ext cx="6624735" cy="47091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467544" y="1556792"/>
            <a:ext cx="5760640" cy="369332"/>
          </a:xfrm>
          <a:prstGeom prst="rect">
            <a:avLst/>
          </a:prstGeom>
        </p:spPr>
        <p:txBody>
          <a:bodyPr wrap="square">
            <a:spAutoFit/>
          </a:bodyPr>
          <a:lstStyle/>
          <a:p>
            <a:r>
              <a:rPr lang="en-US" dirty="0"/>
              <a:t>Now lets apply bitwise operations on our binary images.</a:t>
            </a:r>
            <a:endParaRPr lang="en-IN" dirty="0"/>
          </a:p>
        </p:txBody>
      </p:sp>
    </p:spTree>
    <p:extLst>
      <p:ext uri="{BB962C8B-B14F-4D97-AF65-F5344CB8AC3E}">
        <p14:creationId xmlns:p14="http://schemas.microsoft.com/office/powerpoint/2010/main" val="14280736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93474" y="1600200"/>
            <a:ext cx="5957051"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21959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67544" y="1600200"/>
            <a:ext cx="8219256" cy="5141168"/>
          </a:xfrm>
        </p:spPr>
        <p:txBody>
          <a:bodyPr>
            <a:normAutofit/>
          </a:bodyPr>
          <a:lstStyle/>
          <a:p>
            <a:pPr marL="0" indent="0">
              <a:buNone/>
            </a:pPr>
            <a:r>
              <a:rPr lang="en-US" b="1" dirty="0" smtClean="0"/>
              <a:t>Masking</a:t>
            </a:r>
            <a:endParaRPr lang="en-US" b="1" dirty="0"/>
          </a:p>
          <a:p>
            <a:pPr marL="0" indent="0">
              <a:buNone/>
            </a:pPr>
            <a:r>
              <a:rPr lang="en-US" sz="1800" dirty="0"/>
              <a:t>A extremely useful technique in the image processing is masking, which allows us to focus only on the special part or area of the image.</a:t>
            </a:r>
          </a:p>
          <a:p>
            <a:pPr marL="0" indent="0">
              <a:buNone/>
            </a:pPr>
            <a:r>
              <a:rPr lang="en-US" sz="1800" dirty="0"/>
              <a:t>So, let’s assume that we want to highlight parts of the image with faces on it and ignore the rest of the image. First, we need to construct our mask</a:t>
            </a:r>
            <a:r>
              <a:rPr lang="en-US" sz="1800" dirty="0" smtClean="0"/>
              <a:t>. We use AND operation to obtain our output.</a:t>
            </a:r>
          </a:p>
          <a:p>
            <a:pPr marL="0" indent="0">
              <a:buNone/>
            </a:pPr>
            <a:endParaRPr lang="en-US" sz="1800" dirty="0"/>
          </a:p>
          <a:p>
            <a:endParaRPr lang="en-IN"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789040"/>
            <a:ext cx="7038823" cy="2736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43948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4" name="Content Placeholder 3"/>
          <p:cNvSpPr>
            <a:spLocks noGrp="1"/>
          </p:cNvSpPr>
          <p:nvPr>
            <p:ph idx="1"/>
          </p:nvPr>
        </p:nvSpPr>
        <p:spPr/>
        <p:txBody>
          <a:bodyPr>
            <a:normAutofit/>
          </a:bodyPr>
          <a:lstStyle/>
          <a:p>
            <a:pPr marL="0" indent="0">
              <a:buNone/>
            </a:pPr>
            <a:r>
              <a:rPr lang="en-US" sz="2800" b="1" dirty="0" smtClean="0"/>
              <a:t>Output</a:t>
            </a:r>
          </a:p>
          <a:p>
            <a:pPr marL="0" indent="0">
              <a:buNone/>
            </a:pPr>
            <a:endParaRPr lang="en-IN" sz="2800" b="1" dirty="0"/>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738" y="2276872"/>
            <a:ext cx="7988448" cy="4104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511314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303</TotalTime>
  <Words>207</Words>
  <Application>Microsoft Office PowerPoint</Application>
  <PresentationFormat>On-screen Show (4:3)</PresentationFormat>
  <Paragraphs>31</Paragraphs>
  <Slides>7</Slides>
  <Notes>0</Notes>
  <HiddenSlides>0</HiddenSlides>
  <MMClips>0</MMClips>
  <ScaleCrop>false</ScaleCrop>
  <HeadingPairs>
    <vt:vector size="4" baseType="variant">
      <vt:variant>
        <vt:lpstr>Theme</vt:lpstr>
      </vt:variant>
      <vt:variant>
        <vt:i4>1</vt:i4>
      </vt:variant>
      <vt:variant>
        <vt:lpstr>Slide Titles</vt:lpstr>
      </vt:variant>
      <vt:variant>
        <vt:i4>7</vt:i4>
      </vt:variant>
    </vt:vector>
  </HeadingPairs>
  <TitlesOfParts>
    <vt:vector size="8" baseType="lpstr">
      <vt:lpstr>Office Theme</vt:lpstr>
      <vt:lpstr>Operations on Images</vt:lpstr>
      <vt:lpstr>Operations on Images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polytech</dc:creator>
  <cp:lastModifiedBy>Admin</cp:lastModifiedBy>
  <cp:revision>57</cp:revision>
  <dcterms:created xsi:type="dcterms:W3CDTF">2025-12-31T10:01:19Z</dcterms:created>
  <dcterms:modified xsi:type="dcterms:W3CDTF">2026-01-03T10:26:12Z</dcterms:modified>
</cp:coreProperties>
</file>