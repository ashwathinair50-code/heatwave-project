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5"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161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82DFF1D-BB9A-4326-9A1B-88E973E4B957}"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2687133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82DFF1D-BB9A-4326-9A1B-88E973E4B957}"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4066206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2DFF1D-BB9A-4326-9A1B-88E973E4B957}"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3969515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82DFF1D-BB9A-4326-9A1B-88E973E4B957}"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154239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82DFF1D-BB9A-4326-9A1B-88E973E4B957}" type="datetimeFigureOut">
              <a:rPr lang="en-IN" smtClean="0"/>
              <a:t>10-01-2026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429063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82DFF1D-BB9A-4326-9A1B-88E973E4B957}" type="datetimeFigureOut">
              <a:rPr lang="en-IN" smtClean="0"/>
              <a:t>10-01-2026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2631114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2DFF1D-BB9A-4326-9A1B-88E973E4B957}" type="datetimeFigureOut">
              <a:rPr lang="en-IN" smtClean="0"/>
              <a:t>10-01-2026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3132425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2DFF1D-BB9A-4326-9A1B-88E973E4B957}"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400131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2DFF1D-BB9A-4326-9A1B-88E973E4B957}"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3877625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82DFF1D-BB9A-4326-9A1B-88E973E4B957}"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1315470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82DFF1D-BB9A-4326-9A1B-88E973E4B957}"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569C9A-005A-40B4-BFEA-6CC7C064AA6B}" type="slidenum">
              <a:rPr lang="en-IN" smtClean="0"/>
              <a:t>‹#›</a:t>
            </a:fld>
            <a:endParaRPr lang="en-IN"/>
          </a:p>
        </p:txBody>
      </p:sp>
    </p:spTree>
    <p:extLst>
      <p:ext uri="{BB962C8B-B14F-4D97-AF65-F5344CB8AC3E}">
        <p14:creationId xmlns:p14="http://schemas.microsoft.com/office/powerpoint/2010/main" val="1588516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2DFF1D-BB9A-4326-9A1B-88E973E4B957}" type="datetimeFigureOut">
              <a:rPr lang="en-IN" smtClean="0"/>
              <a:t>10-01-2026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569C9A-005A-40B4-BFEA-6CC7C064AA6B}" type="slidenum">
              <a:rPr lang="en-IN" smtClean="0"/>
              <a:t>‹#›</a:t>
            </a:fld>
            <a:endParaRPr lang="en-IN"/>
          </a:p>
        </p:txBody>
      </p:sp>
    </p:spTree>
    <p:extLst>
      <p:ext uri="{BB962C8B-B14F-4D97-AF65-F5344CB8AC3E}">
        <p14:creationId xmlns:p14="http://schemas.microsoft.com/office/powerpoint/2010/main" val="3733295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Image Enhancement – Histogram Processing</a:t>
            </a:r>
            <a:endParaRPr lang="en-IN" dirty="0"/>
          </a:p>
        </p:txBody>
      </p:sp>
      <p:sp>
        <p:nvSpPr>
          <p:cNvPr id="3" name="Content Placeholder 2"/>
          <p:cNvSpPr>
            <a:spLocks noGrp="1"/>
          </p:cNvSpPr>
          <p:nvPr>
            <p:ph idx="1"/>
          </p:nvPr>
        </p:nvSpPr>
        <p:spPr/>
        <p:txBody>
          <a:bodyPr>
            <a:normAutofit/>
          </a:bodyPr>
          <a:lstStyle/>
          <a:p>
            <a:pPr marL="0" indent="0">
              <a:buNone/>
            </a:pPr>
            <a:r>
              <a:rPr lang="en-US" b="1" dirty="0"/>
              <a:t>Histograms</a:t>
            </a:r>
          </a:p>
          <a:p>
            <a:pPr marL="0" indent="0">
              <a:buNone/>
            </a:pPr>
            <a:r>
              <a:rPr lang="en-US" dirty="0"/>
              <a:t>A histogram is a graph. A graph that shows frequency of anything. Usually histogram have bars that represent frequency of occurring of data in the whole data set.</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4365104"/>
            <a:ext cx="4933950" cy="2353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264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b="1" dirty="0"/>
              <a:t>Histogram of an Image</a:t>
            </a:r>
          </a:p>
          <a:p>
            <a:pPr marL="0" indent="0">
              <a:buNone/>
            </a:pPr>
            <a:r>
              <a:rPr lang="en-US" dirty="0"/>
              <a:t>Histogram of an image, like other histograms also shows frequency. But an image histogram, shows frequency of pixels intensity values. In an image histogram, the x axis shows the gray level intensities and the y axis shows the frequency of these intensities.</a:t>
            </a:r>
          </a:p>
          <a:p>
            <a:endParaRPr lang="en-IN" dirty="0"/>
          </a:p>
        </p:txBody>
      </p:sp>
    </p:spTree>
    <p:extLst>
      <p:ext uri="{BB962C8B-B14F-4D97-AF65-F5344CB8AC3E}">
        <p14:creationId xmlns:p14="http://schemas.microsoft.com/office/powerpoint/2010/main" val="403682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Example</a:t>
            </a:r>
          </a:p>
          <a:p>
            <a:pPr marL="0" indent="0">
              <a:buNone/>
            </a:pPr>
            <a:r>
              <a:rPr lang="en-US" dirty="0"/>
              <a:t>The histogram of the above picture of the Einstein would be something like this</a:t>
            </a:r>
          </a:p>
          <a:p>
            <a:pPr marL="0" indent="0">
              <a:buNone/>
            </a:pPr>
            <a:br>
              <a:rPr lang="en-US" dirty="0"/>
            </a:b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429000"/>
            <a:ext cx="2160240" cy="209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4989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395536" y="260648"/>
            <a:ext cx="8291264" cy="6336704"/>
          </a:xfrm>
        </p:spPr>
        <p:txBody>
          <a:bodyPr/>
          <a:lstStyle/>
          <a:p>
            <a:pPr marL="0" indent="0">
              <a:buNone/>
            </a:pPr>
            <a:r>
              <a:rPr lang="en-US" dirty="0"/>
              <a:t>The histogram of the above picture of the Einstein would be something like this</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132856"/>
            <a:ext cx="4591050"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447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x axis of the histogram shows the range of pixel values. Since its an 8 </a:t>
            </a:r>
            <a:r>
              <a:rPr lang="en-US" dirty="0" err="1"/>
              <a:t>bpp</a:t>
            </a:r>
            <a:r>
              <a:rPr lang="en-US" dirty="0"/>
              <a:t> image, that means it has 256 levels of gray or shades of gray in it. That’s why the range of x axis starts from 0 and end at 255 with a gap of 50. Whereas on the y axis, is the count of these intensities.</a:t>
            </a:r>
          </a:p>
          <a:p>
            <a:pPr marL="0" indent="0">
              <a:buNone/>
            </a:pPr>
            <a:r>
              <a:rPr lang="en-US" dirty="0"/>
              <a:t>As you can see from the graph, that most of the bars that have high frequency lies in the first half portion which is the darker portion. That means that the image we have got is darker. And this can be proved from the image too.</a:t>
            </a:r>
          </a:p>
          <a:p>
            <a:endParaRPr lang="en-IN" dirty="0"/>
          </a:p>
        </p:txBody>
      </p:sp>
    </p:spTree>
    <p:extLst>
      <p:ext uri="{BB962C8B-B14F-4D97-AF65-F5344CB8AC3E}">
        <p14:creationId xmlns:p14="http://schemas.microsoft.com/office/powerpoint/2010/main" val="3092038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b="1" dirty="0"/>
              <a:t>Applications of Histograms</a:t>
            </a:r>
          </a:p>
          <a:p>
            <a:r>
              <a:rPr lang="en-US" b="1" dirty="0"/>
              <a:t>Medical Imaging:</a:t>
            </a:r>
            <a:r>
              <a:rPr lang="en-US" dirty="0"/>
              <a:t> Enhancing details in X-rays (like fractures or tumors) and MRIs (brain structures) where subtle intensity differences are crucial.</a:t>
            </a:r>
          </a:p>
          <a:p>
            <a:r>
              <a:rPr lang="en-US" b="1" dirty="0"/>
              <a:t>Satellite &amp; Aerial Imaging:</a:t>
            </a:r>
            <a:r>
              <a:rPr lang="en-US" dirty="0"/>
              <a:t> Improving visibility of terrain, roads, or features in cloudy or poorly lit satellite photos.</a:t>
            </a:r>
          </a:p>
          <a:p>
            <a:endParaRPr lang="en-IN" dirty="0"/>
          </a:p>
        </p:txBody>
      </p:sp>
    </p:spTree>
    <p:extLst>
      <p:ext uri="{BB962C8B-B14F-4D97-AF65-F5344CB8AC3E}">
        <p14:creationId xmlns:p14="http://schemas.microsoft.com/office/powerpoint/2010/main" val="3191780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C2D7C-2525-84AD-6A62-43950A9BD4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DA8894-20AE-9D62-BB7F-BEE45293A672}"/>
              </a:ext>
            </a:extLst>
          </p:cNvPr>
          <p:cNvSpPr>
            <a:spLocks noGrp="1"/>
          </p:cNvSpPr>
          <p:nvPr>
            <p:ph idx="1"/>
          </p:nvPr>
        </p:nvSpPr>
        <p:spPr/>
        <p:txBody>
          <a:bodyPr>
            <a:normAutofit fontScale="92500"/>
          </a:bodyPr>
          <a:lstStyle/>
          <a:p>
            <a:r>
              <a:rPr lang="en-US" b="1" dirty="0"/>
              <a:t>Biometrics:</a:t>
            </a:r>
            <a:r>
              <a:rPr lang="en-US" dirty="0"/>
              <a:t> Sharpening facial or iris images for better feature extraction in recognition systems.</a:t>
            </a:r>
          </a:p>
          <a:p>
            <a:r>
              <a:rPr lang="en-US" b="1" dirty="0"/>
              <a:t>Computer Vision:</a:t>
            </a:r>
            <a:r>
              <a:rPr lang="en-US" dirty="0"/>
              <a:t> Pre-processing images to improve object detection, recognition, and segmentation by making features more distinct.</a:t>
            </a:r>
          </a:p>
          <a:p>
            <a:r>
              <a:rPr lang="en-US" b="1" dirty="0"/>
              <a:t>Scanned Documents:</a:t>
            </a:r>
            <a:r>
              <a:rPr lang="en-US" dirty="0"/>
              <a:t> Clarifying text and images in old or poorly scanned documents.</a:t>
            </a:r>
          </a:p>
          <a:p>
            <a:r>
              <a:rPr lang="en-US" b="1" dirty="0"/>
              <a:t>Astronomy:</a:t>
            </a:r>
            <a:r>
              <a:rPr lang="en-US" dirty="0"/>
              <a:t> Revealing faint details in celestial objects. </a:t>
            </a:r>
          </a:p>
          <a:p>
            <a:endParaRPr lang="en-IN" dirty="0"/>
          </a:p>
        </p:txBody>
      </p:sp>
    </p:spTree>
    <p:extLst>
      <p:ext uri="{BB962C8B-B14F-4D97-AF65-F5344CB8AC3E}">
        <p14:creationId xmlns:p14="http://schemas.microsoft.com/office/powerpoint/2010/main" val="208639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 Equalization </a:t>
            </a:r>
            <a:endParaRPr lang="en-IN" dirty="0"/>
          </a:p>
        </p:txBody>
      </p:sp>
      <p:sp>
        <p:nvSpPr>
          <p:cNvPr id="3" name="Content Placeholder 2"/>
          <p:cNvSpPr>
            <a:spLocks noGrp="1"/>
          </p:cNvSpPr>
          <p:nvPr>
            <p:ph idx="1"/>
          </p:nvPr>
        </p:nvSpPr>
        <p:spPr/>
        <p:txBody>
          <a:bodyPr/>
          <a:lstStyle/>
          <a:p>
            <a:r>
              <a:rPr lang="en-US" dirty="0"/>
              <a:t>It is used to </a:t>
            </a:r>
            <a:r>
              <a:rPr lang="en-US" dirty="0">
                <a:solidFill>
                  <a:srgbClr val="FF0000"/>
                </a:solidFill>
              </a:rPr>
              <a:t>improve contrast </a:t>
            </a:r>
            <a:r>
              <a:rPr lang="en-US" dirty="0"/>
              <a:t>in images.</a:t>
            </a:r>
          </a:p>
          <a:p>
            <a:r>
              <a:rPr lang="en-US" dirty="0"/>
              <a:t>It accomplishes this by effectively spreading out the most frequent intensity values, i.e. stretching out the intensity range of the image.</a:t>
            </a:r>
            <a:endParaRPr lang="en-IN" dirty="0"/>
          </a:p>
        </p:txBody>
      </p:sp>
    </p:spTree>
    <p:extLst>
      <p:ext uri="{BB962C8B-B14F-4D97-AF65-F5344CB8AC3E}">
        <p14:creationId xmlns:p14="http://schemas.microsoft.com/office/powerpoint/2010/main" val="1180160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6365" y="1600200"/>
            <a:ext cx="565127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8990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383</Words>
  <Application>Microsoft Office PowerPoint</Application>
  <PresentationFormat>On-screen Show (4:3)</PresentationFormat>
  <Paragraphs>21</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Image Enhancement – Histogram Processing</vt:lpstr>
      <vt:lpstr>PowerPoint Presentation</vt:lpstr>
      <vt:lpstr>PowerPoint Presentation</vt:lpstr>
      <vt:lpstr>PowerPoint Presentation</vt:lpstr>
      <vt:lpstr>PowerPoint Presentation</vt:lpstr>
      <vt:lpstr>PowerPoint Presentation</vt:lpstr>
      <vt:lpstr>PowerPoint Presentation</vt:lpstr>
      <vt:lpstr>Histogram Equalization </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Enhancement – Histogram Processing</dc:title>
  <dc:creator>Admin</dc:creator>
  <cp:lastModifiedBy>manjiri shirsat</cp:lastModifiedBy>
  <cp:revision>13</cp:revision>
  <dcterms:created xsi:type="dcterms:W3CDTF">2026-01-09T09:20:04Z</dcterms:created>
  <dcterms:modified xsi:type="dcterms:W3CDTF">2026-01-10T01:52:29Z</dcterms:modified>
</cp:coreProperties>
</file>