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7" r:id="rId3"/>
    <p:sldId id="269" r:id="rId4"/>
    <p:sldId id="257" r:id="rId5"/>
    <p:sldId id="258" r:id="rId6"/>
    <p:sldId id="259" r:id="rId7"/>
    <p:sldId id="261" r:id="rId8"/>
    <p:sldId id="260" r:id="rId9"/>
    <p:sldId id="263" r:id="rId10"/>
    <p:sldId id="270" r:id="rId11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117" d="100"/>
          <a:sy n="117" d="100"/>
        </p:scale>
        <p:origin x="-1464" y="-7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1CC5AC-9A81-4BF9-901E-69087E6EC777}" type="datetimeFigureOut">
              <a:rPr lang="en-IN" smtClean="0"/>
              <a:t>06-01-2026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2BE823-31E1-445C-8DFC-C2B731C8408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7177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1CC5AC-9A81-4BF9-901E-69087E6EC777}" type="datetimeFigureOut">
              <a:rPr lang="en-IN" smtClean="0"/>
              <a:t>06-01-2026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2BE823-31E1-445C-8DFC-C2B731C8408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27299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1CC5AC-9A81-4BF9-901E-69087E6EC777}" type="datetimeFigureOut">
              <a:rPr lang="en-IN" smtClean="0"/>
              <a:t>06-01-2026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2BE823-31E1-445C-8DFC-C2B731C8408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680293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1CC5AC-9A81-4BF9-901E-69087E6EC777}" type="datetimeFigureOut">
              <a:rPr lang="en-IN" smtClean="0"/>
              <a:t>06-01-2026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2BE823-31E1-445C-8DFC-C2B731C8408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628967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1CC5AC-9A81-4BF9-901E-69087E6EC777}" type="datetimeFigureOut">
              <a:rPr lang="en-IN" smtClean="0"/>
              <a:t>06-01-2026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2BE823-31E1-445C-8DFC-C2B731C8408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492153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1CC5AC-9A81-4BF9-901E-69087E6EC777}" type="datetimeFigureOut">
              <a:rPr lang="en-IN" smtClean="0"/>
              <a:t>06-01-2026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2BE823-31E1-445C-8DFC-C2B731C8408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161614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1CC5AC-9A81-4BF9-901E-69087E6EC777}" type="datetimeFigureOut">
              <a:rPr lang="en-IN" smtClean="0"/>
              <a:t>06-01-2026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2BE823-31E1-445C-8DFC-C2B731C8408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196307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1CC5AC-9A81-4BF9-901E-69087E6EC777}" type="datetimeFigureOut">
              <a:rPr lang="en-IN" smtClean="0"/>
              <a:t>06-01-2026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2BE823-31E1-445C-8DFC-C2B731C8408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797513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1CC5AC-9A81-4BF9-901E-69087E6EC777}" type="datetimeFigureOut">
              <a:rPr lang="en-IN" smtClean="0"/>
              <a:t>06-01-2026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2BE823-31E1-445C-8DFC-C2B731C8408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048945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1CC5AC-9A81-4BF9-901E-69087E6EC777}" type="datetimeFigureOut">
              <a:rPr lang="en-IN" smtClean="0"/>
              <a:t>06-01-2026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2BE823-31E1-445C-8DFC-C2B731C8408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059744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1CC5AC-9A81-4BF9-901E-69087E6EC777}" type="datetimeFigureOut">
              <a:rPr lang="en-IN" smtClean="0"/>
              <a:t>06-01-2026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2BE823-31E1-445C-8DFC-C2B731C8408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99387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D1CC5AC-9A81-4BF9-901E-69087E6EC777}" type="datetimeFigureOut">
              <a:rPr lang="en-IN" smtClean="0"/>
              <a:t>06-01-2026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02BE823-31E1-445C-8DFC-C2B731C8408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516799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476673"/>
            <a:ext cx="7772400" cy="1224135"/>
          </a:xfrm>
        </p:spPr>
        <p:txBody>
          <a:bodyPr>
            <a:normAutofit/>
          </a:bodyPr>
          <a:lstStyle/>
          <a:p>
            <a:r>
              <a:rPr lang="en-US" sz="2800" b="1" dirty="0" smtClean="0"/>
              <a:t>Image Sensing and Acquisition</a:t>
            </a:r>
            <a:endParaRPr lang="en-IN" sz="2800" b="1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67544" y="1700808"/>
            <a:ext cx="8280920" cy="4392488"/>
          </a:xfrm>
        </p:spPr>
        <p:txBody>
          <a:bodyPr>
            <a:noAutofit/>
          </a:bodyPr>
          <a:lstStyle/>
          <a:p>
            <a:pPr algn="l"/>
            <a:r>
              <a:rPr lang="en-US" sz="1800" dirty="0" smtClean="0">
                <a:solidFill>
                  <a:schemeClr val="tx1"/>
                </a:solidFill>
              </a:rPr>
              <a:t>This is the foundational stage where a physical scene is captured and converted into a digital format.</a:t>
            </a:r>
          </a:p>
          <a:p>
            <a:pPr algn="l"/>
            <a:r>
              <a:rPr lang="en-US" sz="1800" dirty="0" smtClean="0">
                <a:solidFill>
                  <a:schemeClr val="tx1"/>
                </a:solidFill>
              </a:rPr>
              <a:t>This process involves two essential components: </a:t>
            </a:r>
          </a:p>
          <a:p>
            <a:pPr algn="l"/>
            <a:r>
              <a:rPr lang="en-US" sz="1800" b="1" dirty="0" smtClean="0">
                <a:solidFill>
                  <a:schemeClr val="tx1"/>
                </a:solidFill>
              </a:rPr>
              <a:t>Physical sensor</a:t>
            </a:r>
            <a:r>
              <a:rPr lang="en-US" sz="1800" dirty="0" smtClean="0">
                <a:solidFill>
                  <a:schemeClr val="tx1"/>
                </a:solidFill>
              </a:rPr>
              <a:t> sensitive to electromagnetic energy. </a:t>
            </a:r>
          </a:p>
          <a:p>
            <a:pPr algn="l"/>
            <a:r>
              <a:rPr lang="en-US" sz="1800" b="1" dirty="0" smtClean="0">
                <a:solidFill>
                  <a:schemeClr val="tx1"/>
                </a:solidFill>
              </a:rPr>
              <a:t>Digitizer</a:t>
            </a:r>
            <a:r>
              <a:rPr lang="en-US" sz="1800" dirty="0" smtClean="0">
                <a:solidFill>
                  <a:schemeClr val="tx1"/>
                </a:solidFill>
              </a:rPr>
              <a:t> that converts electrical signals into digital data.</a:t>
            </a:r>
          </a:p>
          <a:p>
            <a:pPr algn="l"/>
            <a:r>
              <a:rPr lang="en-US" sz="1800" dirty="0" smtClean="0">
                <a:solidFill>
                  <a:schemeClr val="tx1"/>
                </a:solidFill>
              </a:rPr>
              <a:t> </a:t>
            </a:r>
          </a:p>
          <a:p>
            <a:pPr algn="l"/>
            <a:r>
              <a:rPr lang="en-US" sz="1800" dirty="0" smtClean="0">
                <a:solidFill>
                  <a:schemeClr val="tx1"/>
                </a:solidFill>
              </a:rPr>
              <a:t>Sensing typically relies on one of three principal hardware arrangements to capture energy (such as visible light, X-rays, or infrared): </a:t>
            </a:r>
          </a:p>
          <a:p>
            <a:pPr algn="l"/>
            <a:r>
              <a:rPr lang="en-US" sz="1800" b="1" dirty="0" smtClean="0">
                <a:solidFill>
                  <a:schemeClr val="tx1"/>
                </a:solidFill>
              </a:rPr>
              <a:t>Single Sensor</a:t>
            </a:r>
          </a:p>
          <a:p>
            <a:pPr algn="l"/>
            <a:r>
              <a:rPr lang="en-US" sz="1800" b="1" dirty="0" smtClean="0">
                <a:solidFill>
                  <a:schemeClr val="tx1"/>
                </a:solidFill>
              </a:rPr>
              <a:t>Sensor Strips</a:t>
            </a:r>
          </a:p>
          <a:p>
            <a:pPr algn="l"/>
            <a:r>
              <a:rPr lang="en-US" sz="1800" b="1" dirty="0" smtClean="0">
                <a:solidFill>
                  <a:schemeClr val="tx1"/>
                </a:solidFill>
              </a:rPr>
              <a:t>Sensor Arrays</a:t>
            </a:r>
            <a:endParaRPr lang="en-IN" sz="1800" dirty="0"/>
          </a:p>
        </p:txBody>
      </p:sp>
    </p:spTree>
    <p:extLst>
      <p:ext uri="{BB962C8B-B14F-4D97-AF65-F5344CB8AC3E}">
        <p14:creationId xmlns:p14="http://schemas.microsoft.com/office/powerpoint/2010/main" val="14119928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Rectangle 3"/>
          <p:cNvSpPr/>
          <p:nvPr/>
        </p:nvSpPr>
        <p:spPr>
          <a:xfrm>
            <a:off x="539552" y="1582341"/>
            <a:ext cx="8208912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u="sng" dirty="0"/>
              <a:t>1)Image Acquisition using single sensors</a:t>
            </a:r>
          </a:p>
          <a:p>
            <a:r>
              <a:rPr lang="en-US" dirty="0" smtClean="0"/>
              <a:t>The figure shows </a:t>
            </a:r>
            <a:r>
              <a:rPr lang="en-US" dirty="0"/>
              <a:t>the three principal sensor arrangements used to transform illumination </a:t>
            </a:r>
            <a:r>
              <a:rPr lang="en-US" dirty="0" smtClean="0"/>
              <a:t>energy into </a:t>
            </a:r>
            <a:r>
              <a:rPr lang="en-US" dirty="0"/>
              <a:t>digital images. The idea is simple: </a:t>
            </a:r>
            <a:endParaRPr lang="en-US" dirty="0" smtClean="0"/>
          </a:p>
          <a:p>
            <a:r>
              <a:rPr lang="en-US" dirty="0" smtClean="0"/>
              <a:t>Incoming </a:t>
            </a:r>
            <a:r>
              <a:rPr lang="en-US" dirty="0"/>
              <a:t>energy is transformed into a voltage by </a:t>
            </a:r>
            <a:r>
              <a:rPr lang="en-US" dirty="0" smtClean="0"/>
              <a:t>the combination </a:t>
            </a:r>
            <a:r>
              <a:rPr lang="en-US" dirty="0"/>
              <a:t>of input electrical power and sensor material that is responsive to the particular </a:t>
            </a:r>
            <a:r>
              <a:rPr lang="en-US" dirty="0" smtClean="0"/>
              <a:t>type of </a:t>
            </a:r>
            <a:r>
              <a:rPr lang="en-US" dirty="0"/>
              <a:t>energy being detected. The output voltage waveform is the response of the sensor(s), and a</a:t>
            </a:r>
            <a:br>
              <a:rPr lang="en-US" dirty="0"/>
            </a:br>
            <a:r>
              <a:rPr lang="en-US" dirty="0"/>
              <a:t>digital quantity is obtained from each sensor by digitizing its response</a:t>
            </a:r>
            <a:r>
              <a:rPr lang="en-US" dirty="0" smtClean="0"/>
              <a:t>. The most </a:t>
            </a:r>
            <a:r>
              <a:rPr lang="en-US" dirty="0"/>
              <a:t>familiar sensor of </a:t>
            </a:r>
            <a:r>
              <a:rPr lang="en-US" dirty="0" smtClean="0"/>
              <a:t>this type </a:t>
            </a:r>
            <a:r>
              <a:rPr lang="en-US" dirty="0"/>
              <a:t>is the </a:t>
            </a:r>
            <a:r>
              <a:rPr lang="en-US" dirty="0" smtClean="0"/>
              <a:t>photodiode.</a:t>
            </a:r>
            <a:endParaRPr lang="en-IN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083195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205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2677" y="1762926"/>
            <a:ext cx="8245927" cy="43303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2850343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3528" y="1600200"/>
            <a:ext cx="8363272" cy="4853136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IN" sz="1800" b="1" u="sng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7008" y="2204864"/>
            <a:ext cx="6772275" cy="39719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7855421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853136"/>
          </a:xfrm>
        </p:spPr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US" sz="3300" dirty="0"/>
              <a:t>Using a single image sensor for 2D image processing involves </a:t>
            </a:r>
            <a:r>
              <a:rPr lang="en-US" sz="3300" dirty="0" smtClean="0"/>
              <a:t>moving the sensor or the object in both X and Y directions (scanning) to build the image pixel-by-pixel, often using photodiodes and filters to capture light intensity and color.</a:t>
            </a:r>
          </a:p>
          <a:p>
            <a:pPr marL="0" indent="0">
              <a:buNone/>
            </a:pPr>
            <a:endParaRPr lang="en-US" sz="3300" dirty="0" smtClean="0"/>
          </a:p>
          <a:p>
            <a:pPr marL="0" indent="0">
              <a:buNone/>
            </a:pPr>
            <a:r>
              <a:rPr lang="en-US" sz="3300" b="1" dirty="0"/>
              <a:t>How Single Sensors Work for 2D Imaging</a:t>
            </a:r>
          </a:p>
          <a:p>
            <a:r>
              <a:rPr lang="en-US" sz="3300" b="1" dirty="0"/>
              <a:t>Light Sensing</a:t>
            </a:r>
            <a:r>
              <a:rPr lang="en-US" sz="3300" dirty="0"/>
              <a:t>: A photodiode (a semiconductor material) converts light energy into an electrical voltage.</a:t>
            </a:r>
          </a:p>
          <a:p>
            <a:r>
              <a:rPr lang="en-US" sz="3300" b="1" dirty="0"/>
              <a:t>Filtering</a:t>
            </a:r>
            <a:r>
              <a:rPr lang="en-US" sz="3300" dirty="0"/>
              <a:t>: A color filter (like a green pass filter) placed over the sensor allows only specific wavelengths (colors) of light to pass through, making the sensor sensitive to that color.</a:t>
            </a:r>
          </a:p>
          <a:p>
            <a:r>
              <a:rPr lang="en-US" sz="3300" b="1" dirty="0"/>
              <a:t>Scanning Mechanism</a:t>
            </a:r>
            <a:r>
              <a:rPr lang="en-US" sz="3300" dirty="0"/>
              <a:t>:</a:t>
            </a:r>
          </a:p>
          <a:p>
            <a:pPr lvl="1"/>
            <a:r>
              <a:rPr lang="en-US" sz="3300" b="1" dirty="0"/>
              <a:t>Mechanical Movement</a:t>
            </a:r>
            <a:r>
              <a:rPr lang="en-US" sz="3300" dirty="0"/>
              <a:t>: The sensor is moved in one </a:t>
            </a:r>
            <a:r>
              <a:rPr lang="en-US" sz="3300" dirty="0" smtClean="0"/>
              <a:t>direction in the X direction (</a:t>
            </a:r>
            <a:r>
              <a:rPr lang="en-US" sz="3300" dirty="0"/>
              <a:t>e.g., horizontally via a lead screw) while the object (like a film on a rotating drum) moves perpendicularly </a:t>
            </a:r>
            <a:r>
              <a:rPr lang="en-US" sz="3300" dirty="0" smtClean="0"/>
              <a:t> in the Y direction(e.g</a:t>
            </a:r>
            <a:r>
              <a:rPr lang="en-US" sz="3300" dirty="0"/>
              <a:t>., vertically</a:t>
            </a:r>
            <a:r>
              <a:rPr lang="en-US" sz="3300" dirty="0" smtClean="0"/>
              <a:t>).</a:t>
            </a:r>
            <a:endParaRPr lang="en-US" sz="3300" dirty="0"/>
          </a:p>
          <a:p>
            <a:pPr lvl="1"/>
            <a:r>
              <a:rPr lang="en-US" sz="3300" b="1" dirty="0"/>
              <a:t>Data Acquisition</a:t>
            </a:r>
            <a:r>
              <a:rPr lang="en-US" sz="3300" dirty="0"/>
              <a:t>: As the light passes through the object and hits the sensor, the varying light intensity creates a voltage signal.</a:t>
            </a:r>
          </a:p>
          <a:p>
            <a:pPr lvl="1"/>
            <a:r>
              <a:rPr lang="en-US" sz="3300" b="1" dirty="0"/>
              <a:t>Image Reconstruction</a:t>
            </a:r>
            <a:r>
              <a:rPr lang="en-US" sz="3300" dirty="0"/>
              <a:t>: The sequence of voltage readings from the sensor, synchronized with the mechanical movements, is digitally assembled to form the complete 2D image. 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296756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 b="1" u="sng" dirty="0"/>
              <a:t>Applications &amp; Comparison</a:t>
            </a:r>
          </a:p>
          <a:p>
            <a:r>
              <a:rPr lang="en-US" sz="1800" b="1" dirty="0"/>
              <a:t>Uses</a:t>
            </a:r>
            <a:r>
              <a:rPr lang="en-US" sz="1800" dirty="0"/>
              <a:t>: High-precision document scanners, film </a:t>
            </a:r>
            <a:r>
              <a:rPr lang="en-US" sz="1800" dirty="0" smtClean="0"/>
              <a:t>scanners.</a:t>
            </a:r>
            <a:endParaRPr lang="en-US" sz="1800" dirty="0"/>
          </a:p>
          <a:p>
            <a:r>
              <a:rPr lang="en-US" sz="1800" b="1" dirty="0"/>
              <a:t>Disadvantage</a:t>
            </a:r>
            <a:r>
              <a:rPr lang="en-US" sz="1800" dirty="0"/>
              <a:t>: Slower than modern array sensors because it captures data point-by-point or line-by-line, requiring extensive mechanical movement.</a:t>
            </a:r>
          </a:p>
          <a:p>
            <a:pPr marL="0" indent="0">
              <a:buNone/>
            </a:pPr>
            <a:endParaRPr lang="en-IN" sz="1800" dirty="0"/>
          </a:p>
        </p:txBody>
      </p:sp>
    </p:spTree>
    <p:extLst>
      <p:ext uri="{BB962C8B-B14F-4D97-AF65-F5344CB8AC3E}">
        <p14:creationId xmlns:p14="http://schemas.microsoft.com/office/powerpoint/2010/main" val="24731032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sz="1800" b="1" u="sng" dirty="0"/>
              <a:t>2)Image Acquisition using a line sensor (sensor strips)</a:t>
            </a:r>
          </a:p>
          <a:p>
            <a:pPr marL="0" indent="0">
              <a:buNone/>
            </a:pPr>
            <a:endParaRPr lang="en-US" sz="1800" dirty="0" smtClean="0"/>
          </a:p>
          <a:p>
            <a:pPr marL="0" indent="0">
              <a:buNone/>
            </a:pPr>
            <a:r>
              <a:rPr lang="en-US" sz="1800" dirty="0" smtClean="0"/>
              <a:t>This involves</a:t>
            </a:r>
            <a:r>
              <a:rPr lang="en-US" sz="1800" dirty="0"/>
              <a:t> </a:t>
            </a:r>
            <a:r>
              <a:rPr lang="en-US" sz="1800" dirty="0" smtClean="0"/>
              <a:t>arranging many sensors in a line to capture one row (or one direction either X or Y) of an image at a time, then using mechanical motion perpendicular to the strip to build the full 2D image</a:t>
            </a:r>
            <a:r>
              <a:rPr lang="en-US" sz="1800" dirty="0"/>
              <a:t>, offering high-resolution scanning at the cost of speed, unlike single sensors that scan in X/Y or array sensors that capture all at once. </a:t>
            </a:r>
            <a:endParaRPr lang="en-US" sz="1800" dirty="0" smtClean="0"/>
          </a:p>
          <a:p>
            <a:pPr marL="0" indent="0">
              <a:buNone/>
            </a:pPr>
            <a:endParaRPr lang="en-US" sz="1800" dirty="0" smtClean="0"/>
          </a:p>
          <a:p>
            <a:pPr marL="0" indent="0">
              <a:buNone/>
            </a:pPr>
            <a:r>
              <a:rPr lang="en-US" sz="1800" b="1" dirty="0"/>
              <a:t>Comparison to Other Methods</a:t>
            </a:r>
            <a:endParaRPr lang="en-US" sz="1800" dirty="0"/>
          </a:p>
          <a:p>
            <a:r>
              <a:rPr lang="en-US" sz="1800" b="1" dirty="0"/>
              <a:t>Single Sensor:</a:t>
            </a:r>
            <a:r>
              <a:rPr lang="en-US" sz="1800" dirty="0"/>
              <a:t> A single photodiode captures light, but requires precise, coordinated mechanical movement in both X and Y directions (e.g., on a rotating drum) to build a 2D image, making it slow.</a:t>
            </a:r>
          </a:p>
          <a:p>
            <a:r>
              <a:rPr lang="en-US" sz="1800" b="1" dirty="0"/>
              <a:t>Array Sensor (CCD/CMOS):</a:t>
            </a:r>
            <a:r>
              <a:rPr lang="en-US" sz="1800" dirty="0"/>
              <a:t> A 2D grid of sensors captures the entire image at once (like a digital camera), offering speed but often lower resolution than high-end strip scanners. </a:t>
            </a:r>
            <a:endParaRPr lang="en-US" sz="1800" dirty="0" smtClean="0"/>
          </a:p>
          <a:p>
            <a:endParaRPr lang="en-US" sz="1800" dirty="0"/>
          </a:p>
          <a:p>
            <a:pPr marL="0" indent="0">
              <a:buNone/>
            </a:pPr>
            <a:r>
              <a:rPr lang="en-US" sz="1800" b="1" dirty="0"/>
              <a:t>Advantages of Sensor Strips</a:t>
            </a:r>
            <a:endParaRPr lang="en-US" sz="1800" dirty="0"/>
          </a:p>
          <a:p>
            <a:r>
              <a:rPr lang="en-US" sz="1800" b="1" dirty="0"/>
              <a:t>High Resolution:</a:t>
            </a:r>
            <a:r>
              <a:rPr lang="en-US" sz="1800" dirty="0"/>
              <a:t> Can accommodate thousands of sensors for detailed images.</a:t>
            </a:r>
          </a:p>
          <a:p>
            <a:r>
              <a:rPr lang="en-US" sz="1800" b="1" dirty="0"/>
              <a:t>Cost-Effective for High Detail:</a:t>
            </a:r>
            <a:r>
              <a:rPr lang="en-US" sz="1800" dirty="0"/>
              <a:t> Inexpensive way to get high-resolution scans because only one dimension needs precise mechanical control. </a:t>
            </a:r>
            <a:endParaRPr lang="en-US" sz="1800" dirty="0" smtClean="0"/>
          </a:p>
          <a:p>
            <a:endParaRPr lang="en-US" sz="1800" dirty="0"/>
          </a:p>
          <a:p>
            <a:pPr marL="0" indent="0">
              <a:buNone/>
            </a:pPr>
            <a:r>
              <a:rPr lang="en-US" sz="1800" b="1" dirty="0"/>
              <a:t>Disadvantages</a:t>
            </a:r>
            <a:endParaRPr lang="en-US" sz="1800" dirty="0"/>
          </a:p>
          <a:p>
            <a:r>
              <a:rPr lang="en-US" sz="1800" b="1" dirty="0"/>
              <a:t>Slower:</a:t>
            </a:r>
            <a:r>
              <a:rPr lang="en-US" sz="1800" dirty="0"/>
              <a:t> Slower than array sensors because it builds the image line-by-line.</a:t>
            </a:r>
          </a:p>
          <a:p>
            <a:endParaRPr lang="en-US" sz="1800" dirty="0" smtClean="0"/>
          </a:p>
          <a:p>
            <a:endParaRPr lang="en-US" sz="2100" dirty="0"/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41754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3076" name="Picture 4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41119" y="1600200"/>
            <a:ext cx="4061761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64730069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b="1" dirty="0" smtClean="0"/>
              <a:t>Array Sensor</a:t>
            </a:r>
            <a:endParaRPr lang="en-IN" sz="28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1900" dirty="0"/>
              <a:t>In image processing, these sensors </a:t>
            </a:r>
            <a:r>
              <a:rPr lang="en-US" sz="1900" dirty="0" smtClean="0"/>
              <a:t>capture light and convert it into electrical signals, which are then digitized and processed to form a digital image</a:t>
            </a:r>
            <a:r>
              <a:rPr lang="en-US" sz="1900" dirty="0"/>
              <a:t>. </a:t>
            </a:r>
            <a:endParaRPr lang="en-US" sz="1900" dirty="0" smtClean="0"/>
          </a:p>
          <a:p>
            <a:r>
              <a:rPr lang="en-US" sz="1900" b="1" dirty="0"/>
              <a:t>How it Works:</a:t>
            </a:r>
            <a:endParaRPr lang="en-US" sz="1900" dirty="0"/>
          </a:p>
          <a:p>
            <a:r>
              <a:rPr lang="en-US" sz="1900" b="1" dirty="0"/>
              <a:t>Light Capture:</a:t>
            </a:r>
            <a:r>
              <a:rPr lang="en-US" sz="1900" dirty="0"/>
              <a:t> Light from a scene reflects off objects and enters an imaging system (lens).</a:t>
            </a:r>
          </a:p>
          <a:p>
            <a:r>
              <a:rPr lang="en-US" sz="1900" b="1" dirty="0"/>
              <a:t>Projection:</a:t>
            </a:r>
            <a:r>
              <a:rPr lang="en-US" sz="1900" dirty="0"/>
              <a:t> The lens focuses the light onto the 2D grid (array) of sensor elements.</a:t>
            </a:r>
          </a:p>
          <a:p>
            <a:r>
              <a:rPr lang="en-US" sz="1900" b="1" dirty="0"/>
              <a:t>Transduction:</a:t>
            </a:r>
            <a:r>
              <a:rPr lang="en-US" sz="1900" dirty="0"/>
              <a:t> Each sensor element (photodiode) converts the incoming light energy into a proportional electrical charge.</a:t>
            </a:r>
          </a:p>
          <a:p>
            <a:r>
              <a:rPr lang="en-US" sz="1900" b="1" dirty="0"/>
              <a:t>Digitization:</a:t>
            </a:r>
            <a:r>
              <a:rPr lang="en-US" sz="1900" dirty="0"/>
              <a:t> These charges are read out, converted into digital values (sampling and quantization), forming the pixels of the digital image. </a:t>
            </a:r>
          </a:p>
          <a:p>
            <a:pPr marL="0" indent="0">
              <a:buNone/>
            </a:pPr>
            <a:endParaRPr lang="en-IN" dirty="0"/>
          </a:p>
        </p:txBody>
      </p:sp>
      <p:sp>
        <p:nvSpPr>
          <p:cNvPr id="4" name="Rectangle 3"/>
          <p:cNvSpPr/>
          <p:nvPr/>
        </p:nvSpPr>
        <p:spPr>
          <a:xfrm>
            <a:off x="2286000" y="2967335"/>
            <a:ext cx="4572000" cy="369332"/>
          </a:xfrm>
          <a:prstGeom prst="rect">
            <a:avLst/>
          </a:prstGeom>
        </p:spPr>
        <p:txBody>
          <a:bodyPr>
            <a:spAutoFit/>
          </a:bodyPr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194834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102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3000" y="2129631"/>
            <a:ext cx="6858000" cy="3467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67860145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401</TotalTime>
  <Words>176</Words>
  <Application>Microsoft Office PowerPoint</Application>
  <PresentationFormat>On-screen Show (4:3)</PresentationFormat>
  <Paragraphs>47</Paragraphs>
  <Slides>10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Office Theme</vt:lpstr>
      <vt:lpstr>Image Sensing and Acquisition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Array Sensor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Image Sensing and Acquisition</dc:title>
  <dc:creator>polytech</dc:creator>
  <cp:lastModifiedBy>Admin</cp:lastModifiedBy>
  <cp:revision>41</cp:revision>
  <dcterms:created xsi:type="dcterms:W3CDTF">2026-01-01T11:16:15Z</dcterms:created>
  <dcterms:modified xsi:type="dcterms:W3CDTF">2026-01-06T08:32:40Z</dcterms:modified>
</cp:coreProperties>
</file>